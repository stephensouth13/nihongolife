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30437bd898ab463b" Type="http://schemas.openxmlformats.org/package/2006/relationships/metadata/core-properties" Target="docProps/core.xml"/><Relationship Id="Rc8cf2d0838db4b99" Type="http://schemas.openxmlformats.org/officeDocument/2006/relationships/officeDocument" Target="ppt/presentation.xml"/><Relationship Id="Rf9c5390753684a9f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faa712f0084f51"/>
  </p:sldMasterIdLst>
  <p:notesMasterIdLst>
    <p:notesMasterId xmlns:r="http://schemas.openxmlformats.org/officeDocument/2006/relationships" r:id="R43aea77ad35d4341"/>
  </p:notesMasterIdLst>
  <p:sldIdLst>
    <p:sldId xmlns:r="http://schemas.openxmlformats.org/officeDocument/2006/relationships" id="256" r:id="R16e6017ab30b4e46"/>
    <p:sldId xmlns:r="http://schemas.openxmlformats.org/officeDocument/2006/relationships" id="257" r:id="R5af329226b9c4c97"/>
    <p:sldId xmlns:r="http://schemas.openxmlformats.org/officeDocument/2006/relationships" id="258" r:id="R1ce96102e21746c7"/>
    <p:sldId xmlns:r="http://schemas.openxmlformats.org/officeDocument/2006/relationships" id="259" r:id="R190a4c32281e4af8"/>
    <p:sldId xmlns:r="http://schemas.openxmlformats.org/officeDocument/2006/relationships" id="260" r:id="R1690b03c8cd84767"/>
    <p:sldId xmlns:r="http://schemas.openxmlformats.org/officeDocument/2006/relationships" id="261" r:id="R823c7f02dbd84526"/>
    <p:sldId xmlns:r="http://schemas.openxmlformats.org/officeDocument/2006/relationships" id="262" r:id="Rda375badf479498e"/>
    <p:sldId xmlns:r="http://schemas.openxmlformats.org/officeDocument/2006/relationships" id="263" r:id="Rb1c73e0fd45a437a"/>
    <p:sldId xmlns:r="http://schemas.openxmlformats.org/officeDocument/2006/relationships" id="264" r:id="R1487369fb6ef4417"/>
    <p:sldId xmlns:r="http://schemas.openxmlformats.org/officeDocument/2006/relationships" id="265" r:id="Read21cec550a4f7e"/>
    <p:sldId xmlns:ns0="http://schemas.openxmlformats.org/officeDocument/2006/relationships" id="268" ns0:id="rId18"/>
    <p:sldId xmlns:ns0="http://schemas.openxmlformats.org/officeDocument/2006/relationships" id="269" ns0:id="rId19"/>
    <p:sldId xmlns:r="http://schemas.openxmlformats.org/officeDocument/2006/relationships" id="266" r:id="R3caaf0a674ca4d64"/>
    <p:sldId xmlns:r="http://schemas.openxmlformats.org/officeDocument/2006/relationships" id="267" r:id="R925a91035fb24ad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487369fb6ef4417" Type="http://schemas.openxmlformats.org/officeDocument/2006/relationships/slide" Target="slides/slide9.xml"/><Relationship Id="R1690b03c8cd84767" Type="http://schemas.openxmlformats.org/officeDocument/2006/relationships/slide" Target="slides/slide5.xml"/><Relationship Id="R16e6017ab30b4e46" Type="http://schemas.openxmlformats.org/officeDocument/2006/relationships/slide" Target="slides/slide1.xml"/><Relationship Id="R190a4c32281e4af8" Type="http://schemas.openxmlformats.org/officeDocument/2006/relationships/slide" Target="slides/slide4.xml"/><Relationship Id="R1ce96102e21746c7" Type="http://schemas.openxmlformats.org/officeDocument/2006/relationships/slide" Target="slides/slide3.xml"/><Relationship Id="R21ac15818e124c8a" Type="http://schemas.openxmlformats.org/officeDocument/2006/relationships/theme" Target="theme/theme1.xml"/><Relationship Id="R33faa712f0084f51" Type="http://schemas.openxmlformats.org/officeDocument/2006/relationships/slideMaster" Target="slideMasters/slideMaster1.xml"/><Relationship Id="R3caaf0a674ca4d64" Type="http://schemas.openxmlformats.org/officeDocument/2006/relationships/slide" Target="slides/slide11.xml"/><Relationship Id="R43aea77ad35d4341" Type="http://schemas.openxmlformats.org/officeDocument/2006/relationships/notesMaster" Target="notesMasters/notesMaster1.xml"/><Relationship Id="R47be233749ae4853" Type="http://schemas.openxmlformats.org/officeDocument/2006/relationships/tableStyles" Target="tableStyles.xml"/><Relationship Id="R5af329226b9c4c97" Type="http://schemas.openxmlformats.org/officeDocument/2006/relationships/slide" Target="slides/slide2.xml"/><Relationship Id="R823c7f02dbd84526" Type="http://schemas.openxmlformats.org/officeDocument/2006/relationships/slide" Target="slides/slide6.xml"/><Relationship Id="R925a91035fb24adf" Type="http://schemas.openxmlformats.org/officeDocument/2006/relationships/slide" Target="slides/slide12.xml"/><Relationship Id="R97a186adeb4f4959" Type="http://schemas.openxmlformats.org/officeDocument/2006/relationships/presProps" Target="presProps.xml"/><Relationship Id="Rb1c73e0fd45a437a" Type="http://schemas.openxmlformats.org/officeDocument/2006/relationships/slide" Target="slides/slide8.xml"/><Relationship Id="Rda375badf479498e" Type="http://schemas.openxmlformats.org/officeDocument/2006/relationships/slide" Target="slides/slide7.xml"/><Relationship Id="Read21cec550a4f7e" Type="http://schemas.openxmlformats.org/officeDocument/2006/relationships/slide" Target="slides/slide10.xml"/><Relationship Id="rId18" Type="http://schemas.openxmlformats.org/officeDocument/2006/relationships/slide" Target="slides/slide13.xml"/><Relationship Id="rId19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5bddffa69d8746f8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14b3d39a3b14b92" Type="http://schemas.openxmlformats.org/officeDocument/2006/relationships/notesMaster" Target="../notesMasters/notesMaster1.xml"/><Relationship Id="Rb0671f4bc8004b93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31e326eca1e94a0f" Type="http://schemas.openxmlformats.org/officeDocument/2006/relationships/notesMaster" Target="../notesMasters/notesMaster1.xml"/><Relationship Id="Raed47ae6166f4991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03c1fbc965d448f4" Type="http://schemas.openxmlformats.org/officeDocument/2006/relationships/slide" Target="../slides/slide3.xml"/><Relationship Id="Ra82dd205ef224b77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6ae4c55041c540e1" Type="http://schemas.openxmlformats.org/officeDocument/2006/relationships/notesMaster" Target="../notesMasters/notesMaster1.xml"/><Relationship Id="Readab81ee4294c5b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4dd3e1db7a1b4bf4" Type="http://schemas.openxmlformats.org/officeDocument/2006/relationships/notesMaster" Target="../notesMasters/notesMaster1.xml"/><Relationship Id="Rcb115764ea82481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4587231f2fcd4432" Type="http://schemas.openxmlformats.org/officeDocument/2006/relationships/slide" Target="../slides/slide6.xml"/><Relationship Id="Ra68d021845964a2c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1c1bcefcb7a94922" Type="http://schemas.openxmlformats.org/officeDocument/2006/relationships/notesMaster" Target="../notesMasters/notesMaster1.xml"/><Relationship Id="Ra5c5c8c8e0b34236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53830a60449c4e4c" Type="http://schemas.openxmlformats.org/officeDocument/2006/relationships/notesMaster" Target="../notesMasters/notesMaster1.xml"/><Relationship Id="Rb0b0756d282c44ea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1679316c8acd420a" Type="http://schemas.openxmlformats.org/officeDocument/2006/relationships/notesMaster" Target="../notesMasters/notesMaster1.xml"/><Relationship Id="R5c8bdbc51c2e4a5e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0100ea7f658f4a9c" Type="http://schemas.openxmlformats.org/officeDocument/2006/relationships/slide" Target="../slides/slide10.xml"/><Relationship Id="Rf99f1c0302b44590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23bb22fa45f548d4" Type="http://schemas.openxmlformats.org/officeDocument/2006/relationships/notesMaster" Target="../notesMasters/notesMaster1.xml"/><Relationship Id="R3504360c78ca4369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128b2ff125d64dd5" Type="http://schemas.openxmlformats.org/officeDocument/2006/relationships/notesMaster" Target="../notesMasters/notesMaster1.xml"/><Relationship Id="Rd32c327c2f42411b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dc390f9bb2cc4462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8451f431180c4609" Type="http://schemas.openxmlformats.org/officeDocument/2006/relationships/theme" Target="theme/theme2.xml"/><Relationship Id="Rb9defd29422e4807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9defd29422e48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20fa4055080436b" Type="http://schemas.openxmlformats.org/officeDocument/2006/relationships/notesSlide" Target="../notesSlides/notesSlide1.xml"/><Relationship Id="R64f653fe0f0e4dcb" Type="http://schemas.openxmlformats.org/officeDocument/2006/relationships/slideLayout" Target="../slideLayouts/slideLayout1.xml"/><Relationship Id="Rc61829b116294852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8f3e98b2f57d4b16" Type="http://schemas.openxmlformats.org/officeDocument/2006/relationships/slideLayout" Target="../slideLayouts/slideLayout1.xml"/><Relationship Id="Rf21ef2be2fce466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044a1262e3c54170" Type="http://schemas.openxmlformats.org/officeDocument/2006/relationships/image" Target="../media/image3.jpeg"/><Relationship Id="R10db2c2de10b436d" Type="http://schemas.openxmlformats.org/officeDocument/2006/relationships/notesSlide" Target="../notesSlides/notesSlide3.xml"/><Relationship Id="R1ac2ee2a72044685" Type="http://schemas.openxmlformats.org/officeDocument/2006/relationships/slideLayout" Target="../slideLayouts/slideLayout1.xml"/><Relationship Id="R61947865673a4fe6" Type="http://schemas.openxmlformats.org/officeDocument/2006/relationships/image" Target="../media/image4.jpeg"/><Relationship Id="Ra605464599b345d5" Type="http://schemas.openxmlformats.org/officeDocument/2006/relationships/image" Target="../media/image2.jpeg"/><Relationship Id="Ra641500223ef41ae" Type="http://schemas.openxmlformats.org/officeDocument/2006/relationships/image" Target="../media/image.jpeg"/></Relationships>
</file>

<file path=ppt/slides/_rels/slide4.xml.rels><?xml version='1.0' encoding='UTF-8' standalone='yes'?>
<Relationships xmlns="http://schemas.openxmlformats.org/package/2006/relationships"><Relationship Id="R0196198ca6364544" Type="http://schemas.openxmlformats.org/officeDocument/2006/relationships/slideLayout" Target="../slideLayouts/slideLayout1.xml"/><Relationship Id="R789bd5a035964322" Type="http://schemas.openxmlformats.org/officeDocument/2006/relationships/notesSlide" Target="../notesSlides/notesSlide4.xml"/><Relationship Id="Rf35a0dfc6cb24f88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32f5a51937f14b59" Type="http://schemas.openxmlformats.org/officeDocument/2006/relationships/slideLayout" Target="../slideLayouts/slideLayout1.xml"/><Relationship Id="Reebc5b9d8a9b4f04" Type="http://schemas.openxmlformats.org/officeDocument/2006/relationships/image" Target="../media/image3.png"/><Relationship Id="Rf56b965d116c432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0a4f9c774e844d3d" Type="http://schemas.openxmlformats.org/officeDocument/2006/relationships/image" Target="../media/image4.png"/><Relationship Id="Rc4b18596189e441b" Type="http://schemas.openxmlformats.org/officeDocument/2006/relationships/notesSlide" Target="../notesSlides/notesSlide6.xml"/><Relationship Id="Re928c79ab2d9416c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242d239f09d543df" Type="http://schemas.openxmlformats.org/officeDocument/2006/relationships/slideLayout" Target="../slideLayouts/slideLayout1.xml"/><Relationship Id="R593ce20b63354045" Type="http://schemas.openxmlformats.org/officeDocument/2006/relationships/notesSlide" Target="../notesSlides/notesSlide7.xml"/><Relationship Id="Ra4a4ae906f124a3a" Type="http://schemas.openxmlformats.org/officeDocument/2006/relationships/image" Target="../media/image5.jpeg"/><Relationship Id="Rdead6506c6654c99" Type="http://schemas.openxmlformats.org/officeDocument/2006/relationships/image" Target="../media/image6.jpeg"/><Relationship Id="Ree6ceda91abb46be" Type="http://schemas.openxmlformats.org/officeDocument/2006/relationships/image" Target="../media/image7.jpeg"/></Relationships>
</file>

<file path=ppt/slides/_rels/slide8.xml.rels><?xml version='1.0' encoding='UTF-8' standalone='yes'?>
<Relationships xmlns="http://schemas.openxmlformats.org/package/2006/relationships"><Relationship Id="R42970c1559c14a70" Type="http://schemas.openxmlformats.org/officeDocument/2006/relationships/slideLayout" Target="../slideLayouts/slideLayout1.xml"/><Relationship Id="R88532ff09137470d" Type="http://schemas.openxmlformats.org/officeDocument/2006/relationships/image" Target="../media/image5.png"/><Relationship Id="Ra30e356880564833" Type="http://schemas.openxmlformats.org/officeDocument/2006/relationships/notesSlide" Target="../notesSlides/notesSlide8.xml"/><Relationship Id="rId4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01a813f2d4fc4ac3" Type="http://schemas.openxmlformats.org/officeDocument/2006/relationships/image" Target="../media/image8.png"/><Relationship Id="R189f69bed46e4602" Type="http://schemas.openxmlformats.org/officeDocument/2006/relationships/image" Target="../media/image6.png"/><Relationship Id="R1cda0dd5db1d4a3f" Type="http://schemas.openxmlformats.org/officeDocument/2006/relationships/notesSlide" Target="../notesSlides/notesSlide9.xml"/><Relationship Id="R9a52a0d0fb4441d4" Type="http://schemas.openxmlformats.org/officeDocument/2006/relationships/slideLayout" Target="../slideLayouts/slideLayout1.xml"/><Relationship Id="Raba527f390c84ca9" Type="http://schemas.openxmlformats.org/officeDocument/2006/relationships/image" Target="../media/image7.png"/><Relationship Id="Rc63303a7aadc425c" Type="http://schemas.openxmlformats.org/officeDocument/2006/relationships/image" Target="../media/image10.png"/><Relationship Id="Rf1d93dd7b1c545cf" Type="http://schemas.openxmlformats.org/officeDocument/2006/relationships/image" Target="../media/image9.png"/><Relationship Id="rId8" Type="http://schemas.openxmlformats.org/officeDocument/2006/relationships/image" Target="../media/image18.jpg"/><Relationship Id="rId9" Type="http://schemas.openxmlformats.org/officeDocument/2006/relationships/image" Target="../media/image19.jpg"/><Relationship Id="rId10" Type="http://schemas.openxmlformats.org/officeDocument/2006/relationships/image" Target="../media/image20.jpg"/><Relationship Id="rId11" Type="http://schemas.openxmlformats.org/officeDocument/2006/relationships/image" Target="../media/image21.jpg"/><Relationship Id="rId12" Type="http://schemas.openxmlformats.org/officeDocument/2006/relationships/image" Target="../media/image22.jpg"/></Relationships>
</file>

<file path=ppt/slides/_rels/slide10.xml.rels><?xml version='1.0' encoding='UTF-8' standalone='yes'?>
<Relationships xmlns="http://schemas.openxmlformats.org/package/2006/relationships"><Relationship Id="R2cd69655640b4dfb" Type="http://schemas.openxmlformats.org/officeDocument/2006/relationships/slideLayout" Target="../slideLayouts/slideLayout1.xml"/><Relationship Id="R3a7d7f350a814d12" Type="http://schemas.openxmlformats.org/officeDocument/2006/relationships/notesSlide" Target="../notesSlides/notesSlide10.xml"/><Relationship Id="R8ce7d8fc41544628" Type="http://schemas.openxmlformats.org/officeDocument/2006/relationships/image" Target="../media/image8.jpeg"/><Relationship Id="rId4" Type="http://schemas.openxmlformats.org/officeDocument/2006/relationships/image" Target="../media/image23.jpg"/></Relationships>
</file>

<file path=ppt/slides/_rels/slide11.xml.rels><?xml version='1.0' encoding='UTF-8' standalone='yes'?>
<Relationships xmlns="http://schemas.openxmlformats.org/package/2006/relationships"><Relationship Id="Ra2bb1fe287dc4196" Type="http://schemas.openxmlformats.org/officeDocument/2006/relationships/notesSlide" Target="../notesSlides/notesSlide11.xml"/><Relationship Id="Rfb03ed065b32405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5aa30b6c1d5946f4" Type="http://schemas.openxmlformats.org/officeDocument/2006/relationships/notesSlide" Target="../notesSlides/notesSlide12.xml"/><Relationship Id="R87305a38255b4440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4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5.jpg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829b116294852"/>
          <a:srcRect xmlns:a="http://schemas.openxmlformats.org/drawingml/2006/main" l="19383" t="0" r="193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veil">
            <a:extLst xmlns:a="http://schemas.openxmlformats.org/drawingml/2006/main">
              <a:ext uri="{FF2B5EF4-FFF2-40B4-BE49-F238E27FC236}">
                <a16:creationId xmlns:a16="http://schemas.microsoft.com/office/drawing/2014/main" id="{2B106870-8C00-4BE6-A7EB-3FB04552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A74681E-DC34-479F-937D-CA8A831A2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5A28"/>
                </a:solidFill>
              </a:defRPr>
            </a:pPr>
            <a:r>
              <a:rPr sz="1200" b="1">
                <a:solidFill>
                  <a:srgbClr val="F05A28"/>
                </a:solidFill>
              </a:rPr>
              <a:t>PROJECT 3 · CAPSTONE · 2026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8DF6E78-1F42-475B-9B53-9057DD54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65722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6600" b="1">
                <a:solidFill>
                  <a:srgbClr val="111111"/>
                </a:solidFill>
              </a:defRPr>
            </a:pPr>
            <a:r>
              <a:rPr sz="6600" b="1">
                <a:solidFill>
                  <a:srgbClr val="111111"/>
                </a:solidFill>
              </a:rPr>
              <a:t>NIHONGO</a:t>
            </a:r>
          </a:p>
          <a:p xmlns:a="http://schemas.openxmlformats.org/drawingml/2006/main">
            <a:pPr algn="l">
              <a:defRPr sz="6600" b="1">
                <a:solidFill>
                  <a:srgbClr val="111111"/>
                </a:solidFill>
              </a:defRPr>
            </a:pPr>
            <a:r>
              <a:rPr sz="6600" b="1">
                <a:solidFill>
                  <a:srgbClr val="111111"/>
                </a:solidFill>
              </a:rPr>
              <a:t>LIFE</a:t>
            </a:r>
          </a:p>
        </p:txBody>
      </p:sp>
      <p:sp>
        <p:nvSpPr>
          <p:cNvPr id="5" name="tagline">
            <a:extLst xmlns:a="http://schemas.openxmlformats.org/drawingml/2006/main">
              <a:ext uri="{FF2B5EF4-FFF2-40B4-BE49-F238E27FC236}">
                <a16:creationId xmlns:a16="http://schemas.microsoft.com/office/drawing/2014/main" id="{BD4869A2-83F2-4D90-A9DF-9A60D985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862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305E"/>
                </a:solidFill>
              </a:defRPr>
            </a:pPr>
            <a:r>
              <a:rPr sz="1950" b="0">
                <a:solidFill>
                  <a:srgbClr val="17305E"/>
                </a:solidFill>
              </a:rPr>
              <a:t>Học tiếng Nhật bằng cách sống ở Nhật</a:t>
            </a:r>
          </a:p>
        </p:txBody>
      </p:sp>
      <p:sp>
        <p:nvSpPr>
          <p:cNvPr id="6" name="jp">
            <a:extLst xmlns:a="http://schemas.openxmlformats.org/drawingml/2006/main">
              <a:ext uri="{FF2B5EF4-FFF2-40B4-BE49-F238E27FC236}">
                <a16:creationId xmlns:a16="http://schemas.microsoft.com/office/drawing/2014/main" id="{87F8F23E-7F17-4A15-8F11-7FFA4617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日本で暮らして、日本語を学ぼう</a:t>
            </a:r>
          </a:p>
        </p:txBody>
      </p:sp>
      <p:sp>
        <p:nvSpPr>
          <p:cNvPr id="7" name="author">
            <a:extLst xmlns:a="http://schemas.openxmlformats.org/drawingml/2006/main">
              <a:ext uri="{FF2B5EF4-FFF2-40B4-BE49-F238E27FC236}">
                <a16:creationId xmlns:a16="http://schemas.microsoft.com/office/drawing/2014/main" id="{F82BB76B-C74E-4138-9CBD-6D052E0C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578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Quách Thành Long · K24GD03</a:t>
            </a:r>
          </a:p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GVHD: Nguyễn Ngọc Chấn</a:t>
            </a:r>
          </a:p>
        </p:txBody>
      </p:sp>
      <p:sp>
        <p:nvSpPr>
          <p:cNvPr id="8" name="accent">
            <a:extLst xmlns:a="http://schemas.openxmlformats.org/drawingml/2006/main">
              <a:ext uri="{FF2B5EF4-FFF2-40B4-BE49-F238E27FC236}">
                <a16:creationId xmlns:a16="http://schemas.microsoft.com/office/drawing/2014/main" id="{2F60EA59-034C-4495-9380-E86B680F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876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8764099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6441836A-18F7-4E72-B700-C08FFB73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5A28"/>
                </a:solidFill>
              </a:defRPr>
            </a:pPr>
            <a:r>
              <a:rPr sz="1125" b="1">
                <a:solidFill>
                  <a:srgbClr val="F05A28"/>
                </a:solidFill>
              </a:rPr>
              <a:t>01 · BÀI TOÁN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53EF33C-ABDF-4C97-B58E-669F076E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Từ “học thuộc” sang giao tiếp trong ngữ cảnh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475A8D4-690E-4E81-83C4-79DE7847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59D2B83-50F1-4A9A-9503-CF42676A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02</a:t>
            </a:r>
          </a:p>
        </p:txBody>
      </p:sp>
      <p:sp>
        <p:nvSpPr>
          <p:cNvPr id="5" name="thesis">
            <a:extLst xmlns:a="http://schemas.openxmlformats.org/drawingml/2006/main">
              <a:ext uri="{FF2B5EF4-FFF2-40B4-BE49-F238E27FC236}">
                <a16:creationId xmlns:a16="http://schemas.microsoft.com/office/drawing/2014/main" id="{6D7509E0-E0A8-41B7-A78F-500D355F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5260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305E"/>
                </a:solidFill>
              </a:defRPr>
            </a:pPr>
            <a:r>
              <a:rPr sz="2250" b="1">
                <a:solidFill>
                  <a:srgbClr val="17305E"/>
                </a:solidFill>
              </a:rPr>
              <a:t>NihongoLife biến các việc đời thường thành tình huống N5 có phản hồi, tiến trình và hậu quả trong thế giới 3D.</a:t>
            </a:r>
          </a:p>
        </p:txBody>
      </p:sp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90B605E8-91D3-4786-AB15-2765C835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0480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5A28"/>
                </a:solidFill>
              </a:defRPr>
            </a:pPr>
            <a:r>
              <a:rPr sz="195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01BDB64F-775A-4FBC-8FBF-577CABAD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6343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Người học Việt mới bắt đầu: cần ngữ cảnh, cách đọc và nghĩa.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DEB3A795-DD86-44D0-82DF-5F06F214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719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5A28"/>
                </a:solidFill>
              </a:defRPr>
            </a:pPr>
            <a:r>
              <a:rPr sz="195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9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61D32C39-B6A2-4B02-915C-2199E9D9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71900"/>
            <a:ext cx="6343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Sai không chặn tiến trình: giải thích, thử lại, tiếp tục câu chuyện.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1058DAA6-3FCD-4D00-BF3B-08B4881A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958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05A28"/>
                </a:solidFill>
              </a:defRPr>
            </a:pPr>
            <a:r>
              <a:rPr sz="195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1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D6F1EFC1-DBCF-4E74-9D81-B7C9E95CA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63436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Một vòng sống liền mạch: giao tiếp → làm việc → chi tiêu → học → tiến bộ.</a:t>
            </a:r>
          </a:p>
        </p:txBody>
      </p:sp>
      <p:sp>
        <p:nvSpPr>
          <p:cNvPr id="12" name="metric-panel">
            <a:extLst xmlns:a="http://schemas.openxmlformats.org/drawingml/2006/main">
              <a:ext uri="{FF2B5EF4-FFF2-40B4-BE49-F238E27FC236}">
                <a16:creationId xmlns:a16="http://schemas.microsoft.com/office/drawing/2014/main" id="{42D73D92-4782-47ED-931C-C63DD98F5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33550"/>
            <a:ext cx="39433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m1">
            <a:extLst xmlns:a="http://schemas.openxmlformats.org/drawingml/2006/main">
              <a:ext uri="{FF2B5EF4-FFF2-40B4-BE49-F238E27FC236}">
                <a16:creationId xmlns:a16="http://schemas.microsoft.com/office/drawing/2014/main" id="{83C9E056-DCAE-405D-821A-FF9969E1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955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05A28"/>
                </a:solidFill>
              </a:defRPr>
            </a:pPr>
            <a:r>
              <a:rPr sz="4500" b="1">
                <a:solidFill>
                  <a:srgbClr val="F05A28"/>
                </a:solidFill>
              </a:rPr>
              <a:t>14</a:t>
            </a:r>
          </a:p>
        </p:txBody>
      </p:sp>
      <p:sp>
        <p:nvSpPr>
          <p:cNvPr id="14" name="m1l">
            <a:extLst xmlns:a="http://schemas.openxmlformats.org/drawingml/2006/main">
              <a:ext uri="{FF2B5EF4-FFF2-40B4-BE49-F238E27FC236}">
                <a16:creationId xmlns:a16="http://schemas.microsoft.com/office/drawing/2014/main" id="{DABC3CFD-54CB-41AD-9DE5-E0A22C58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003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kịch bản N5 theo dữ liệu</a:t>
            </a:r>
          </a:p>
        </p:txBody>
      </p:sp>
      <p:sp>
        <p:nvSpPr>
          <p:cNvPr id="15" name="m2">
            <a:extLst xmlns:a="http://schemas.openxmlformats.org/drawingml/2006/main">
              <a:ext uri="{FF2B5EF4-FFF2-40B4-BE49-F238E27FC236}">
                <a16:creationId xmlns:a16="http://schemas.microsoft.com/office/drawing/2014/main" id="{6811BF3C-F7A5-412B-BE35-4E491477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290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05A28"/>
                </a:solidFill>
              </a:defRPr>
            </a:pPr>
            <a:r>
              <a:rPr sz="4500" b="1">
                <a:solidFill>
                  <a:srgbClr val="F05A28"/>
                </a:solidFill>
              </a:rPr>
              <a:t>7</a:t>
            </a:r>
          </a:p>
        </p:txBody>
      </p:sp>
      <p:sp>
        <p:nvSpPr>
          <p:cNvPr id="16" name="m2l">
            <a:extLst xmlns:a="http://schemas.openxmlformats.org/drawingml/2006/main">
              <a:ext uri="{FF2B5EF4-FFF2-40B4-BE49-F238E27FC236}">
                <a16:creationId xmlns:a16="http://schemas.microsoft.com/office/drawing/2014/main" id="{70392686-5BD6-4AC4-88C7-4CDC792E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1338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khu vực chơi được</a:t>
            </a:r>
          </a:p>
        </p:txBody>
      </p:sp>
      <p:sp>
        <p:nvSpPr>
          <p:cNvPr id="17" name="m3">
            <a:extLst xmlns:a="http://schemas.openxmlformats.org/drawingml/2006/main">
              <a:ext uri="{FF2B5EF4-FFF2-40B4-BE49-F238E27FC236}">
                <a16:creationId xmlns:a16="http://schemas.microsoft.com/office/drawing/2014/main" id="{DC12D394-D8D4-48F5-AFAD-6E6495DC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76250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05A28"/>
                </a:solidFill>
              </a:defRPr>
            </a:pPr>
            <a:r>
              <a:rPr sz="4500" b="1">
                <a:solidFill>
                  <a:srgbClr val="F05A28"/>
                </a:solidFill>
              </a:rPr>
              <a:t>3</a:t>
            </a:r>
          </a:p>
        </p:txBody>
      </p:sp>
      <p:sp>
        <p:nvSpPr>
          <p:cNvPr id="18" name="m3l">
            <a:extLst xmlns:a="http://schemas.openxmlformats.org/drawingml/2006/main">
              <a:ext uri="{FF2B5EF4-FFF2-40B4-BE49-F238E27FC236}">
                <a16:creationId xmlns:a16="http://schemas.microsoft.com/office/drawing/2014/main" id="{BFF05D09-CD0B-41A7-B4BF-AE2DC3262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4673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ngôn ngữ giao diện</a:t>
            </a:r>
          </a:p>
        </p:txBody>
      </p:sp>
    </p:spTree>
    <p:extLst>
      <p:ext uri="{BB962C8B-B14F-4D97-AF65-F5344CB8AC3E}">
        <p14:creationId xmlns:p14="http://schemas.microsoft.com/office/powerpoint/2010/main" val="36792678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D09CFFB0-4126-4566-821C-F050F2DB0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5A28"/>
                </a:solidFill>
              </a:defRPr>
            </a:pPr>
            <a:r>
              <a:rPr sz="1125" b="1">
                <a:solidFill>
                  <a:srgbClr val="F05A28"/>
                </a:solidFill>
              </a:rPr>
              <a:t>02 · TRẢI NGHIỆM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EBF782C-2FE3-427F-B262-6816A72D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Một ngày ở Hibari-chō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CCF638EE-8AAE-49BA-9BAC-3C18BD70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92B11438-D53F-4E90-AFDF-07927CEEA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03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1500223ef41ae"/>
          <a:srcRect xmlns:a="http://schemas.openxmlformats.org/drawingml/2006/main" l="0" t="14130" r="0" b="1413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752600"/>
            <a:ext cx="5381625" cy="217170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5464599b345d5"/>
          <a:srcRect xmlns:a="http://schemas.openxmlformats.org/drawingml/2006/main" l="0" t="16612" r="0" b="166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0275" y="1752600"/>
            <a:ext cx="5781675" cy="217170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4a1262e3c54170"/>
          <a:srcRect xmlns:a="http://schemas.openxmlformats.org/drawingml/2006/main" l="0" t="20108" r="0" b="201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4152900"/>
            <a:ext cx="5381625" cy="18097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947865673a4fe6"/>
          <a:srcRect xmlns:a="http://schemas.openxmlformats.org/drawingml/2006/main" l="0" t="22176" r="0" b="221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0275" y="4152900"/>
            <a:ext cx="5781675" cy="1809750"/>
          </a:xfrm>
          <a:prstGeom xmlns:a="http://schemas.openxmlformats.org/drawingml/2006/main" prst="rect">
            <a:avLst/>
          </a:prstGeom>
        </p:spPr>
      </p:pic>
      <p:sp>
        <p:nvSpPr>
          <p:cNvPr id="9" name="c1">
            <a:extLst xmlns:a="http://schemas.openxmlformats.org/drawingml/2006/main">
              <a:ext uri="{FF2B5EF4-FFF2-40B4-BE49-F238E27FC236}">
                <a16:creationId xmlns:a16="http://schemas.microsoft.com/office/drawing/2014/main" id="{F8C74237-01F7-4B23-89EE-DCD096A2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Hội thoại N5 có cách đọc · romaji · nghĩa</a:t>
            </a:r>
          </a:p>
        </p:txBody>
      </p:sp>
      <p:sp>
        <p:nvSpPr>
          <p:cNvPr id="10" name="c2">
            <a:extLst xmlns:a="http://schemas.openxmlformats.org/drawingml/2006/main">
              <a:ext uri="{FF2B5EF4-FFF2-40B4-BE49-F238E27FC236}">
                <a16:creationId xmlns:a16="http://schemas.microsoft.com/office/drawing/2014/main" id="{206B25E5-A01D-4F96-9ED3-695591AA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524250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Konbini: chọn hàng · giỏ · thanh toán</a:t>
            </a:r>
          </a:p>
        </p:txBody>
      </p:sp>
      <p:sp>
        <p:nvSpPr>
          <p:cNvPr id="11" name="c3">
            <a:extLst xmlns:a="http://schemas.openxmlformats.org/drawingml/2006/main">
              <a:ext uri="{FF2B5EF4-FFF2-40B4-BE49-F238E27FC236}">
                <a16:creationId xmlns:a16="http://schemas.microsoft.com/office/drawing/2014/main" id="{3EFC51C8-8B17-449E-8175-45C0ECD7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562600"/>
            <a:ext cx="5095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Ga tàu và hành trình liên khu</a:t>
            </a:r>
          </a:p>
        </p:txBody>
      </p:sp>
      <p:sp>
        <p:nvSpPr>
          <p:cNvPr id="12" name="c4">
            <a:extLst xmlns:a="http://schemas.openxmlformats.org/drawingml/2006/main">
              <a:ext uri="{FF2B5EF4-FFF2-40B4-BE49-F238E27FC236}">
                <a16:creationId xmlns:a16="http://schemas.microsoft.com/office/drawing/2014/main" id="{8228916C-593B-4B8C-BA92-503A89FC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5562600"/>
            <a:ext cx="547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JLPT / IELTS trong lớp học</a:t>
            </a:r>
          </a:p>
        </p:txBody>
      </p:sp>
    </p:spTree>
    <p:extLst>
      <p:ext uri="{BB962C8B-B14F-4D97-AF65-F5344CB8AC3E}">
        <p14:creationId xmlns:p14="http://schemas.microsoft.com/office/powerpoint/2010/main" val="10867471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949372E3-1806-4A67-AB19-A3253199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5A28"/>
                </a:solidFill>
              </a:defRPr>
            </a:pPr>
            <a:r>
              <a:rPr sz="1125" b="1">
                <a:solidFill>
                  <a:srgbClr val="F05A28"/>
                </a:solidFill>
              </a:rPr>
              <a:t>03 · THẾ GIỚI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B8C3A63-27B9-4D3E-BDAE-F173EB8B7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Một hub, nhiều khu vực, chuyển scene hai chiều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8AF4EF21-072D-4920-A23E-8311806C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F1EEC40-53EC-4D3F-AA95-8D96F0D3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04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a0dfc6cb24f88"/>
          <a:stretch xmlns:a="http://schemas.openxmlformats.org/drawingml/2006/main"/>
        </p:blipFill>
        <p:spPr>
          <a:xfrm xmlns:a="http://schemas.openxmlformats.org/drawingml/2006/main">
            <a:off x="400050" y="1847850"/>
            <a:ext cx="6858000" cy="3943350"/>
          </a:xfrm>
          <a:prstGeom xmlns:a="http://schemas.openxmlformats.org/drawingml/2006/main" prst="rect">
            <a:avLst/>
          </a:prstGeom>
        </p:spPr>
      </p:pic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AADE1E67-CBB2-4577-BDD6-3B9C5CB4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383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C73A9D01-6D25-453B-9FBA-D9DD93A8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38350"/>
            <a:ext cx="360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90_TestSandbox — phố và konbini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8BDD1757-F109-4E00-8E93-13A74564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813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9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A472ADBB-D54B-43E6-9BF9-5CBDF638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781300"/>
            <a:ext cx="360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20_StationDistrict — ga và tàu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5291FEC2-C02C-4D9A-9A55-F25A42A5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242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1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09911B8E-0AC8-4EFA-870A-7A5C4F324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24250"/>
            <a:ext cx="360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30_SushiRestaurant · 40_HIBARICLASS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C2D87239-53FB-4DF5-8522-F44DC573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26720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13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4606F1AE-26EF-424B-BDE8-E8144EB0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267200"/>
            <a:ext cx="3600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45_HomeBedroom · 50_GameCenter · 60_MidoriIsland</a:t>
            </a:r>
          </a:p>
        </p:txBody>
      </p:sp>
      <p:sp>
        <p:nvSpPr>
          <p:cNvPr id="14" name="note">
            <a:extLst xmlns:a="http://schemas.openxmlformats.org/drawingml/2006/main">
              <a:ext uri="{FF2B5EF4-FFF2-40B4-BE49-F238E27FC236}">
                <a16:creationId xmlns:a16="http://schemas.microsoft.com/office/drawing/2014/main" id="{A6281FD2-2E02-4BC9-A231-85E6FF06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314950"/>
            <a:ext cx="3714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305E"/>
                </a:solidFill>
              </a:defRPr>
            </a:pPr>
            <a:r>
              <a:rPr sz="1425" b="1">
                <a:solidFill>
                  <a:srgbClr val="17305E"/>
                </a:solidFill>
              </a:rPr>
              <a:t>Mọi scene hoàn thiện được lưu trực tiếp; mở project và Play không cần bước setup thủ công.</a:t>
            </a:r>
          </a:p>
        </p:txBody>
      </p:sp>
    </p:spTree>
    <p:extLst>
      <p:ext uri="{BB962C8B-B14F-4D97-AF65-F5344CB8AC3E}">
        <p14:creationId xmlns:p14="http://schemas.microsoft.com/office/powerpoint/2010/main" val="16924002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34D020FF-5E27-48CE-AC77-CD68CEB2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5A28"/>
                </a:solidFill>
              </a:defRPr>
            </a:pPr>
            <a:r>
              <a:rPr sz="1125" b="1">
                <a:solidFill>
                  <a:srgbClr val="F05A28"/>
                </a:solidFill>
              </a:rPr>
              <a:t>04 · GAMEPLAY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9D30AA3-5755-4F32-990D-0FB4F7FFD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Vòng lặp sống – học – tiến bộ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EBB5B71D-B261-4E20-80F3-68D47C5F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9A72D59-8312-4E29-817C-838428E9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05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bc5b9d8a9b4f04"/>
          <a:stretch xmlns:a="http://schemas.openxmlformats.org/drawingml/2006/main"/>
        </p:blipFill>
        <p:spPr>
          <a:xfrm xmlns:a="http://schemas.openxmlformats.org/drawingml/2006/main">
            <a:off x="476250" y="1752600"/>
            <a:ext cx="655320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lead">
            <a:extLst xmlns:a="http://schemas.openxmlformats.org/drawingml/2006/main">
              <a:ext uri="{FF2B5EF4-FFF2-40B4-BE49-F238E27FC236}">
                <a16:creationId xmlns:a16="http://schemas.microsoft.com/office/drawing/2014/main" id="{77F884C8-E69B-4F10-B6EE-F4C19791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3905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7305E"/>
                </a:solidFill>
              </a:defRPr>
            </a:pPr>
            <a:r>
              <a:rPr sz="2025" b="1">
                <a:solidFill>
                  <a:srgbClr val="17305E"/>
                </a:solidFill>
              </a:rPr>
              <a:t>Hành động có giá trị vì cùng tác động lên kinh tế, nhu cầu và năng lực ngôn ngữ.</a:t>
            </a:r>
          </a:p>
        </p:txBody>
      </p:sp>
      <p:sp>
        <p:nvSpPr>
          <p:cNvPr id="7" name="bullet-0">
            <a:extLst xmlns:a="http://schemas.openxmlformats.org/drawingml/2006/main">
              <a:ext uri="{FF2B5EF4-FFF2-40B4-BE49-F238E27FC236}">
                <a16:creationId xmlns:a16="http://schemas.microsoft.com/office/drawing/2014/main" id="{8FC0C149-70D7-4153-8F65-56D9D1B2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8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B8ED04FE-E51A-47DA-9CD8-9F4698B39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1432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Làm thêm: konbini · sushi · nông trại</a:t>
            </a:r>
          </a:p>
        </p:txBody>
      </p:sp>
      <p:sp>
        <p:nvSpPr>
          <p:cNvPr id="9" name="bullet-1">
            <a:extLst xmlns:a="http://schemas.openxmlformats.org/drawingml/2006/main">
              <a:ext uri="{FF2B5EF4-FFF2-40B4-BE49-F238E27FC236}">
                <a16:creationId xmlns:a16="http://schemas.microsoft.com/office/drawing/2014/main" id="{66EEB88F-4982-4DC3-93AB-47FE592B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528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10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7CC0CE8B-7541-4108-B437-5DBDA530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7528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Chi tiêu: đồ ăn · vé tàu · vật phẩm</a:t>
            </a:r>
          </a:p>
        </p:txBody>
      </p:sp>
      <p:sp>
        <p:nvSpPr>
          <p:cNvPr id="11" name="bullet-2">
            <a:extLst xmlns:a="http://schemas.openxmlformats.org/drawingml/2006/main">
              <a:ext uri="{FF2B5EF4-FFF2-40B4-BE49-F238E27FC236}">
                <a16:creationId xmlns:a16="http://schemas.microsoft.com/office/drawing/2014/main" id="{1F232CE3-F4D1-4B7B-A469-141636C47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3624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12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09673BA5-CB31-4290-9D18-040AE2AA3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624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Học: hội thoại · bài thi · Kana Match</a:t>
            </a:r>
          </a:p>
        </p:txBody>
      </p:sp>
      <p:sp>
        <p:nvSpPr>
          <p:cNvPr id="13" name="bullet-3">
            <a:extLst xmlns:a="http://schemas.openxmlformats.org/drawingml/2006/main">
              <a:ext uri="{FF2B5EF4-FFF2-40B4-BE49-F238E27FC236}">
                <a16:creationId xmlns:a16="http://schemas.microsoft.com/office/drawing/2014/main" id="{A5D118FB-E2F5-4CB8-8CDB-09C6226C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9720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14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E4687FF6-8B90-419B-8012-5C14911B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9720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Lưu: local trước, cloud khi có cấu hình</a:t>
            </a:r>
          </a:p>
        </p:txBody>
      </p:sp>
    </p:spTree>
    <p:extLst>
      <p:ext uri="{BB962C8B-B14F-4D97-AF65-F5344CB8AC3E}">
        <p14:creationId xmlns:p14="http://schemas.microsoft.com/office/powerpoint/2010/main" val="173794547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CF1E703A-06DA-4260-859F-465B3CEB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5A28"/>
                </a:solidFill>
              </a:defRPr>
            </a:pPr>
            <a:r>
              <a:rPr sz="1125" b="1">
                <a:solidFill>
                  <a:srgbClr val="F05A28"/>
                </a:solidFill>
              </a:rPr>
              <a:t>05 · KIẾN TRÚC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EA673E6-1ACA-4809-9B70-3D1A1EFA1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Dữ liệu dẫn dắt, service có thể thay thế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BE87833-1059-4A4B-9F22-5E31208D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3EF9A140-2744-4E7B-A28D-10A98887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4f9c774e844d3d"/>
          <a:stretch xmlns:a="http://schemas.openxmlformats.org/drawingml/2006/main"/>
        </p:blipFill>
        <p:spPr>
          <a:xfrm xmlns:a="http://schemas.openxmlformats.org/drawingml/2006/main">
            <a:off x="476250" y="1714500"/>
            <a:ext cx="6705600" cy="4191000"/>
          </a:xfrm>
          <a:prstGeom xmlns:a="http://schemas.openxmlformats.org/drawingml/2006/main" prst="rect">
            <a:avLst/>
          </a:prstGeom>
        </p:spPr>
      </p:pic>
      <p:sp>
        <p:nvSpPr>
          <p:cNvPr id="6" name="bullet-0">
            <a:extLst xmlns:a="http://schemas.openxmlformats.org/drawingml/2006/main">
              <a:ext uri="{FF2B5EF4-FFF2-40B4-BE49-F238E27FC236}">
                <a16:creationId xmlns:a16="http://schemas.microsoft.com/office/drawing/2014/main" id="{F8FDA6B8-734E-40BA-B7E0-A1AC40CEF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621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7" name="bullet-text-0">
            <a:extLst xmlns:a="http://schemas.openxmlformats.org/drawingml/2006/main">
              <a:ext uri="{FF2B5EF4-FFF2-40B4-BE49-F238E27FC236}">
                <a16:creationId xmlns:a16="http://schemas.microsoft.com/office/drawing/2014/main" id="{14FB651A-A49F-45D0-B71B-82AFE71D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621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ScenarioDefinition tách nội dung khỏi logic gameplay.</a:t>
            </a:r>
          </a:p>
        </p:txBody>
      </p:sp>
      <p:sp>
        <p:nvSpPr>
          <p:cNvPr id="8" name="bullet-1">
            <a:extLst xmlns:a="http://schemas.openxmlformats.org/drawingml/2006/main">
              <a:ext uri="{FF2B5EF4-FFF2-40B4-BE49-F238E27FC236}">
                <a16:creationId xmlns:a16="http://schemas.microsoft.com/office/drawing/2014/main" id="{E7C1197F-8F51-4928-8BC3-25C70FD4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9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0E1B6D71-5C51-4EF2-BA10-51C4E1D9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6860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GameServices cung cấp local/cloud qua cùng interface.</a:t>
            </a:r>
          </a:p>
        </p:txBody>
      </p:sp>
      <p:sp>
        <p:nvSpPr>
          <p:cNvPr id="10" name="bullet-2">
            <a:extLst xmlns:a="http://schemas.openxmlformats.org/drawingml/2006/main">
              <a:ext uri="{FF2B5EF4-FFF2-40B4-BE49-F238E27FC236}">
                <a16:creationId xmlns:a16="http://schemas.microsoft.com/office/drawing/2014/main" id="{FD8B868F-5C61-4B2B-B5A4-A6A01664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099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11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84314499-16E3-4585-BA84-506CCD01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099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Scoring + Mastery gom kết quả hội thoại, thi và mini-game.</a:t>
            </a:r>
          </a:p>
        </p:txBody>
      </p:sp>
      <p:sp>
        <p:nvSpPr>
          <p:cNvPr id="12" name="bullet-3">
            <a:extLst xmlns:a="http://schemas.openxmlformats.org/drawingml/2006/main">
              <a:ext uri="{FF2B5EF4-FFF2-40B4-BE49-F238E27FC236}">
                <a16:creationId xmlns:a16="http://schemas.microsoft.com/office/drawing/2014/main" id="{2966F8ED-B920-46A9-81FF-49961766C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33850"/>
            <a:ext cx="228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13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CD3E8AC0-332B-4FE0-8FA1-23C0A647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33850"/>
            <a:ext cx="3581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Builder lưu scene/prefab hoàn chỉnh; không dùng MenuItem.</a:t>
            </a:r>
          </a:p>
        </p:txBody>
      </p:sp>
    </p:spTree>
    <p:extLst>
      <p:ext uri="{BB962C8B-B14F-4D97-AF65-F5344CB8AC3E}">
        <p14:creationId xmlns:p14="http://schemas.microsoft.com/office/powerpoint/2010/main" val="18986902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70D8C8FA-53E1-4633-A354-E5C351425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5A28"/>
                </a:solidFill>
              </a:defRPr>
            </a:pPr>
            <a:r>
              <a:rPr sz="1125" b="1">
                <a:solidFill>
                  <a:srgbClr val="F05A28"/>
                </a:solidFill>
              </a:rPr>
              <a:t>06 · HỌC TẬP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C8ABA95-AE32-4172-902F-C9A88FF5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Ba lớp phản hồi cho người học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FA648DA-6310-4B9F-AE3A-35DD2149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D55530E2-E8AD-4B70-938C-C7061FE9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07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a4ae906f124a3a"/>
          <a:srcRect xmlns:a="http://schemas.openxmlformats.org/drawingml/2006/main" l="4755" t="0" r="47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0050" y="1790700"/>
            <a:ext cx="3524250" cy="2190750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ad6506c6654c99"/>
          <a:srcRect xmlns:a="http://schemas.openxmlformats.org/drawingml/2006/main" l="4755" t="0" r="47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24350" y="1790700"/>
            <a:ext cx="3524250" cy="219075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6ceda91abb46be"/>
          <a:srcRect xmlns:a="http://schemas.openxmlformats.org/drawingml/2006/main" l="4755" t="0" r="475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48650" y="1790700"/>
            <a:ext cx="3524250" cy="2190750"/>
          </a:xfrm>
          <a:prstGeom xmlns:a="http://schemas.openxmlformats.org/drawingml/2006/main" prst="rect">
            <a:avLst/>
          </a:prstGeom>
        </p:spPr>
      </p:pic>
      <p:sp>
        <p:nvSpPr>
          <p:cNvPr id="8" name="h1">
            <a:extLst xmlns:a="http://schemas.openxmlformats.org/drawingml/2006/main">
              <a:ext uri="{FF2B5EF4-FFF2-40B4-BE49-F238E27FC236}">
                <a16:creationId xmlns:a16="http://schemas.microsoft.com/office/drawing/2014/main" id="{BDC357F4-91CC-47BA-9032-BFBBDBB4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672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5A28"/>
                </a:solidFill>
              </a:defRPr>
            </a:pPr>
            <a:r>
              <a:rPr sz="1350" b="1">
                <a:solidFill>
                  <a:srgbClr val="F05A28"/>
                </a:solidFill>
              </a:rPr>
              <a:t>HỘI THOẠI</a:t>
            </a:r>
          </a:p>
        </p:txBody>
      </p:sp>
      <p:sp>
        <p:nvSpPr>
          <p:cNvPr id="9" name="b1">
            <a:extLst xmlns:a="http://schemas.openxmlformats.org/drawingml/2006/main">
              <a:ext uri="{FF2B5EF4-FFF2-40B4-BE49-F238E27FC236}">
                <a16:creationId xmlns:a16="http://schemas.microsoft.com/office/drawing/2014/main" id="{740B8180-86D9-4931-9FEF-054472D8C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Lựa chọn, giải thích sai, thử lại và tiếp tục truyện.</a:t>
            </a:r>
          </a:p>
        </p:txBody>
      </p:sp>
      <p:sp>
        <p:nvSpPr>
          <p:cNvPr id="10" name="h2">
            <a:extLst xmlns:a="http://schemas.openxmlformats.org/drawingml/2006/main">
              <a:ext uri="{FF2B5EF4-FFF2-40B4-BE49-F238E27FC236}">
                <a16:creationId xmlns:a16="http://schemas.microsoft.com/office/drawing/2014/main" id="{20F7B526-34AB-4F27-B0A3-ECAEF2D6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2672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5A28"/>
                </a:solidFill>
              </a:defRPr>
            </a:pPr>
            <a:r>
              <a:rPr sz="1350" b="1">
                <a:solidFill>
                  <a:srgbClr val="F05A28"/>
                </a:solidFill>
              </a:rPr>
              <a:t>BÀI THI</a:t>
            </a:r>
          </a:p>
        </p:txBody>
      </p:sp>
      <p:sp>
        <p:nvSpPr>
          <p:cNvPr id="11" name="b2">
            <a:extLst xmlns:a="http://schemas.openxmlformats.org/drawingml/2006/main">
              <a:ext uri="{FF2B5EF4-FFF2-40B4-BE49-F238E27FC236}">
                <a16:creationId xmlns:a16="http://schemas.microsoft.com/office/drawing/2014/main" id="{EAB4678D-C168-4B38-B13C-D436F3814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291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JLPT / IELTS, đồng hồ, kết quả và nhận xét.</a:t>
            </a:r>
          </a:p>
        </p:txBody>
      </p:sp>
      <p:sp>
        <p:nvSpPr>
          <p:cNvPr id="12" name="h3">
            <a:extLst xmlns:a="http://schemas.openxmlformats.org/drawingml/2006/main">
              <a:ext uri="{FF2B5EF4-FFF2-40B4-BE49-F238E27FC236}">
                <a16:creationId xmlns:a16="http://schemas.microsoft.com/office/drawing/2014/main" id="{F2C6E4D1-BC04-4E2B-9594-06753187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2672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05A28"/>
                </a:solidFill>
              </a:defRPr>
            </a:pPr>
            <a:r>
              <a:rPr sz="1350" b="1">
                <a:solidFill>
                  <a:srgbClr val="F05A28"/>
                </a:solidFill>
              </a:rPr>
              <a:t>KANA MATCH</a:t>
            </a:r>
          </a:p>
        </p:txBody>
      </p:sp>
      <p:sp>
        <p:nvSpPr>
          <p:cNvPr id="13" name="b3">
            <a:extLst xmlns:a="http://schemas.openxmlformats.org/drawingml/2006/main">
              <a:ext uri="{FF2B5EF4-FFF2-40B4-BE49-F238E27FC236}">
                <a16:creationId xmlns:a16="http://schemas.microsoft.com/office/drawing/2014/main" id="{50462553-E830-4A9E-948C-80CA8B761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291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Ghép chữ, combo, sao, vé thưởng và quầy quà.</a:t>
            </a:r>
          </a:p>
        </p:txBody>
      </p:sp>
    </p:spTree>
    <p:extLst>
      <p:ext uri="{BB962C8B-B14F-4D97-AF65-F5344CB8AC3E}">
        <p14:creationId xmlns:p14="http://schemas.microsoft.com/office/powerpoint/2010/main" val="169741667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1DF68C5B-F2D0-4340-96EF-E482C202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5A28"/>
                </a:solidFill>
              </a:defRPr>
            </a:pPr>
            <a:r>
              <a:rPr sz="1125" b="1">
                <a:solidFill>
                  <a:srgbClr val="F05A28"/>
                </a:solidFill>
              </a:rPr>
              <a:t>07 · ONLINE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6843BF4-A451-4514-AEA8-CC6D9BC9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Online thật: shard, chat, bạn bè, voice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495DD40C-21AA-47C6-857B-CB7D877FC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89617E72-D7C9-4332-9A46-DB153112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08</a:t>
            </a:r>
          </a:p>
        </p:txBody>
      </p:sp>
      <p:sp>
        <p:nvSpPr>
          <p:cNvPr id="6" name="svc0">
            <a:extLst xmlns:a="http://schemas.openxmlformats.org/drawingml/2006/main">
              <a:ext uri="{FF2B5EF4-FFF2-40B4-BE49-F238E27FC236}">
                <a16:creationId xmlns:a16="http://schemas.microsoft.com/office/drawing/2014/main" id="{10EB239D-B5E8-425A-ADC6-9CA5D9CC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240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7D6B"/>
                </a:solidFill>
              </a:defRPr>
            </a:pPr>
            <a:r>
              <a:rPr sz="1575" b="1">
                <a:solidFill>
                  <a:srgbClr val="2E7D6B"/>
                </a:solidFill>
              </a:rPr>
              <a:t>SUPABASE</a:t>
            </a:r>
          </a:p>
        </p:txBody>
      </p:sp>
      <p:sp>
        <p:nvSpPr>
          <p:cNvPr id="7" name="use0">
            <a:extLst xmlns:a="http://schemas.openxmlformats.org/drawingml/2006/main">
              <a:ext uri="{FF2B5EF4-FFF2-40B4-BE49-F238E27FC236}">
                <a16:creationId xmlns:a16="http://schemas.microsoft.com/office/drawing/2014/main" id="{4582081C-BE0F-4E61-B0C5-D93CB554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Shard 40 người · chat · bạn bè · tin riêng E2E</a:t>
            </a:r>
          </a:p>
        </p:txBody>
      </p:sp>
      <p:sp>
        <p:nvSpPr>
          <p:cNvPr id="8" name="state0">
            <a:extLst xmlns:a="http://schemas.openxmlformats.org/drawingml/2006/main">
              <a:ext uri="{FF2B5EF4-FFF2-40B4-BE49-F238E27FC236}">
                <a16:creationId xmlns:a16="http://schemas.microsoft.com/office/drawing/2014/main" id="{F62B4039-DDFE-491F-99D2-B17566CD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19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4/4 test online thật · 40 người: 96,8% tin đến</a:t>
            </a:r>
          </a:p>
        </p:txBody>
      </p:sp>
      <p:sp>
        <p:nvSpPr>
          <p:cNvPr id="9" name="svc1">
            <a:extLst xmlns:a="http://schemas.openxmlformats.org/drawingml/2006/main">
              <a:ext uri="{FF2B5EF4-FFF2-40B4-BE49-F238E27FC236}">
                <a16:creationId xmlns:a16="http://schemas.microsoft.com/office/drawing/2014/main" id="{E0C8F3B4-6005-4ABE-A0FF-07CC7B847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7D6B"/>
                </a:solidFill>
              </a:defRPr>
            </a:pPr>
            <a:r>
              <a:rPr sz="1575" b="1">
                <a:solidFill>
                  <a:srgbClr val="2E7D6B"/>
                </a:solidFill>
              </a:rPr>
              <a:t>GEMINI</a:t>
            </a:r>
          </a:p>
        </p:txBody>
      </p:sp>
      <p:sp>
        <p:nvSpPr>
          <p:cNvPr id="10" name="use1">
            <a:extLst xmlns:a="http://schemas.openxmlformats.org/drawingml/2006/main">
              <a:ext uri="{FF2B5EF4-FFF2-40B4-BE49-F238E27FC236}">
                <a16:creationId xmlns:a16="http://schemas.microsoft.com/office/drawing/2014/main" id="{F0D4D16A-F3CC-46D2-95FD-0928F8F1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480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Phát âm · NPC AI · IELTS Writing/Speaking</a:t>
            </a:r>
          </a:p>
        </p:txBody>
      </p:sp>
      <p:sp>
        <p:nvSpPr>
          <p:cNvPr id="11" name="state1">
            <a:extLst xmlns:a="http://schemas.openxmlformats.org/drawingml/2006/main">
              <a:ext uri="{FF2B5EF4-FFF2-40B4-BE49-F238E27FC236}">
                <a16:creationId xmlns:a16="http://schemas.microsoft.com/office/drawing/2014/main" id="{858EC836-37D9-4F7B-A631-B3B72973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814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Chạy thật, có giới hạn chi phí</a:t>
            </a:r>
          </a:p>
        </p:txBody>
      </p:sp>
      <p:sp>
        <p:nvSpPr>
          <p:cNvPr id="12" name="svc2">
            <a:extLst xmlns:a="http://schemas.openxmlformats.org/drawingml/2006/main">
              <a:ext uri="{FF2B5EF4-FFF2-40B4-BE49-F238E27FC236}">
                <a16:creationId xmlns:a16="http://schemas.microsoft.com/office/drawing/2014/main" id="{3785BB8F-2E52-4A7F-9613-C2FB8FE4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481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05A28"/>
                </a:solidFill>
              </a:defRPr>
            </a:pPr>
            <a:r>
              <a:rPr sz="1575" b="1">
                <a:solidFill>
                  <a:srgbClr val="F05A28"/>
                </a:solidFill>
              </a:rPr>
              <a:t>AGORA RTC</a:t>
            </a:r>
          </a:p>
        </p:txBody>
      </p:sp>
      <p:sp>
        <p:nvSpPr>
          <p:cNvPr id="13" name="use2">
            <a:extLst xmlns:a="http://schemas.openxmlformats.org/drawingml/2006/main">
              <a:ext uri="{FF2B5EF4-FFF2-40B4-BE49-F238E27FC236}">
                <a16:creationId xmlns:a16="http://schemas.microsoft.com/office/drawing/2014/main" id="{0A2177B9-7827-40D6-9E72-5090B4A2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101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Voice khu vực · nhóm · gọi riêng · giữ T để nói</a:t>
            </a:r>
          </a:p>
        </p:txBody>
      </p:sp>
      <p:sp>
        <p:nvSpPr>
          <p:cNvPr id="14" name="state2">
            <a:extLst xmlns:a="http://schemas.openxmlformats.org/drawingml/2006/main">
              <a:ext uri="{FF2B5EF4-FFF2-40B4-BE49-F238E27FC236}">
                <a16:creationId xmlns:a16="http://schemas.microsoft.com/office/drawing/2014/main" id="{5644A8F0-33E3-4981-8C79-92ED073DF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9434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5555"/>
                </a:solidFill>
              </a:defRPr>
            </a:pPr>
            <a:r>
              <a:rPr sz="1200" b="0">
                <a:solidFill>
                  <a:srgbClr val="555555"/>
                </a:solidFill>
              </a:rPr>
              <a:t>Code xong · chờ deploy agora-voice</a:t>
            </a:r>
          </a:p>
        </p:txBody>
      </p:sp>
      <p:pic xmlns:a="http://schemas.openxmlformats.org/drawingml/2006/main" xmlns:r="http://schemas.openxmlformats.org/officeDocument/2006/relationships">
        <p:nvPicPr>
          <p:cNvPr id="15" name="Picture 14" descr="v5_onlin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1895267"/>
            <a:ext cx="6572250" cy="379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90702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EC5650F9-87E5-411F-8717-25186A956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5A28"/>
                </a:solidFill>
              </a:defRPr>
            </a:pPr>
            <a:r>
              <a:rPr sz="1125" b="1">
                <a:solidFill>
                  <a:srgbClr val="F05A28"/>
                </a:solidFill>
              </a:rPr>
              <a:t>08 · NHÂN VẬT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E56E122-A063-4F5B-8C7F-0F0206C5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100% nhân vật Kids — người chơi lẫn NPC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5EF4EE96-49D4-496D-BE55-DE2B440D9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72A644CD-8943-4120-A0F5-F1C28914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09</a:t>
            </a:r>
          </a:p>
        </p:txBody>
      </p:sp>
      <p:sp>
        <p:nvSpPr>
          <p:cNvPr id="10" name="pose0">
            <a:extLst xmlns:a="http://schemas.openxmlformats.org/drawingml/2006/main">
              <a:ext uri="{FF2B5EF4-FFF2-40B4-BE49-F238E27FC236}">
                <a16:creationId xmlns:a16="http://schemas.microsoft.com/office/drawing/2014/main" id="{C18D8FF8-5F8B-436C-9B69-808757BD2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43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HARUTO</a:t>
            </a:r>
          </a:p>
        </p:txBody>
      </p:sp>
      <p:sp>
        <p:nvSpPr>
          <p:cNvPr id="11" name="pose1">
            <a:extLst xmlns:a="http://schemas.openxmlformats.org/drawingml/2006/main">
              <a:ext uri="{FF2B5EF4-FFF2-40B4-BE49-F238E27FC236}">
                <a16:creationId xmlns:a16="http://schemas.microsoft.com/office/drawing/2014/main" id="{4781CD40-55A9-4F8C-8110-996CF2CE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343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YUI</a:t>
            </a:r>
          </a:p>
        </p:txBody>
      </p:sp>
      <p:sp>
        <p:nvSpPr>
          <p:cNvPr id="12" name="pose2">
            <a:extLst xmlns:a="http://schemas.openxmlformats.org/drawingml/2006/main">
              <a:ext uri="{FF2B5EF4-FFF2-40B4-BE49-F238E27FC236}">
                <a16:creationId xmlns:a16="http://schemas.microsoft.com/office/drawing/2014/main" id="{ACCA68C8-10CC-4BA6-AEED-27CA0CD28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43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05A28"/>
                </a:solidFill>
              </a:defRPr>
            </a:pPr>
            <a:r>
              <a:rPr sz="1275" b="1">
                <a:solidFill>
                  <a:srgbClr val="F05A28"/>
                </a:solidFill>
              </a:rPr>
              <a:t>NHÂN VIÊN GA</a:t>
            </a:r>
          </a:p>
        </p:txBody>
      </p:sp>
      <p:sp>
        <p:nvSpPr>
          <p:cNvPr id="13" name="pose3">
            <a:extLst xmlns:a="http://schemas.openxmlformats.org/drawingml/2006/main">
              <a:ext uri="{FF2B5EF4-FFF2-40B4-BE49-F238E27FC236}">
                <a16:creationId xmlns:a16="http://schemas.microsoft.com/office/drawing/2014/main" id="{0DA53627-07B5-4C28-A13D-794403F3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343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HÀNG XÓM</a:t>
            </a:r>
          </a:p>
        </p:txBody>
      </p:sp>
      <p:sp>
        <p:nvSpPr>
          <p:cNvPr id="14" name="pose4">
            <a:extLst xmlns:a="http://schemas.openxmlformats.org/drawingml/2006/main">
              <a:ext uri="{FF2B5EF4-FFF2-40B4-BE49-F238E27FC236}">
                <a16:creationId xmlns:a16="http://schemas.microsoft.com/office/drawing/2014/main" id="{825A2B7A-6CCC-40D8-8FFE-E2A9AB64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343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NGƯỜI CHƠI KHÁC</a:t>
            </a:r>
          </a:p>
        </p:txBody>
      </p:sp>
      <p:sp>
        <p:nvSpPr>
          <p:cNvPr id="15" name="audit">
            <a:extLst xmlns:a="http://schemas.openxmlformats.org/drawingml/2006/main">
              <a:ext uri="{FF2B5EF4-FFF2-40B4-BE49-F238E27FC236}">
                <a16:creationId xmlns:a16="http://schemas.microsoft.com/office/drawing/2014/main" id="{7F3E71F0-D83A-43C7-974C-0D2386E0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33950"/>
            <a:ext cx="113919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05E"/>
                </a:solidFill>
              </a:defRPr>
            </a:pPr>
            <a:r>
              <a:rPr sz="1725" b="1">
                <a:solidFill>
                  <a:srgbClr val="17305E"/>
                </a:solidFill>
              </a:rPr>
              <a:t>8 bé chơi được · NPC dùng model Kids (nhân viên ×1,25 ≈ 1,7 m cho vừa quầy) · đã xóa 4 model Mixamo người lớn (1,1 GB)</a:t>
            </a:r>
          </a:p>
        </p:txBody>
      </p:sp>
      <p:sp>
        <p:nvSpPr>
          <p:cNvPr id="16" name="gap">
            <a:extLst xmlns:a="http://schemas.openxmlformats.org/drawingml/2006/main">
              <a:ext uri="{FF2B5EF4-FFF2-40B4-BE49-F238E27FC236}">
                <a16:creationId xmlns:a16="http://schemas.microsoft.com/office/drawing/2014/main" id="{01B82010-04DF-4819-86DB-593BD113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62600"/>
            <a:ext cx="11391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05A28"/>
                </a:solidFill>
              </a:defRPr>
            </a:pPr>
            <a:r>
              <a:rPr sz="1350" b="0">
                <a:solidFill>
                  <a:srgbClr val="F05A28"/>
                </a:solidFill>
              </a:rPr>
              <a:t>Clip Remy@ (ngồi, câu cá, tưới) được giữ làm animation humanoid cho Kids — không còn model người lớn nào trong scene.</a:t>
            </a:r>
          </a:p>
        </p:txBody>
      </p:sp>
      <p:pic xmlns:a="http://schemas.openxmlformats.org/drawingml/2006/main" xmlns:r="http://schemas.openxmlformats.org/officeDocument/2006/relationships">
        <p:nvPicPr>
          <p:cNvPr id="26" name="Picture 25" descr="v5_kid0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0050" y="1752600"/>
            <a:ext cx="2095500" cy="249555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27" name="Picture 26" descr="v5_kid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24150" y="1752600"/>
            <a:ext cx="2095500" cy="249555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28" name="Picture 27" descr="v5_kid2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48250" y="1752600"/>
            <a:ext cx="2095500" cy="249555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29" name="Picture 28" descr="v5_kid3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72350" y="1752600"/>
            <a:ext cx="2095500" cy="2495550"/>
          </a:xfrm>
          <a:prstGeom prst="rect">
            <a:avLst/>
          </a:prstGeom>
        </p:spPr>
      </p:pic>
      <p:pic xmlns:a="http://schemas.openxmlformats.org/drawingml/2006/main" xmlns:r="http://schemas.openxmlformats.org/officeDocument/2006/relationships">
        <p:nvPicPr>
          <p:cNvPr id="30" name="Picture 29" descr="v5_kid4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696450" y="1752600"/>
            <a:ext cx="2095500" cy="2495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74726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A2641659-0970-4907-8325-03F80525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5A28"/>
                </a:solidFill>
              </a:defRPr>
            </a:pPr>
            <a:r>
              <a:rPr sz="1125" b="1">
                <a:solidFill>
                  <a:srgbClr val="F05A28"/>
                </a:solidFill>
              </a:rPr>
              <a:t>09 · KIỂM THỬ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AD3B39D-3814-4254-8E8A-9C0F83D26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Play Mode là bằng chứng hoàn thành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FA5A2AE2-7FBD-453B-8558-DEA2E25F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B0796A5C-F2BB-4B79-8D78-56DA1E83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10</a:t>
            </a:r>
          </a:p>
        </p:txBody>
      </p:sp>
      <p:sp>
        <p:nvSpPr>
          <p:cNvPr id="6" name="metric">
            <a:extLst xmlns:a="http://schemas.openxmlformats.org/drawingml/2006/main">
              <a:ext uri="{FF2B5EF4-FFF2-40B4-BE49-F238E27FC236}">
                <a16:creationId xmlns:a16="http://schemas.microsoft.com/office/drawing/2014/main" id="{11238763-6478-4250-A86F-E3DD9886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716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800" b="1">
                <a:solidFill>
                  <a:srgbClr val="F05A28"/>
                </a:solidFill>
              </a:defRPr>
            </a:pPr>
            <a:r>
              <a:rPr sz="4800" b="1">
                <a:solidFill>
                  <a:srgbClr val="F05A28"/>
                </a:solidFill>
              </a:rPr>
              <a:t>65 / 65</a:t>
            </a:r>
          </a:p>
        </p:txBody>
      </p:sp>
      <p:sp>
        <p:nvSpPr>
          <p:cNvPr id="7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F7765806-981D-4BCE-941E-4F657CB7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860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Play Mode (mốc v5 · 12/10/2026)</a:t>
            </a:r>
          </a:p>
        </p:txBody>
      </p:sp>
      <p:sp>
        <p:nvSpPr>
          <p:cNvPr id="8" name="metric2">
            <a:extLst xmlns:a="http://schemas.openxmlformats.org/drawingml/2006/main">
              <a:ext uri="{FF2B5EF4-FFF2-40B4-BE49-F238E27FC236}">
                <a16:creationId xmlns:a16="http://schemas.microsoft.com/office/drawing/2014/main" id="{8C433F73-C8B1-4CEE-8678-D61960EA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528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2E7D6B"/>
                </a:solidFill>
              </a:defRPr>
            </a:pPr>
            <a:r>
              <a:rPr sz="4350" b="1">
                <a:solidFill>
                  <a:srgbClr val="2E7D6B"/>
                </a:solidFill>
              </a:rPr>
              <a:t>11 / 11</a:t>
            </a:r>
          </a:p>
        </p:txBody>
      </p:sp>
      <p:sp>
        <p:nvSpPr>
          <p:cNvPr id="9" name="metric2-label">
            <a:extLst xmlns:a="http://schemas.openxmlformats.org/drawingml/2006/main">
              <a:ext uri="{FF2B5EF4-FFF2-40B4-BE49-F238E27FC236}">
                <a16:creationId xmlns:a16="http://schemas.microsoft.com/office/drawing/2014/main" id="{2A2C2993-B409-4831-8BAA-18A7443D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71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55555"/>
                </a:solidFill>
              </a:defRPr>
            </a:pPr>
            <a:r>
              <a:rPr sz="1425" b="0">
                <a:solidFill>
                  <a:srgbClr val="555555"/>
                </a:solidFill>
              </a:rPr>
              <a:t>EditMode</a:t>
            </a:r>
          </a:p>
        </p:txBody>
      </p:sp>
      <p:sp>
        <p:nvSpPr>
          <p:cNvPr id="10" name="evidence">
            <a:extLst xmlns:a="http://schemas.openxmlformats.org/drawingml/2006/main">
              <a:ext uri="{FF2B5EF4-FFF2-40B4-BE49-F238E27FC236}">
                <a16:creationId xmlns:a16="http://schemas.microsoft.com/office/drawing/2014/main" id="{6C1A6479-29D0-4601-ADC1-3B82F40C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72050"/>
            <a:ext cx="4762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05E"/>
                </a:solidFill>
              </a:defRPr>
            </a:pPr>
            <a:r>
              <a:rPr sz="1650" b="1">
                <a:solidFill>
                  <a:srgbClr val="17305E"/>
                </a:solidFill>
              </a:rPr>
              <a:t>Supabase thật · load test 20/40 người · ảnh tự chụp · va chạm và input thật</a:t>
            </a:r>
          </a:p>
        </p:txBody>
      </p:sp>
      <p:pic xmlns:a="http://schemas.openxmlformats.org/drawingml/2006/main" xmlns:r="http://schemas.openxmlformats.org/officeDocument/2006/relationships">
        <p:nvPicPr>
          <p:cNvPr id="11" name="Picture 10" descr="v5_test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050" y="2094647"/>
            <a:ext cx="5619750" cy="251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24846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">
            <a:extLst xmlns:a="http://schemas.openxmlformats.org/drawingml/2006/main">
              <a:ext uri="{FF2B5EF4-FFF2-40B4-BE49-F238E27FC236}">
                <a16:creationId xmlns:a16="http://schemas.microsoft.com/office/drawing/2014/main" id="{413C5BB0-666A-4747-9892-E81ECDE7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05A28"/>
                </a:solidFill>
              </a:defRPr>
            </a:pPr>
            <a:r>
              <a:rPr sz="1125" b="1">
                <a:solidFill>
                  <a:srgbClr val="F05A28"/>
                </a:solidFill>
              </a:rPr>
              <a:t>12 · LỘ TRÌNH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8806D6B-6391-436E-A99D-895D33F5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9600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Bước tiếp theo sau v5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B84BF043-E8DE-410D-B57F-3DE717DE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097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">
            <a:extLst xmlns:a="http://schemas.openxmlformats.org/drawingml/2006/main">
              <a:ext uri="{FF2B5EF4-FFF2-40B4-BE49-F238E27FC236}">
                <a16:creationId xmlns:a16="http://schemas.microsoft.com/office/drawing/2014/main" id="{1DCACC77-1063-4BAD-9DA2-6C993543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286500"/>
            <a:ext cx="53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13</a:t>
            </a:r>
          </a:p>
        </p:txBody>
      </p:sp>
      <p:sp>
        <p:nvSpPr>
          <p:cNvPr id="5" name="stepbox0">
            <a:extLst xmlns:a="http://schemas.openxmlformats.org/drawingml/2006/main">
              <a:ext uri="{FF2B5EF4-FFF2-40B4-BE49-F238E27FC236}">
                <a16:creationId xmlns:a16="http://schemas.microsoft.com/office/drawing/2014/main" id="{240EE0A3-16CA-45C6-9A72-4079CC16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38350"/>
            <a:ext cx="25527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num0">
            <a:extLst xmlns:a="http://schemas.openxmlformats.org/drawingml/2006/main">
              <a:ext uri="{FF2B5EF4-FFF2-40B4-BE49-F238E27FC236}">
                <a16:creationId xmlns:a16="http://schemas.microsoft.com/office/drawing/2014/main" id="{1D243D9F-4224-4CD8-BC74-9B6E52E3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05A28"/>
                </a:solidFill>
              </a:defRPr>
            </a:pPr>
            <a:r>
              <a:rPr sz="3150" b="1">
                <a:solidFill>
                  <a:srgbClr val="F05A28"/>
                </a:solidFill>
              </a:rPr>
              <a:t>1</a:t>
            </a:r>
          </a:p>
        </p:txBody>
      </p:sp>
      <p:sp>
        <p:nvSpPr>
          <p:cNvPr id="7" name="st0">
            <a:extLst xmlns:a="http://schemas.openxmlformats.org/drawingml/2006/main">
              <a:ext uri="{FF2B5EF4-FFF2-40B4-BE49-F238E27FC236}">
                <a16:creationId xmlns:a16="http://schemas.microsoft.com/office/drawing/2014/main" id="{C59CC863-043D-4E7F-BBC9-BC45DF65D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05E"/>
                </a:solidFill>
              </a:defRPr>
            </a:pPr>
            <a:r>
              <a:rPr sz="1725" b="1">
                <a:solidFill>
                  <a:srgbClr val="17305E"/>
                </a:solidFill>
              </a:rPr>
              <a:t>Deploy voice</a:t>
            </a:r>
          </a:p>
        </p:txBody>
      </p:sp>
      <p:sp>
        <p:nvSpPr>
          <p:cNvPr id="8" name="sd0">
            <a:extLst xmlns:a="http://schemas.openxmlformats.org/drawingml/2006/main">
              <a:ext uri="{FF2B5EF4-FFF2-40B4-BE49-F238E27FC236}">
                <a16:creationId xmlns:a16="http://schemas.microsoft.com/office/drawing/2014/main" id="{C8137109-67F3-4E5C-ADBA-A67EACF1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agora-voice + thử 2 máy</a:t>
            </a:r>
          </a:p>
        </p:txBody>
      </p:sp>
      <p:sp>
        <p:nvSpPr>
          <p:cNvPr id="9" name="stepbox1">
            <a:extLst xmlns:a="http://schemas.openxmlformats.org/drawingml/2006/main">
              <a:ext uri="{FF2B5EF4-FFF2-40B4-BE49-F238E27FC236}">
                <a16:creationId xmlns:a16="http://schemas.microsoft.com/office/drawing/2014/main" id="{399BC91B-FBA4-4C0A-8ED9-45DBB22B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38350"/>
            <a:ext cx="25527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um1">
            <a:extLst xmlns:a="http://schemas.openxmlformats.org/drawingml/2006/main">
              <a:ext uri="{FF2B5EF4-FFF2-40B4-BE49-F238E27FC236}">
                <a16:creationId xmlns:a16="http://schemas.microsoft.com/office/drawing/2014/main" id="{D45874ED-CF3B-4F1E-B115-550904DF5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19075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2</a:t>
            </a:r>
          </a:p>
        </p:txBody>
      </p:sp>
      <p:sp>
        <p:nvSpPr>
          <p:cNvPr id="11" name="st1">
            <a:extLst xmlns:a="http://schemas.openxmlformats.org/drawingml/2006/main">
              <a:ext uri="{FF2B5EF4-FFF2-40B4-BE49-F238E27FC236}">
                <a16:creationId xmlns:a16="http://schemas.microsoft.com/office/drawing/2014/main" id="{7CFBF81E-7FBE-4C78-839A-A5C095BB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9527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05E"/>
                </a:solidFill>
              </a:defRPr>
            </a:pPr>
            <a:r>
              <a:rPr sz="1725" b="1">
                <a:solidFill>
                  <a:srgbClr val="17305E"/>
                </a:solidFill>
              </a:rPr>
              <a:t>Mở rộng online</a:t>
            </a:r>
          </a:p>
        </p:txBody>
      </p:sp>
      <p:sp>
        <p:nvSpPr>
          <p:cNvPr id="12" name="sd1">
            <a:extLst xmlns:a="http://schemas.openxmlformats.org/drawingml/2006/main">
              <a:ext uri="{FF2B5EF4-FFF2-40B4-BE49-F238E27FC236}">
                <a16:creationId xmlns:a16="http://schemas.microsoft.com/office/drawing/2014/main" id="{FBA17401-C615-4097-99F5-50D2D73AD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69570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gói Supabase cho 1000+ người</a:t>
            </a:r>
          </a:p>
        </p:txBody>
      </p:sp>
      <p:sp>
        <p:nvSpPr>
          <p:cNvPr id="13" name="stepbox2">
            <a:extLst xmlns:a="http://schemas.openxmlformats.org/drawingml/2006/main">
              <a:ext uri="{FF2B5EF4-FFF2-40B4-BE49-F238E27FC236}">
                <a16:creationId xmlns:a16="http://schemas.microsoft.com/office/drawing/2014/main" id="{9865B0EE-41DE-49CB-A0CB-824900A79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38350"/>
            <a:ext cx="25527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um2">
            <a:extLst xmlns:a="http://schemas.openxmlformats.org/drawingml/2006/main">
              <a:ext uri="{FF2B5EF4-FFF2-40B4-BE49-F238E27FC236}">
                <a16:creationId xmlns:a16="http://schemas.microsoft.com/office/drawing/2014/main" id="{F5CB5655-CAB0-475C-A22B-90831FBF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9075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3</a:t>
            </a:r>
          </a:p>
        </p:txBody>
      </p:sp>
      <p:sp>
        <p:nvSpPr>
          <p:cNvPr id="15" name="st2">
            <a:extLst xmlns:a="http://schemas.openxmlformats.org/drawingml/2006/main">
              <a:ext uri="{FF2B5EF4-FFF2-40B4-BE49-F238E27FC236}">
                <a16:creationId xmlns:a16="http://schemas.microsoft.com/office/drawing/2014/main" id="{9EE2B003-050A-4E8F-AFA7-76A3D5E7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527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05E"/>
                </a:solidFill>
              </a:defRPr>
            </a:pPr>
            <a:r>
              <a:rPr sz="1725" b="1">
                <a:solidFill>
                  <a:srgbClr val="17305E"/>
                </a:solidFill>
              </a:rPr>
              <a:t>Nội dung N4</a:t>
            </a:r>
          </a:p>
        </p:txBody>
      </p:sp>
      <p:sp>
        <p:nvSpPr>
          <p:cNvPr id="16" name="sd2">
            <a:extLst xmlns:a="http://schemas.openxmlformats.org/drawingml/2006/main">
              <a:ext uri="{FF2B5EF4-FFF2-40B4-BE49-F238E27FC236}">
                <a16:creationId xmlns:a16="http://schemas.microsoft.com/office/drawing/2014/main" id="{28CD040A-980B-4454-805F-1AD22C947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9570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tình huống ở ga, đảo, quán</a:t>
            </a:r>
          </a:p>
        </p:txBody>
      </p:sp>
      <p:sp>
        <p:nvSpPr>
          <p:cNvPr id="17" name="stepbox3">
            <a:extLst xmlns:a="http://schemas.openxmlformats.org/drawingml/2006/main">
              <a:ext uri="{FF2B5EF4-FFF2-40B4-BE49-F238E27FC236}">
                <a16:creationId xmlns:a16="http://schemas.microsoft.com/office/drawing/2014/main" id="{FC728BAD-83A4-47FA-A2F4-B02C20CA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038350"/>
            <a:ext cx="25527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num3">
            <a:extLst xmlns:a="http://schemas.openxmlformats.org/drawingml/2006/main">
              <a:ext uri="{FF2B5EF4-FFF2-40B4-BE49-F238E27FC236}">
                <a16:creationId xmlns:a16="http://schemas.microsoft.com/office/drawing/2014/main" id="{9D546F87-68E7-4CC7-9C47-3BEA4A169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190750"/>
            <a:ext cx="533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111"/>
                </a:solidFill>
              </a:defRPr>
            </a:pPr>
            <a:r>
              <a:rPr sz="3150" b="1">
                <a:solidFill>
                  <a:srgbClr val="111111"/>
                </a:solidFill>
              </a:rPr>
              <a:t>4</a:t>
            </a:r>
          </a:p>
        </p:txBody>
      </p:sp>
      <p:sp>
        <p:nvSpPr>
          <p:cNvPr id="19" name="st3">
            <a:extLst xmlns:a="http://schemas.openxmlformats.org/drawingml/2006/main">
              <a:ext uri="{FF2B5EF4-FFF2-40B4-BE49-F238E27FC236}">
                <a16:creationId xmlns:a16="http://schemas.microsoft.com/office/drawing/2014/main" id="{1AF9CA41-0A20-41A7-929D-AE2DC07C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9527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05E"/>
                </a:solidFill>
              </a:defRPr>
            </a:pPr>
            <a:r>
              <a:rPr sz="1725" b="1">
                <a:solidFill>
                  <a:srgbClr val="17305E"/>
                </a:solidFill>
              </a:rPr>
              <a:t>Kiểm chứng</a:t>
            </a:r>
          </a:p>
        </p:txBody>
      </p:sp>
      <p:sp>
        <p:nvSpPr>
          <p:cNvPr id="20" name="sd3">
            <a:extLst xmlns:a="http://schemas.openxmlformats.org/drawingml/2006/main">
              <a:ext uri="{FF2B5EF4-FFF2-40B4-BE49-F238E27FC236}">
                <a16:creationId xmlns:a16="http://schemas.microsoft.com/office/drawing/2014/main" id="{288A6766-F846-4B45-892F-0B5523EB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695700"/>
            <a:ext cx="2133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Play Mode + ảnh + load test</a:t>
            </a:r>
          </a:p>
        </p:txBody>
      </p:sp>
      <p:sp>
        <p:nvSpPr>
          <p:cNvPr id="21" name="guardrail">
            <a:extLst xmlns:a="http://schemas.openxmlformats.org/drawingml/2006/main">
              <a:ext uri="{FF2B5EF4-FFF2-40B4-BE49-F238E27FC236}">
                <a16:creationId xmlns:a16="http://schemas.microsoft.com/office/drawing/2014/main" id="{D2D72000-BCBD-41F6-B9A1-167CA633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1391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05A28"/>
                </a:solidFill>
              </a:defRPr>
            </a:pPr>
            <a:r>
              <a:rPr sz="1725" b="1">
                <a:solidFill>
                  <a:srgbClr val="F05A28"/>
                </a:solidFill>
              </a:rPr>
              <a:t>Không tạo scene mới · lưu kết quả vào scene/prefab · chỉ báo xong khi có Play Mode và ảnh chứng minh</a:t>
            </a:r>
          </a:p>
        </p:txBody>
      </p:sp>
    </p:spTree>
    <p:extLst>
      <p:ext uri="{BB962C8B-B14F-4D97-AF65-F5344CB8AC3E}">
        <p14:creationId xmlns:p14="http://schemas.microsoft.com/office/powerpoint/2010/main" val="10918342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ing-kicker">
            <a:extLst xmlns:a="http://schemas.openxmlformats.org/drawingml/2006/main">
              <a:ext uri="{FF2B5EF4-FFF2-40B4-BE49-F238E27FC236}">
                <a16:creationId xmlns:a16="http://schemas.microsoft.com/office/drawing/2014/main" id="{E3D86E10-2B94-446B-9998-95168F0B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05A28"/>
                </a:solidFill>
              </a:defRPr>
            </a:pPr>
            <a:r>
              <a:rPr sz="1200" b="1">
                <a:solidFill>
                  <a:srgbClr val="F05A28"/>
                </a:solidFill>
              </a:rPr>
              <a:t>NIHONGOLIFE · CAPSTONE V5</a:t>
            </a:r>
          </a:p>
        </p:txBody>
      </p:sp>
      <p:sp>
        <p:nvSpPr>
          <p:cNvPr id="2" name="closing">
            <a:extLst xmlns:a="http://schemas.openxmlformats.org/drawingml/2006/main">
              <a:ext uri="{FF2B5EF4-FFF2-40B4-BE49-F238E27FC236}">
                <a16:creationId xmlns:a16="http://schemas.microsoft.com/office/drawing/2014/main" id="{37D62073-8F24-4BC2-B04C-4D6CADE8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8096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Học tiếng Nhật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qua một cuộc sống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có thể chơi được.</a:t>
            </a:r>
          </a:p>
        </p:txBody>
      </p:sp>
      <p:sp>
        <p:nvSpPr>
          <p:cNvPr id="3" name="close-jp">
            <a:extLst xmlns:a="http://schemas.openxmlformats.org/drawingml/2006/main">
              <a:ext uri="{FF2B5EF4-FFF2-40B4-BE49-F238E27FC236}">
                <a16:creationId xmlns:a16="http://schemas.microsoft.com/office/drawing/2014/main" id="{5CA6D28E-C5EC-4D77-851F-CD77E49D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10100"/>
            <a:ext cx="666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7D7D7"/>
                </a:solidFill>
              </a:defRPr>
            </a:pPr>
            <a:r>
              <a:rPr sz="1800" b="0">
                <a:solidFill>
                  <a:srgbClr val="D7D7D7"/>
                </a:solidFill>
              </a:rPr>
              <a:t>ひばり町で、また会いましょう。</a:t>
            </a:r>
          </a:p>
        </p:txBody>
      </p:sp>
      <p:sp>
        <p:nvSpPr>
          <p:cNvPr id="4" name="thanks">
            <a:extLst xmlns:a="http://schemas.openxmlformats.org/drawingml/2006/main">
              <a:ext uri="{FF2B5EF4-FFF2-40B4-BE49-F238E27FC236}">
                <a16:creationId xmlns:a16="http://schemas.microsoft.com/office/drawing/2014/main" id="{CB43C2D6-9CFF-42D7-B0A7-DEC45998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769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05A28"/>
                </a:solidFill>
              </a:defRPr>
            </a:pPr>
            <a:r>
              <a:rPr sz="1650" b="1">
                <a:solidFill>
                  <a:srgbClr val="F05A28"/>
                </a:solidFill>
              </a:rPr>
              <a:t>CẢM ƠN</a:t>
            </a:r>
          </a:p>
        </p:txBody>
      </p:sp>
      <p:sp>
        <p:nvSpPr>
          <p:cNvPr id="5" name="final-accent">
            <a:extLst xmlns:a="http://schemas.openxmlformats.org/drawingml/2006/main">
              <a:ext uri="{FF2B5EF4-FFF2-40B4-BE49-F238E27FC236}">
                <a16:creationId xmlns:a16="http://schemas.microsoft.com/office/drawing/2014/main" id="{F9C7DBAC-D8AC-41D4-937E-74B01681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0"/>
            <a:ext cx="876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5A28"/>
          </a:solidFill>
          <a:ln xmlns:a="http://schemas.openxmlformats.org/drawingml/2006/main" w="0">
            <a:noFill/>
            <a:prstDash val="solid"/>
          </a:ln>
        </p:spPr>
        <p:txBody xmlns:a="http://schemas.openxmlformats.org/drawingml/2006/main">
          <a:bodyPr/>
          <a:p/>
        </p:txBody>
      </p:sp>
    </p:spTree>
    <p:extLst>
      <p:ext uri="{BB962C8B-B14F-4D97-AF65-F5344CB8AC3E}">
        <p14:creationId xmlns:p14="http://schemas.microsoft.com/office/powerpoint/2010/main" val="1349487803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" name="kicker">
            <a:extLst>
              <a:ext uri="{FF2B5EF4-FFF2-40B4-BE49-F238E27FC236}">
                <a16:creationId xmlns:a16="http://schemas.microsoft.com/office/drawing/2014/main" id="{34D020FF-5E27-48CE-AC77-CD68CEB24BA8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714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F05A28"/>
                </a:solidFill>
              </a:defRPr>
            </a:pPr>
            <a:r>
              <a:rPr sz="1125" b="1">
                <a:solidFill>
                  <a:srgbClr val="F05A28"/>
                </a:solidFill>
              </a:rPr>
              <a:t>10 · MỞ KHÓA &amp; CẨM NANG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9D30AA3-5755-4F32-990D-0FB4F7FFD056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Kiến thức mở dần thế giới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EBB5B71D-B261-4E20-80F3-68D47C5F267D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89A72D59-8312-4E29-817C-838428E9984B}"/>
              </a:ext>
            </a:extLst>
          </p:cNvPr>
          <p:cNvSpPr>
            <a:spLocks noGrp="1"/>
          </p:cNvSpPr>
          <p:nvPr/>
        </p:nvSpPr>
        <p:spPr>
          <a:xfrm>
            <a:off x="1125855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11</a:t>
            </a:r>
          </a:p>
        </p:txBody>
      </p:sp>
      <p:sp>
        <p:nvSpPr>
          <p:cNvPr id="6" name="lead">
            <a:extLst>
              <a:ext uri="{FF2B5EF4-FFF2-40B4-BE49-F238E27FC236}">
                <a16:creationId xmlns:a16="http://schemas.microsoft.com/office/drawing/2014/main" id="{77F884C8-E69B-4F10-B6EE-F4C19791437C}"/>
              </a:ext>
            </a:extLst>
          </p:cNvPr>
          <p:cNvSpPr>
            <a:spLocks noGrp="1"/>
          </p:cNvSpPr>
          <p:nvPr/>
        </p:nvSpPr>
        <p:spPr>
          <a:xfrm>
            <a:off x="7620000" y="1809750"/>
            <a:ext cx="3905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7305E"/>
                </a:solidFill>
              </a:defRPr>
            </a:pPr>
            <a:r>
              <a:rPr sz="2025" b="1">
                <a:solidFill>
                  <a:srgbClr val="17305E"/>
                </a:solidFill>
              </a:rPr>
              <a:t>Bắt đầu từ Hibari Mart và trường học; điểm kiến thức mở ga, quán sushi, game center rồi Đảo Xanh.</a:t>
            </a:r>
          </a:p>
        </p:txBody>
      </p:sp>
      <p:sp>
        <p:nvSpPr>
          <p:cNvPr id="7" name="bullet-0">
            <a:extLst>
              <a:ext uri="{FF2B5EF4-FFF2-40B4-BE49-F238E27FC236}">
                <a16:creationId xmlns:a16="http://schemas.microsoft.com/office/drawing/2014/main" id="{8FC0C149-70D7-4153-8F65-56D9D1B259CA}"/>
              </a:ext>
            </a:extLst>
          </p:cNvPr>
          <p:cNvSpPr>
            <a:spLocks noGrp="1"/>
          </p:cNvSpPr>
          <p:nvPr/>
        </p:nvSpPr>
        <p:spPr>
          <a:xfrm>
            <a:off x="7620000" y="3143250"/>
            <a:ext cx="228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8" name="bullet-text-0">
            <a:extLst>
              <a:ext uri="{FF2B5EF4-FFF2-40B4-BE49-F238E27FC236}">
                <a16:creationId xmlns:a16="http://schemas.microsoft.com/office/drawing/2014/main" id="{B8ED04FE-E51A-47DA-9CD8-9F4698B39C4E}"/>
              </a:ext>
            </a:extLst>
          </p:cNvPr>
          <p:cNvSpPr>
            <a:spLocks noGrp="1"/>
          </p:cNvSpPr>
          <p:nvPr/>
        </p:nvSpPr>
        <p:spPr>
          <a:xfrm>
            <a:off x="7943850" y="3143250"/>
            <a:ext cx="3581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Ga 40 · Sushi 90 · Game Center 160 · Đảo 250</a:t>
            </a:r>
          </a:p>
        </p:txBody>
      </p:sp>
      <p:sp>
        <p:nvSpPr>
          <p:cNvPr id="9" name="bullet-1">
            <a:extLst>
              <a:ext uri="{FF2B5EF4-FFF2-40B4-BE49-F238E27FC236}">
                <a16:creationId xmlns:a16="http://schemas.microsoft.com/office/drawing/2014/main" id="{66EEB88F-4982-4DC3-93AB-47FE592B29E9}"/>
              </a:ext>
            </a:extLst>
          </p:cNvPr>
          <p:cNvSpPr>
            <a:spLocks noGrp="1"/>
          </p:cNvSpPr>
          <p:nvPr/>
        </p:nvSpPr>
        <p:spPr>
          <a:xfrm>
            <a:off x="7620000" y="3752850"/>
            <a:ext cx="228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10" name="bullet-text-1">
            <a:extLst>
              <a:ext uri="{FF2B5EF4-FFF2-40B4-BE49-F238E27FC236}">
                <a16:creationId xmlns:a16="http://schemas.microsoft.com/office/drawing/2014/main" id="{7CC0CE8B-7541-4108-B437-5DBDA530A390}"/>
              </a:ext>
            </a:extLst>
          </p:cNvPr>
          <p:cNvSpPr>
            <a:spLocks noGrp="1"/>
          </p:cNvSpPr>
          <p:nvPr/>
        </p:nvSpPr>
        <p:spPr>
          <a:xfrm>
            <a:off x="7943850" y="3752850"/>
            <a:ext cx="3581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Cửa khóa nói rõ còn thiếu bao nhiêu điểm</a:t>
            </a:r>
          </a:p>
        </p:txBody>
      </p:sp>
      <p:sp>
        <p:nvSpPr>
          <p:cNvPr id="11" name="bullet-2">
            <a:extLst>
              <a:ext uri="{FF2B5EF4-FFF2-40B4-BE49-F238E27FC236}">
                <a16:creationId xmlns:a16="http://schemas.microsoft.com/office/drawing/2014/main" id="{1F232CE3-F4D1-4B7B-A469-141636C47E12}"/>
              </a:ext>
            </a:extLst>
          </p:cNvPr>
          <p:cNvSpPr>
            <a:spLocks noGrp="1"/>
          </p:cNvSpPr>
          <p:nvPr/>
        </p:nvSpPr>
        <p:spPr>
          <a:xfrm>
            <a:off x="7620000" y="4362450"/>
            <a:ext cx="228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12" name="bullet-text-2">
            <a:extLst>
              <a:ext uri="{FF2B5EF4-FFF2-40B4-BE49-F238E27FC236}">
                <a16:creationId xmlns:a16="http://schemas.microsoft.com/office/drawing/2014/main" id="{09673BA5-CB31-4290-9D18-040AE2AA3459}"/>
              </a:ext>
            </a:extLst>
          </p:cNvPr>
          <p:cNvSpPr>
            <a:spLocks noGrp="1"/>
          </p:cNvSpPr>
          <p:nvPr/>
        </p:nvSpPr>
        <p:spPr>
          <a:xfrm>
            <a:off x="7943850" y="4362450"/>
            <a:ext cx="3581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Bản đồ + Sổ nhiệm vụ hiện tiến độ</a:t>
            </a:r>
          </a:p>
        </p:txBody>
      </p:sp>
      <p:sp>
        <p:nvSpPr>
          <p:cNvPr id="13" name="bullet-3">
            <a:extLst>
              <a:ext uri="{FF2B5EF4-FFF2-40B4-BE49-F238E27FC236}">
                <a16:creationId xmlns:a16="http://schemas.microsoft.com/office/drawing/2014/main" id="{A5D118FB-E2F5-4CB8-8CDB-09C6226CA802}"/>
              </a:ext>
            </a:extLst>
          </p:cNvPr>
          <p:cNvSpPr>
            <a:spLocks noGrp="1"/>
          </p:cNvSpPr>
          <p:nvPr/>
        </p:nvSpPr>
        <p:spPr>
          <a:xfrm>
            <a:off x="7620000" y="4972050"/>
            <a:ext cx="228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14" name="bullet-text-3">
            <a:extLst>
              <a:ext uri="{FF2B5EF4-FFF2-40B4-BE49-F238E27FC236}">
                <a16:creationId xmlns:a16="http://schemas.microsoft.com/office/drawing/2014/main" id="{E4687FF6-8B90-419B-8012-5C14911B83EC}"/>
              </a:ext>
            </a:extLst>
          </p:cNvPr>
          <p:cNvSpPr>
            <a:spLocks noGrp="1"/>
          </p:cNvSpPr>
          <p:nvPr/>
        </p:nvSpPr>
        <p:spPr>
          <a:xfrm>
            <a:off x="7943850" y="4972050"/>
            <a:ext cx="3581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Cẩm nang: ảnh thật, ý nghĩa, câu mẫu</a:t>
            </a:r>
          </a:p>
        </p:txBody>
      </p:sp>
      <p:pic>
        <p:nvPicPr>
          <p:cNvPr id="15" name="Picture 14" descr="v5_guid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752600"/>
            <a:ext cx="6553200" cy="40957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" name="kicker">
            <a:extLst>
              <a:ext uri="{FF2B5EF4-FFF2-40B4-BE49-F238E27FC236}">
                <a16:creationId xmlns:a16="http://schemas.microsoft.com/office/drawing/2014/main" id="{34D020FF-5E27-48CE-AC77-CD68CEB24BA8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714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F05A28"/>
                </a:solidFill>
              </a:defRPr>
            </a:pPr>
            <a:r>
              <a:rPr sz="1125" b="1">
                <a:solidFill>
                  <a:srgbClr val="F05A28"/>
                </a:solidFill>
              </a:rPr>
              <a:t>11 · XÃ HỘI ONLINE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E9D30AA3-5755-4F32-990D-0FB4F7FFD056}"/>
              </a:ext>
            </a:extLst>
          </p:cNvPr>
          <p:cNvSpPr>
            <a:spLocks noGrp="1"/>
          </p:cNvSpPr>
          <p:nvPr/>
        </p:nvSpPr>
        <p:spPr>
          <a:xfrm>
            <a:off x="400050" y="609600"/>
            <a:ext cx="106680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Chơi cùng nhau — không ồn, không lag</a:t>
            </a:r>
          </a:p>
        </p:txBody>
      </p:sp>
      <p:sp>
        <p:nvSpPr>
          <p:cNvPr id="3" name="title-rule">
            <a:extLst>
              <a:ext uri="{FF2B5EF4-FFF2-40B4-BE49-F238E27FC236}">
                <a16:creationId xmlns:a16="http://schemas.microsoft.com/office/drawing/2014/main" id="{EBB5B71D-B261-4E20-80F3-68D47C5F267D}"/>
              </a:ext>
            </a:extLst>
          </p:cNvPr>
          <p:cNvSpPr>
            <a:spLocks noGrp="1"/>
          </p:cNvSpPr>
          <p:nvPr/>
        </p:nvSpPr>
        <p:spPr>
          <a:xfrm>
            <a:off x="400050" y="1409700"/>
            <a:ext cx="11391900" cy="19050"/>
          </a:xfrm>
          <a:prstGeom prst="rect">
            <a:avLst/>
          </a:prstGeom>
          <a:solidFill>
            <a:srgbClr val="B8BCC4"/>
          </a:solidFill>
          <a:ln w="0">
            <a:noFill/>
            <a:prstDash val="solid"/>
          </a:ln>
        </p:spPr>
      </p:sp>
      <p:sp>
        <p:nvSpPr>
          <p:cNvPr id="4" name="page">
            <a:extLst>
              <a:ext uri="{FF2B5EF4-FFF2-40B4-BE49-F238E27FC236}">
                <a16:creationId xmlns:a16="http://schemas.microsoft.com/office/drawing/2014/main" id="{89A72D59-8312-4E29-817C-838428E9984B}"/>
              </a:ext>
            </a:extLst>
          </p:cNvPr>
          <p:cNvSpPr>
            <a:spLocks noGrp="1"/>
          </p:cNvSpPr>
          <p:nvPr/>
        </p:nvSpPr>
        <p:spPr>
          <a:xfrm>
            <a:off x="11258550" y="628650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1050" b="1">
                <a:solidFill>
                  <a:srgbClr val="555555"/>
                </a:solidFill>
              </a:defRPr>
            </a:pPr>
            <a:r>
              <a:rPr sz="1050" b="1">
                <a:solidFill>
                  <a:srgbClr val="555555"/>
                </a:solidFill>
              </a:rPr>
              <a:t>12</a:t>
            </a:r>
          </a:p>
        </p:txBody>
      </p:sp>
      <p:sp>
        <p:nvSpPr>
          <p:cNvPr id="6" name="lead">
            <a:extLst>
              <a:ext uri="{FF2B5EF4-FFF2-40B4-BE49-F238E27FC236}">
                <a16:creationId xmlns:a16="http://schemas.microsoft.com/office/drawing/2014/main" id="{77F884C8-E69B-4F10-B6EE-F4C19791437C}"/>
              </a:ext>
            </a:extLst>
          </p:cNvPr>
          <p:cNvSpPr>
            <a:spLocks noGrp="1"/>
          </p:cNvSpPr>
          <p:nvPr/>
        </p:nvSpPr>
        <p:spPr>
          <a:xfrm>
            <a:off x="7620000" y="1809750"/>
            <a:ext cx="3905250" cy="990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025" b="1">
                <a:solidFill>
                  <a:srgbClr val="17305E"/>
                </a:solidFill>
              </a:defRPr>
            </a:pPr>
            <a:r>
              <a:rPr sz="2025" b="1">
                <a:solidFill>
                  <a:srgbClr val="17305E"/>
                </a:solidFill>
              </a:rPr>
              <a:t>Mỗi khu vực chia phòng 40 người; chat tạm thời, tin riêng mã hóa đầu-cuối.</a:t>
            </a:r>
          </a:p>
        </p:txBody>
      </p:sp>
      <p:sp>
        <p:nvSpPr>
          <p:cNvPr id="7" name="bullet-0">
            <a:extLst>
              <a:ext uri="{FF2B5EF4-FFF2-40B4-BE49-F238E27FC236}">
                <a16:creationId xmlns:a16="http://schemas.microsoft.com/office/drawing/2014/main" id="{8FC0C149-70D7-4153-8F65-56D9D1B259CA}"/>
              </a:ext>
            </a:extLst>
          </p:cNvPr>
          <p:cNvSpPr>
            <a:spLocks noGrp="1"/>
          </p:cNvSpPr>
          <p:nvPr/>
        </p:nvSpPr>
        <p:spPr>
          <a:xfrm>
            <a:off x="7620000" y="3143250"/>
            <a:ext cx="228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8" name="bullet-text-0">
            <a:extLst>
              <a:ext uri="{FF2B5EF4-FFF2-40B4-BE49-F238E27FC236}">
                <a16:creationId xmlns:a16="http://schemas.microsoft.com/office/drawing/2014/main" id="{B8ED04FE-E51A-47DA-9CD8-9F4698B39C4E}"/>
              </a:ext>
            </a:extLst>
          </p:cNvPr>
          <p:cNvSpPr>
            <a:spLocks noGrp="1"/>
          </p:cNvSpPr>
          <p:nvPr/>
        </p:nvSpPr>
        <p:spPr>
          <a:xfrm>
            <a:off x="7943850" y="3143250"/>
            <a:ext cx="3581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Vị trí 2–6 Hz, tự giảm khi phòng đông</a:t>
            </a:r>
          </a:p>
        </p:txBody>
      </p:sp>
      <p:sp>
        <p:nvSpPr>
          <p:cNvPr id="9" name="bullet-1">
            <a:extLst>
              <a:ext uri="{FF2B5EF4-FFF2-40B4-BE49-F238E27FC236}">
                <a16:creationId xmlns:a16="http://schemas.microsoft.com/office/drawing/2014/main" id="{66EEB88F-4982-4DC3-93AB-47FE592B29E9}"/>
              </a:ext>
            </a:extLst>
          </p:cNvPr>
          <p:cNvSpPr>
            <a:spLocks noGrp="1"/>
          </p:cNvSpPr>
          <p:nvPr/>
        </p:nvSpPr>
        <p:spPr>
          <a:xfrm>
            <a:off x="7620000" y="3752850"/>
            <a:ext cx="228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10" name="bullet-text-1">
            <a:extLst>
              <a:ext uri="{FF2B5EF4-FFF2-40B4-BE49-F238E27FC236}">
                <a16:creationId xmlns:a16="http://schemas.microsoft.com/office/drawing/2014/main" id="{7CC0CE8B-7541-4108-B437-5DBDA530A390}"/>
              </a:ext>
            </a:extLst>
          </p:cNvPr>
          <p:cNvSpPr>
            <a:spLocks noGrp="1"/>
          </p:cNvSpPr>
          <p:nvPr/>
        </p:nvSpPr>
        <p:spPr>
          <a:xfrm>
            <a:off x="7943850" y="3752850"/>
            <a:ext cx="3581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Chat khu vực · cộng đồng · nhóm · bạn bè</a:t>
            </a:r>
          </a:p>
        </p:txBody>
      </p:sp>
      <p:sp>
        <p:nvSpPr>
          <p:cNvPr id="11" name="bullet-2">
            <a:extLst>
              <a:ext uri="{FF2B5EF4-FFF2-40B4-BE49-F238E27FC236}">
                <a16:creationId xmlns:a16="http://schemas.microsoft.com/office/drawing/2014/main" id="{1F232CE3-F4D1-4B7B-A469-141636C47E12}"/>
              </a:ext>
            </a:extLst>
          </p:cNvPr>
          <p:cNvSpPr>
            <a:spLocks noGrp="1"/>
          </p:cNvSpPr>
          <p:nvPr/>
        </p:nvSpPr>
        <p:spPr>
          <a:xfrm>
            <a:off x="7620000" y="4362450"/>
            <a:ext cx="228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12" name="bullet-text-2">
            <a:extLst>
              <a:ext uri="{FF2B5EF4-FFF2-40B4-BE49-F238E27FC236}">
                <a16:creationId xmlns:a16="http://schemas.microsoft.com/office/drawing/2014/main" id="{09673BA5-CB31-4290-9D18-040AE2AA3459}"/>
              </a:ext>
            </a:extLst>
          </p:cNvPr>
          <p:cNvSpPr>
            <a:spLocks noGrp="1"/>
          </p:cNvSpPr>
          <p:nvPr/>
        </p:nvSpPr>
        <p:spPr>
          <a:xfrm>
            <a:off x="7943850" y="4362450"/>
            <a:ext cx="3581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Tin riêng RSA + AES, có mã an toàn</a:t>
            </a:r>
          </a:p>
        </p:txBody>
      </p:sp>
      <p:sp>
        <p:nvSpPr>
          <p:cNvPr id="13" name="bullet-3">
            <a:extLst>
              <a:ext uri="{FF2B5EF4-FFF2-40B4-BE49-F238E27FC236}">
                <a16:creationId xmlns:a16="http://schemas.microsoft.com/office/drawing/2014/main" id="{A5D118FB-E2F5-4CB8-8CDB-09C6226CA802}"/>
              </a:ext>
            </a:extLst>
          </p:cNvPr>
          <p:cNvSpPr>
            <a:spLocks noGrp="1"/>
          </p:cNvSpPr>
          <p:nvPr/>
        </p:nvSpPr>
        <p:spPr>
          <a:xfrm>
            <a:off x="7620000" y="4972050"/>
            <a:ext cx="2286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800" b="1">
                <a:solidFill>
                  <a:srgbClr val="F05A28"/>
                </a:solidFill>
              </a:defRPr>
            </a:pPr>
            <a:r>
              <a:rPr sz="1800" b="1">
                <a:solidFill>
                  <a:srgbClr val="F05A28"/>
                </a:solidFill>
              </a:rPr>
              <a:t>•</a:t>
            </a:r>
          </a:p>
        </p:txBody>
      </p:sp>
      <p:sp>
        <p:nvSpPr>
          <p:cNvPr id="14" name="bullet-text-3">
            <a:extLst>
              <a:ext uri="{FF2B5EF4-FFF2-40B4-BE49-F238E27FC236}">
                <a16:creationId xmlns:a16="http://schemas.microsoft.com/office/drawing/2014/main" id="{E4687FF6-8B90-419B-8012-5C14911B83EC}"/>
              </a:ext>
            </a:extLst>
          </p:cNvPr>
          <p:cNvSpPr>
            <a:spLocks noGrp="1"/>
          </p:cNvSpPr>
          <p:nvPr/>
        </p:nvSpPr>
        <p:spPr>
          <a:xfrm>
            <a:off x="7943850" y="4972050"/>
            <a:ext cx="35814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F chọn đúng người: vòng vàng, Q đổi</a:t>
            </a:r>
          </a:p>
        </p:txBody>
      </p:sp>
      <p:pic>
        <p:nvPicPr>
          <p:cNvPr id="15" name="Picture 14" descr="v5_soci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50" y="1752600"/>
            <a:ext cx="6553200" cy="40957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2026-10-10T17:37:00.0680000Z</dcterms:created>
  <dcterms:modified xsi:type="dcterms:W3CDTF">2026-10-10T17:37:00.0680000Z</dcterms:modified>
</coreProperties>
</file>