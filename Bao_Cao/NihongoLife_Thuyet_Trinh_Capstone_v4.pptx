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0437bd898ab463b" /><Relationship Type="http://schemas.openxmlformats.org/officeDocument/2006/relationships/extended-properties" Target="/docProps/app.xml" Id="Rf9c5390753684a9f" /><Relationship Type="http://schemas.openxmlformats.org/officeDocument/2006/relationships/officeDocument" Target="/ppt/presentation.xml" Id="Rc8cf2d0838db4b9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3faa712f0084f51"/>
  </p:sldMasterIdLst>
  <p:notesMasterIdLst>
    <p:notesMasterId xmlns:r="http://schemas.openxmlformats.org/officeDocument/2006/relationships" r:id="R43aea77ad35d4341"/>
  </p:notesMasterIdLst>
  <p:sldIdLst>
    <p:sldId xmlns:r="http://schemas.openxmlformats.org/officeDocument/2006/relationships" id="256" r:id="R16e6017ab30b4e46"/>
    <p:sldId xmlns:r="http://schemas.openxmlformats.org/officeDocument/2006/relationships" id="257" r:id="R5af329226b9c4c97"/>
    <p:sldId xmlns:r="http://schemas.openxmlformats.org/officeDocument/2006/relationships" id="258" r:id="R1ce96102e21746c7"/>
    <p:sldId xmlns:r="http://schemas.openxmlformats.org/officeDocument/2006/relationships" id="259" r:id="R190a4c32281e4af8"/>
    <p:sldId xmlns:r="http://schemas.openxmlformats.org/officeDocument/2006/relationships" id="260" r:id="R1690b03c8cd84767"/>
    <p:sldId xmlns:r="http://schemas.openxmlformats.org/officeDocument/2006/relationships" id="261" r:id="R823c7f02dbd84526"/>
    <p:sldId xmlns:r="http://schemas.openxmlformats.org/officeDocument/2006/relationships" id="262" r:id="Rda375badf479498e"/>
    <p:sldId xmlns:r="http://schemas.openxmlformats.org/officeDocument/2006/relationships" id="263" r:id="Rb1c73e0fd45a437a"/>
    <p:sldId xmlns:r="http://schemas.openxmlformats.org/officeDocument/2006/relationships" id="264" r:id="R1487369fb6ef4417"/>
    <p:sldId xmlns:r="http://schemas.openxmlformats.org/officeDocument/2006/relationships" id="265" r:id="Read21cec550a4f7e"/>
    <p:sldId xmlns:r="http://schemas.openxmlformats.org/officeDocument/2006/relationships" id="266" r:id="R3caaf0a674ca4d64"/>
    <p:sldId xmlns:r="http://schemas.openxmlformats.org/officeDocument/2006/relationships" id="267" r:id="R925a91035fb24adf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1ac15818e124c8a" /><Relationship Type="http://schemas.openxmlformats.org/officeDocument/2006/relationships/slideMaster" Target="/ppt/slideMasters/slideMaster1.xml" Id="R33faa712f0084f51" /><Relationship Type="http://schemas.openxmlformats.org/officeDocument/2006/relationships/notesMaster" Target="/ppt/notesMasters/notesMaster1.xml" Id="R43aea77ad35d4341" /><Relationship Type="http://schemas.openxmlformats.org/officeDocument/2006/relationships/presProps" Target="/ppt/presProps.xml" Id="R97a186adeb4f4959" /><Relationship Type="http://schemas.openxmlformats.org/officeDocument/2006/relationships/tableStyles" Target="/ppt/tableStyles.xml" Id="R47be233749ae4853" /><Relationship Type="http://schemas.openxmlformats.org/officeDocument/2006/relationships/slide" Target="/ppt/slides/slide1.xml" Id="R16e6017ab30b4e46" /><Relationship Type="http://schemas.openxmlformats.org/officeDocument/2006/relationships/slide" Target="/ppt/slides/slide2.xml" Id="R5af329226b9c4c97" /><Relationship Type="http://schemas.openxmlformats.org/officeDocument/2006/relationships/slide" Target="/ppt/slides/slide3.xml" Id="R1ce96102e21746c7" /><Relationship Type="http://schemas.openxmlformats.org/officeDocument/2006/relationships/slide" Target="/ppt/slides/slide4.xml" Id="R190a4c32281e4af8" /><Relationship Type="http://schemas.openxmlformats.org/officeDocument/2006/relationships/slide" Target="/ppt/slides/slide5.xml" Id="R1690b03c8cd84767" /><Relationship Type="http://schemas.openxmlformats.org/officeDocument/2006/relationships/slide" Target="/ppt/slides/slide6.xml" Id="R823c7f02dbd84526" /><Relationship Type="http://schemas.openxmlformats.org/officeDocument/2006/relationships/slide" Target="/ppt/slides/slide7.xml" Id="Rda375badf479498e" /><Relationship Type="http://schemas.openxmlformats.org/officeDocument/2006/relationships/slide" Target="/ppt/slides/slide8.xml" Id="Rb1c73e0fd45a437a" /><Relationship Type="http://schemas.openxmlformats.org/officeDocument/2006/relationships/slide" Target="/ppt/slides/slide9.xml" Id="R1487369fb6ef4417" /><Relationship Type="http://schemas.openxmlformats.org/officeDocument/2006/relationships/slide" Target="/ppt/slides/slide10.xml" Id="Read21cec550a4f7e" /><Relationship Type="http://schemas.openxmlformats.org/officeDocument/2006/relationships/slide" Target="/ppt/slides/slide11.xml" Id="R3caaf0a674ca4d64" /><Relationship Type="http://schemas.openxmlformats.org/officeDocument/2006/relationships/slide" Target="/ppt/slides/slide12.xml" Id="R925a91035fb24ad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bddffa69d8746f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0671f4bc8004b93" /><Relationship Type="http://schemas.openxmlformats.org/officeDocument/2006/relationships/notesMaster" Target="/ppt/notesMasters/notesMaster1.xml" Id="R214b3d39a3b14b9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ed47ae6166f4991" /><Relationship Type="http://schemas.openxmlformats.org/officeDocument/2006/relationships/notesMaster" Target="/ppt/notesMasters/notesMaster1.xml" Id="R31e326eca1e94a0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3c1fbc965d448f4" /><Relationship Type="http://schemas.openxmlformats.org/officeDocument/2006/relationships/notesMaster" Target="/ppt/notesMasters/notesMaster1.xml" Id="Ra82dd205ef224b7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adab81ee4294c5b" /><Relationship Type="http://schemas.openxmlformats.org/officeDocument/2006/relationships/notesMaster" Target="/ppt/notesMasters/notesMaster1.xml" Id="R6ae4c55041c540e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b115764ea824812" /><Relationship Type="http://schemas.openxmlformats.org/officeDocument/2006/relationships/notesMaster" Target="/ppt/notesMasters/notesMaster1.xml" Id="R4dd3e1db7a1b4bf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587231f2fcd4432" /><Relationship Type="http://schemas.openxmlformats.org/officeDocument/2006/relationships/notesMaster" Target="/ppt/notesMasters/notesMaster1.xml" Id="Ra68d021845964a2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5c5c8c8e0b34236" /><Relationship Type="http://schemas.openxmlformats.org/officeDocument/2006/relationships/notesMaster" Target="/ppt/notesMasters/notesMaster1.xml" Id="R1c1bcefcb7a9492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0b0756d282c44ea" /><Relationship Type="http://schemas.openxmlformats.org/officeDocument/2006/relationships/notesMaster" Target="/ppt/notesMasters/notesMaster1.xml" Id="R53830a60449c4e4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c8bdbc51c2e4a5e" /><Relationship Type="http://schemas.openxmlformats.org/officeDocument/2006/relationships/notesMaster" Target="/ppt/notesMasters/notesMaster1.xml" Id="R1679316c8acd420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100ea7f658f4a9c" /><Relationship Type="http://schemas.openxmlformats.org/officeDocument/2006/relationships/notesMaster" Target="/ppt/notesMasters/notesMaster1.xml" Id="Rf99f1c0302b4459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504360c78ca4369" /><Relationship Type="http://schemas.openxmlformats.org/officeDocument/2006/relationships/notesMaster" Target="/ppt/notesMasters/notesMaster1.xml" Id="R23bb22fa45f548d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32c327c2f42411b" /><Relationship Type="http://schemas.openxmlformats.org/officeDocument/2006/relationships/notesMaster" Target="/ppt/notesMasters/notesMaster1.xml" Id="R128b2ff125d64dd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c390f9bb2cc446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451f431180c4609" /><Relationship Type="http://schemas.openxmlformats.org/officeDocument/2006/relationships/slideLayout" Target="/ppt/slideLayouts/slideLayout1.xml" Id="Rb9defd29422e480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9defd29422e480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f653fe0f0e4dcb" /><Relationship Type="http://schemas.openxmlformats.org/officeDocument/2006/relationships/image" Target="/ppt/media/image.png" Id="Rc61829b116294852" /><Relationship Type="http://schemas.openxmlformats.org/officeDocument/2006/relationships/notesSlide" Target="/ppt/notesSlides/notesSlide1.xml" Id="R120fa4055080436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3e98b2f57d4b16" /><Relationship Type="http://schemas.openxmlformats.org/officeDocument/2006/relationships/notesSlide" Target="/ppt/notesSlides/notesSlide2.xml" Id="Rf21ef2be2fce466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c2ee2a72044685" /><Relationship Type="http://schemas.openxmlformats.org/officeDocument/2006/relationships/image" Target="/ppt/media/image.jpeg" Id="Ra641500223ef41ae" /><Relationship Type="http://schemas.openxmlformats.org/officeDocument/2006/relationships/image" Target="/ppt/media/image2.jpeg" Id="Ra605464599b345d5" /><Relationship Type="http://schemas.openxmlformats.org/officeDocument/2006/relationships/image" Target="/ppt/media/image3.jpeg" Id="R044a1262e3c54170" /><Relationship Type="http://schemas.openxmlformats.org/officeDocument/2006/relationships/image" Target="/ppt/media/image4.jpeg" Id="R61947865673a4fe6" /><Relationship Type="http://schemas.openxmlformats.org/officeDocument/2006/relationships/notesSlide" Target="/ppt/notesSlides/notesSlide3.xml" Id="R10db2c2de10b436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96198ca6364544" /><Relationship Type="http://schemas.openxmlformats.org/officeDocument/2006/relationships/image" Target="/ppt/media/image2.png" Id="Rf35a0dfc6cb24f88" /><Relationship Type="http://schemas.openxmlformats.org/officeDocument/2006/relationships/notesSlide" Target="/ppt/notesSlides/notesSlide4.xml" Id="R789bd5a03596432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f5a51937f14b59" /><Relationship Type="http://schemas.openxmlformats.org/officeDocument/2006/relationships/image" Target="/ppt/media/image3.png" Id="Reebc5b9d8a9b4f04" /><Relationship Type="http://schemas.openxmlformats.org/officeDocument/2006/relationships/notesSlide" Target="/ppt/notesSlides/notesSlide5.xml" Id="Rf56b965d116c432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28c79ab2d9416c" /><Relationship Type="http://schemas.openxmlformats.org/officeDocument/2006/relationships/image" Target="/ppt/media/image4.png" Id="R0a4f9c774e844d3d" /><Relationship Type="http://schemas.openxmlformats.org/officeDocument/2006/relationships/notesSlide" Target="/ppt/notesSlides/notesSlide6.xml" Id="Rc4b18596189e441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2d239f09d543df" /><Relationship Type="http://schemas.openxmlformats.org/officeDocument/2006/relationships/image" Target="/ppt/media/image5.jpeg" Id="Ra4a4ae906f124a3a" /><Relationship Type="http://schemas.openxmlformats.org/officeDocument/2006/relationships/image" Target="/ppt/media/image6.jpeg" Id="Rdead6506c6654c99" /><Relationship Type="http://schemas.openxmlformats.org/officeDocument/2006/relationships/image" Target="/ppt/media/image7.jpeg" Id="Ree6ceda91abb46be" /><Relationship Type="http://schemas.openxmlformats.org/officeDocument/2006/relationships/notesSlide" Target="/ppt/notesSlides/notesSlide7.xml" Id="R593ce20b6335404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970c1559c14a70" /><Relationship Type="http://schemas.openxmlformats.org/officeDocument/2006/relationships/image" Target="/ppt/media/image5.png" Id="R88532ff09137470d" /><Relationship Type="http://schemas.openxmlformats.org/officeDocument/2006/relationships/notesSlide" Target="/ppt/notesSlides/notesSlide8.xml" Id="Ra30e35688056483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52a0d0fb4441d4" /><Relationship Type="http://schemas.openxmlformats.org/officeDocument/2006/relationships/image" Target="/ppt/media/image6.png" Id="R189f69bed46e4602" /><Relationship Type="http://schemas.openxmlformats.org/officeDocument/2006/relationships/image" Target="/ppt/media/image7.png" Id="Raba527f390c84ca9" /><Relationship Type="http://schemas.openxmlformats.org/officeDocument/2006/relationships/image" Target="/ppt/media/image8.png" Id="R01a813f2d4fc4ac3" /><Relationship Type="http://schemas.openxmlformats.org/officeDocument/2006/relationships/image" Target="/ppt/media/image9.png" Id="Rf1d93dd7b1c545cf" /><Relationship Type="http://schemas.openxmlformats.org/officeDocument/2006/relationships/image" Target="/ppt/media/image10.png" Id="Rc63303a7aadc425c" /><Relationship Type="http://schemas.openxmlformats.org/officeDocument/2006/relationships/notesSlide" Target="/ppt/notesSlides/notesSlide9.xml" Id="R1cda0dd5db1d4a3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d69655640b4dfb" /><Relationship Type="http://schemas.openxmlformats.org/officeDocument/2006/relationships/image" Target="/ppt/media/image8.jpeg" Id="R8ce7d8fc41544628" /><Relationship Type="http://schemas.openxmlformats.org/officeDocument/2006/relationships/notesSlide" Target="/ppt/notesSlides/notesSlide10.xml" Id="R3a7d7f350a814d1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03ed065b324051" /><Relationship Type="http://schemas.openxmlformats.org/officeDocument/2006/relationships/notesSlide" Target="/ppt/notesSlides/notesSlide11.xml" Id="Ra2bb1fe287dc419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305a38255b4440" /><Relationship Type="http://schemas.openxmlformats.org/officeDocument/2006/relationships/notesSlide" Target="/ppt/notesSlides/notesSlide12.xml" Id="R5aa30b6c1d5946f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1829b116294852"/>
          <a:srcRect xmlns:a="http://schemas.openxmlformats.org/drawingml/2006/main" l="19383" t="0" r="1938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veil">
            <a:extLst xmlns:a="http://schemas.openxmlformats.org/drawingml/2006/main">
              <a:ext uri="{FF2B5EF4-FFF2-40B4-BE49-F238E27FC236}">
                <a16:creationId xmlns:a16="http://schemas.microsoft.com/office/drawing/2014/main" id="{2B106870-8C00-4BE6-A7EB-3FB04552A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AA74681E-DC34-479F-937D-CA8A831A2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571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05A28"/>
                </a:solidFill>
              </a:defRPr>
            </a:pPr>
            <a:r>
              <a:rPr sz="1200" b="1">
                <a:solidFill>
                  <a:srgbClr val="F05A28"/>
                </a:solidFill>
              </a:rPr>
              <a:t>PROJECT 3 · CAPSTONE · 2026</a:t>
            </a:r>
          </a:p>
        </p:txBody>
      </p:sp>
      <p:sp>
        <p:nvSpPr>
          <p:cNvPr id="4" name="cover-title">
            <a:extLst xmlns:a="http://schemas.openxmlformats.org/drawingml/2006/main">
              <a:ext uri="{FF2B5EF4-FFF2-40B4-BE49-F238E27FC236}">
                <a16:creationId xmlns:a16="http://schemas.microsoft.com/office/drawing/2014/main" id="{E8DF6E78-1F42-475B-9B53-9057DD547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65722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600" b="1">
                <a:solidFill>
                  <a:srgbClr val="111111"/>
                </a:solidFill>
              </a:defRPr>
            </a:pPr>
            <a:r>
              <a:rPr sz="6600" b="1">
                <a:solidFill>
                  <a:srgbClr val="111111"/>
                </a:solidFill>
              </a:rPr>
              <a:t>NIHONGO</a:t>
            </a:r>
          </a:p>
          <a:p xmlns:a="http://schemas.openxmlformats.org/drawingml/2006/main">
            <a:pPr algn="l">
              <a:defRPr sz="6600" b="1">
                <a:solidFill>
                  <a:srgbClr val="111111"/>
                </a:solidFill>
              </a:defRPr>
            </a:pPr>
            <a:r>
              <a:rPr sz="6600" b="1">
                <a:solidFill>
                  <a:srgbClr val="111111"/>
                </a:solidFill>
              </a:rPr>
              <a:t>LIFE</a:t>
            </a:r>
          </a:p>
        </p:txBody>
      </p:sp>
      <p:sp>
        <p:nvSpPr>
          <p:cNvPr id="5" name="tagline">
            <a:extLst xmlns:a="http://schemas.openxmlformats.org/drawingml/2006/main">
              <a:ext uri="{FF2B5EF4-FFF2-40B4-BE49-F238E27FC236}">
                <a16:creationId xmlns:a16="http://schemas.microsoft.com/office/drawing/2014/main" id="{BD4869A2-83F2-4D90-A9DF-9A60D9852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86200"/>
            <a:ext cx="590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05E"/>
                </a:solidFill>
              </a:defRPr>
            </a:pPr>
            <a:r>
              <a:rPr sz="1950" b="0">
                <a:solidFill>
                  <a:srgbClr val="17305E"/>
                </a:solidFill>
              </a:rPr>
              <a:t>Học tiếng Nhật bằng cách sống ở Nhật</a:t>
            </a:r>
          </a:p>
        </p:txBody>
      </p:sp>
      <p:sp>
        <p:nvSpPr>
          <p:cNvPr id="6" name="jp">
            <a:extLst xmlns:a="http://schemas.openxmlformats.org/drawingml/2006/main">
              <a:ext uri="{FF2B5EF4-FFF2-40B4-BE49-F238E27FC236}">
                <a16:creationId xmlns:a16="http://schemas.microsoft.com/office/drawing/2014/main" id="{87F8F23E-7F17-4A15-8F11-7FFA46170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62450"/>
            <a:ext cx="590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</a:defRPr>
            </a:pPr>
            <a:r>
              <a:rPr sz="1650" b="0">
                <a:solidFill>
                  <a:srgbClr val="555555"/>
                </a:solidFill>
              </a:rPr>
              <a:t>日本で暮らして、日本語を学ぼう</a:t>
            </a:r>
          </a:p>
        </p:txBody>
      </p:sp>
      <p:sp>
        <p:nvSpPr>
          <p:cNvPr id="7" name="author">
            <a:extLst xmlns:a="http://schemas.openxmlformats.org/drawingml/2006/main">
              <a:ext uri="{FF2B5EF4-FFF2-40B4-BE49-F238E27FC236}">
                <a16:creationId xmlns:a16="http://schemas.microsoft.com/office/drawing/2014/main" id="{F82BB76B-C74E-4138-9CBD-6D052E0CE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657850"/>
            <a:ext cx="5334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Quách Thành Long · K24GD03</a:t>
            </a:r>
          </a:p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GVHD: Nguyễn Ngọc Chấn</a:t>
            </a:r>
          </a:p>
        </p:txBody>
      </p:sp>
      <p:sp>
        <p:nvSpPr>
          <p:cNvPr id="8" name="accent">
            <a:extLst xmlns:a="http://schemas.openxmlformats.org/drawingml/2006/main">
              <a:ext uri="{FF2B5EF4-FFF2-40B4-BE49-F238E27FC236}">
                <a16:creationId xmlns:a16="http://schemas.microsoft.com/office/drawing/2014/main" id="{2F60EA59-034C-4495-9380-E86B680FC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0"/>
            <a:ext cx="876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5A28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487640993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">
            <a:extLst xmlns:a="http://schemas.openxmlformats.org/drawingml/2006/main">
              <a:ext uri="{FF2B5EF4-FFF2-40B4-BE49-F238E27FC236}">
                <a16:creationId xmlns:a16="http://schemas.microsoft.com/office/drawing/2014/main" id="{6441836A-18F7-4E72-B700-C08FFB73C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714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05A28"/>
                </a:solidFill>
              </a:defRPr>
            </a:pPr>
            <a:r>
              <a:rPr sz="1125" b="1">
                <a:solidFill>
                  <a:srgbClr val="F05A28"/>
                </a:solidFill>
              </a:rPr>
              <a:t>01 · BÀI TOÁN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D53EF33C-ABDF-4C97-B58E-669F076ED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96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</a:defRPr>
            </a:pPr>
            <a:r>
              <a:rPr sz="3000" b="1">
                <a:solidFill>
                  <a:srgbClr val="111111"/>
                </a:solidFill>
              </a:rPr>
              <a:t>Từ “học thuộc” sang giao tiếp trong ngữ cảnh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C475A8D4-690E-4E81-83C4-79DE78479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097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359D2B83-50F1-4A9A-9503-CF42676AA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2865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02</a:t>
            </a:r>
          </a:p>
        </p:txBody>
      </p:sp>
      <p:sp>
        <p:nvSpPr>
          <p:cNvPr id="5" name="thesis">
            <a:extLst xmlns:a="http://schemas.openxmlformats.org/drawingml/2006/main">
              <a:ext uri="{FF2B5EF4-FFF2-40B4-BE49-F238E27FC236}">
                <a16:creationId xmlns:a16="http://schemas.microsoft.com/office/drawing/2014/main" id="{6D7509E0-E0A8-41B7-A78F-500D355F4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52600"/>
            <a:ext cx="6858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305E"/>
                </a:solidFill>
              </a:defRPr>
            </a:pPr>
            <a:r>
              <a:rPr sz="2250" b="1">
                <a:solidFill>
                  <a:srgbClr val="17305E"/>
                </a:solidFill>
              </a:rPr>
              <a:t>NihongoLife biến các việc đời thường thành tình huống N5 có phản hồi, tiến trình và hậu quả trong thế giới 3D.</a:t>
            </a:r>
          </a:p>
        </p:txBody>
      </p:sp>
      <p:sp>
        <p:nvSpPr>
          <p:cNvPr id="6" name="bullet-0">
            <a:extLst xmlns:a="http://schemas.openxmlformats.org/drawingml/2006/main">
              <a:ext uri="{FF2B5EF4-FFF2-40B4-BE49-F238E27FC236}">
                <a16:creationId xmlns:a16="http://schemas.microsoft.com/office/drawing/2014/main" id="{90B605E8-91D3-4786-AB15-2765C835D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0"/>
            <a:ext cx="228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05A28"/>
                </a:solidFill>
              </a:defRPr>
            </a:pPr>
            <a:r>
              <a:rPr sz="1950" b="1">
                <a:solidFill>
                  <a:srgbClr val="F05A28"/>
                </a:solidFill>
              </a:rPr>
              <a:t>•</a:t>
            </a:r>
          </a:p>
        </p:txBody>
      </p:sp>
      <p:sp>
        <p:nvSpPr>
          <p:cNvPr id="7" name="bullet-text-0">
            <a:extLst xmlns:a="http://schemas.openxmlformats.org/drawingml/2006/main">
              <a:ext uri="{FF2B5EF4-FFF2-40B4-BE49-F238E27FC236}">
                <a16:creationId xmlns:a16="http://schemas.microsoft.com/office/drawing/2014/main" id="{01BDB64F-775A-4FBC-8FBF-577CABADB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48000"/>
            <a:ext cx="6343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Người học Việt mới bắt đầu: cần ngữ cảnh, cách đọc và nghĩa.</a:t>
            </a:r>
          </a:p>
        </p:txBody>
      </p:sp>
      <p:sp>
        <p:nvSpPr>
          <p:cNvPr id="8" name="bullet-1">
            <a:extLst xmlns:a="http://schemas.openxmlformats.org/drawingml/2006/main">
              <a:ext uri="{FF2B5EF4-FFF2-40B4-BE49-F238E27FC236}">
                <a16:creationId xmlns:a16="http://schemas.microsoft.com/office/drawing/2014/main" id="{DEB3A795-DD86-44D0-82DF-5F06F214E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71900"/>
            <a:ext cx="228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05A28"/>
                </a:solidFill>
              </a:defRPr>
            </a:pPr>
            <a:r>
              <a:rPr sz="1950" b="1">
                <a:solidFill>
                  <a:srgbClr val="F05A28"/>
                </a:solidFill>
              </a:rPr>
              <a:t>•</a:t>
            </a:r>
          </a:p>
        </p:txBody>
      </p:sp>
      <p:sp>
        <p:nvSpPr>
          <p:cNvPr id="9" name="bullet-text-1">
            <a:extLst xmlns:a="http://schemas.openxmlformats.org/drawingml/2006/main">
              <a:ext uri="{FF2B5EF4-FFF2-40B4-BE49-F238E27FC236}">
                <a16:creationId xmlns:a16="http://schemas.microsoft.com/office/drawing/2014/main" id="{61D32C39-B6A2-4B02-915C-2199E9D98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71900"/>
            <a:ext cx="6343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Sai không chặn tiến trình: giải thích, thử lại, tiếp tục câu chuyện.</a:t>
            </a:r>
          </a:p>
        </p:txBody>
      </p:sp>
      <p:sp>
        <p:nvSpPr>
          <p:cNvPr id="10" name="bullet-2">
            <a:extLst xmlns:a="http://schemas.openxmlformats.org/drawingml/2006/main">
              <a:ext uri="{FF2B5EF4-FFF2-40B4-BE49-F238E27FC236}">
                <a16:creationId xmlns:a16="http://schemas.microsoft.com/office/drawing/2014/main" id="{1058DAA6-3FCD-4D00-BF3B-08B4881A1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95800"/>
            <a:ext cx="228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05A28"/>
                </a:solidFill>
              </a:defRPr>
            </a:pPr>
            <a:r>
              <a:rPr sz="1950" b="1">
                <a:solidFill>
                  <a:srgbClr val="F05A28"/>
                </a:solidFill>
              </a:rPr>
              <a:t>•</a:t>
            </a:r>
          </a:p>
        </p:txBody>
      </p:sp>
      <p:sp>
        <p:nvSpPr>
          <p:cNvPr id="11" name="bullet-text-2">
            <a:extLst xmlns:a="http://schemas.openxmlformats.org/drawingml/2006/main">
              <a:ext uri="{FF2B5EF4-FFF2-40B4-BE49-F238E27FC236}">
                <a16:creationId xmlns:a16="http://schemas.microsoft.com/office/drawing/2014/main" id="{D6F1EFC1-DBCF-4E74-9D81-B7C9E95CA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95800"/>
            <a:ext cx="6343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Một vòng sống liền mạch: giao tiếp → làm việc → chi tiêu → học → tiến bộ.</a:t>
            </a:r>
          </a:p>
        </p:txBody>
      </p:sp>
      <p:sp>
        <p:nvSpPr>
          <p:cNvPr id="12" name="metric-panel">
            <a:extLst xmlns:a="http://schemas.openxmlformats.org/drawingml/2006/main">
              <a:ext uri="{FF2B5EF4-FFF2-40B4-BE49-F238E27FC236}">
                <a16:creationId xmlns:a16="http://schemas.microsoft.com/office/drawing/2014/main" id="{42D73D92-4782-47ED-931C-C63DD98F5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733550"/>
            <a:ext cx="3943350" cy="3733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m1">
            <a:extLst xmlns:a="http://schemas.openxmlformats.org/drawingml/2006/main">
              <a:ext uri="{FF2B5EF4-FFF2-40B4-BE49-F238E27FC236}">
                <a16:creationId xmlns:a16="http://schemas.microsoft.com/office/drawing/2014/main" id="{83C9E056-DCAE-405D-821A-FF9969E1D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095500"/>
            <a:ext cx="3143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500" b="1">
                <a:solidFill>
                  <a:srgbClr val="F05A28"/>
                </a:solidFill>
              </a:defRPr>
            </a:pPr>
            <a:r>
              <a:rPr sz="4500" b="1">
                <a:solidFill>
                  <a:srgbClr val="F05A28"/>
                </a:solidFill>
              </a:rPr>
              <a:t>14</a:t>
            </a:r>
          </a:p>
        </p:txBody>
      </p:sp>
      <p:sp>
        <p:nvSpPr>
          <p:cNvPr id="14" name="m1l">
            <a:extLst xmlns:a="http://schemas.openxmlformats.org/drawingml/2006/main">
              <a:ext uri="{FF2B5EF4-FFF2-40B4-BE49-F238E27FC236}">
                <a16:creationId xmlns:a16="http://schemas.microsoft.com/office/drawing/2014/main" id="{DABC3CFD-54CB-41AD-9DE5-E0A22C582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800350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kịch bản N5 theo dữ liệu</a:t>
            </a:r>
          </a:p>
        </p:txBody>
      </p:sp>
      <p:sp>
        <p:nvSpPr>
          <p:cNvPr id="15" name="m2">
            <a:extLst xmlns:a="http://schemas.openxmlformats.org/drawingml/2006/main">
              <a:ext uri="{FF2B5EF4-FFF2-40B4-BE49-F238E27FC236}">
                <a16:creationId xmlns:a16="http://schemas.microsoft.com/office/drawing/2014/main" id="{6811BF3C-F7A5-412B-BE35-4E491477B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429000"/>
            <a:ext cx="3143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500" b="1">
                <a:solidFill>
                  <a:srgbClr val="F05A28"/>
                </a:solidFill>
              </a:defRPr>
            </a:pPr>
            <a:r>
              <a:rPr sz="4500" b="1">
                <a:solidFill>
                  <a:srgbClr val="F05A28"/>
                </a:solidFill>
              </a:rPr>
              <a:t>7</a:t>
            </a:r>
          </a:p>
        </p:txBody>
      </p:sp>
      <p:sp>
        <p:nvSpPr>
          <p:cNvPr id="16" name="m2l">
            <a:extLst xmlns:a="http://schemas.openxmlformats.org/drawingml/2006/main">
              <a:ext uri="{FF2B5EF4-FFF2-40B4-BE49-F238E27FC236}">
                <a16:creationId xmlns:a16="http://schemas.microsoft.com/office/drawing/2014/main" id="{70392686-5BD6-4AC4-88C7-4CDC792E1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133850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khu vực chơi được</a:t>
            </a:r>
          </a:p>
        </p:txBody>
      </p:sp>
      <p:sp>
        <p:nvSpPr>
          <p:cNvPr id="17" name="m3">
            <a:extLst xmlns:a="http://schemas.openxmlformats.org/drawingml/2006/main">
              <a:ext uri="{FF2B5EF4-FFF2-40B4-BE49-F238E27FC236}">
                <a16:creationId xmlns:a16="http://schemas.microsoft.com/office/drawing/2014/main" id="{DC12D394-D8D4-48F5-AFAD-6E6495DCA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762500"/>
            <a:ext cx="3143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500" b="1">
                <a:solidFill>
                  <a:srgbClr val="F05A28"/>
                </a:solidFill>
              </a:defRPr>
            </a:pPr>
            <a:r>
              <a:rPr sz="4500" b="1">
                <a:solidFill>
                  <a:srgbClr val="F05A28"/>
                </a:solidFill>
              </a:rPr>
              <a:t>3</a:t>
            </a:r>
          </a:p>
        </p:txBody>
      </p:sp>
      <p:sp>
        <p:nvSpPr>
          <p:cNvPr id="18" name="m3l">
            <a:extLst xmlns:a="http://schemas.openxmlformats.org/drawingml/2006/main">
              <a:ext uri="{FF2B5EF4-FFF2-40B4-BE49-F238E27FC236}">
                <a16:creationId xmlns:a16="http://schemas.microsoft.com/office/drawing/2014/main" id="{BFF05D09-CD0B-41A7-B4BF-AE2DC3262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5467350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ngôn ngữ giao diện</a:t>
            </a:r>
          </a:p>
        </p:txBody>
      </p:sp>
    </p:spTree>
    <p:extLst>
      <p:ext uri="{BB962C8B-B14F-4D97-AF65-F5344CB8AC3E}">
        <p14:creationId xmlns:p14="http://schemas.microsoft.com/office/powerpoint/2010/main" val="36792678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">
            <a:extLst xmlns:a="http://schemas.openxmlformats.org/drawingml/2006/main">
              <a:ext uri="{FF2B5EF4-FFF2-40B4-BE49-F238E27FC236}">
                <a16:creationId xmlns:a16="http://schemas.microsoft.com/office/drawing/2014/main" id="{D09CFFB0-4126-4566-821C-F050F2DB0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714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05A28"/>
                </a:solidFill>
              </a:defRPr>
            </a:pPr>
            <a:r>
              <a:rPr sz="1125" b="1">
                <a:solidFill>
                  <a:srgbClr val="F05A28"/>
                </a:solidFill>
              </a:rPr>
              <a:t>02 · TRẢI NGHIỆM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EEBF782C-2FE3-427F-B262-6816A72DB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96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</a:defRPr>
            </a:pPr>
            <a:r>
              <a:rPr sz="3000" b="1">
                <a:solidFill>
                  <a:srgbClr val="111111"/>
                </a:solidFill>
              </a:rPr>
              <a:t>Một ngày ở Hibari-chō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CCF638EE-8AAE-49BA-9BAC-3C18BD70F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097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92B11438-D53F-4E90-AFDF-07927CEEA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2865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03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41500223ef41ae"/>
          <a:srcRect xmlns:a="http://schemas.openxmlformats.org/drawingml/2006/main" l="0" t="14130" r="0" b="1413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00050" y="1752600"/>
            <a:ext cx="5381625" cy="2171700"/>
          </a:xfrm>
          <a:prstGeom xmlns:a="http://schemas.openxmlformats.org/drawingml/2006/main" prst="rect">
            <a:avLst/>
          </a:prstGeom>
        </p:spPr>
      </p:pic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05464599b345d5"/>
          <a:srcRect xmlns:a="http://schemas.openxmlformats.org/drawingml/2006/main" l="0" t="16612" r="0" b="1661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10275" y="1752600"/>
            <a:ext cx="5781675" cy="2171700"/>
          </a:xfrm>
          <a:prstGeom xmlns:a="http://schemas.openxmlformats.org/drawingml/2006/main" prst="rect">
            <a:avLst/>
          </a:prstGeom>
        </p:spPr>
      </p:pic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4a1262e3c54170"/>
          <a:srcRect xmlns:a="http://schemas.openxmlformats.org/drawingml/2006/main" l="0" t="20108" r="0" b="2010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00050" y="4152900"/>
            <a:ext cx="5381625" cy="1809750"/>
          </a:xfrm>
          <a:prstGeom xmlns:a="http://schemas.openxmlformats.org/drawingml/2006/main" prst="rect">
            <a:avLst/>
          </a:prstGeom>
        </p:spPr>
      </p:pic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947865673a4fe6"/>
          <a:srcRect xmlns:a="http://schemas.openxmlformats.org/drawingml/2006/main" l="0" t="22176" r="0" b="2217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10275" y="4152900"/>
            <a:ext cx="5781675" cy="1809750"/>
          </a:xfrm>
          <a:prstGeom xmlns:a="http://schemas.openxmlformats.org/drawingml/2006/main" prst="rect">
            <a:avLst/>
          </a:prstGeom>
        </p:spPr>
      </p:pic>
      <p:sp>
        <p:nvSpPr>
          <p:cNvPr id="9" name="c1">
            <a:extLst xmlns:a="http://schemas.openxmlformats.org/drawingml/2006/main">
              <a:ext uri="{FF2B5EF4-FFF2-40B4-BE49-F238E27FC236}">
                <a16:creationId xmlns:a16="http://schemas.microsoft.com/office/drawing/2014/main" id="{F8C74237-01F7-4B23-89EE-DCD096A2D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24250"/>
            <a:ext cx="5095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Hội thoại N5 có cách đọc · romaji · nghĩa</a:t>
            </a:r>
          </a:p>
        </p:txBody>
      </p:sp>
      <p:sp>
        <p:nvSpPr>
          <p:cNvPr id="10" name="c2">
            <a:extLst xmlns:a="http://schemas.openxmlformats.org/drawingml/2006/main">
              <a:ext uri="{FF2B5EF4-FFF2-40B4-BE49-F238E27FC236}">
                <a16:creationId xmlns:a16="http://schemas.microsoft.com/office/drawing/2014/main" id="{206B25E5-A01D-4F96-9ED3-695591AA6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3524250"/>
            <a:ext cx="5476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Konbini: chọn hàng · giỏ · thanh toán</a:t>
            </a:r>
          </a:p>
        </p:txBody>
      </p:sp>
      <p:sp>
        <p:nvSpPr>
          <p:cNvPr id="11" name="c3">
            <a:extLst xmlns:a="http://schemas.openxmlformats.org/drawingml/2006/main">
              <a:ext uri="{FF2B5EF4-FFF2-40B4-BE49-F238E27FC236}">
                <a16:creationId xmlns:a16="http://schemas.microsoft.com/office/drawing/2014/main" id="{3EFC51C8-8B17-449E-8175-45C0ECD74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62600"/>
            <a:ext cx="5095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Ga tàu và hành trình liên khu</a:t>
            </a:r>
          </a:p>
        </p:txBody>
      </p:sp>
      <p:sp>
        <p:nvSpPr>
          <p:cNvPr id="12" name="c4">
            <a:extLst xmlns:a="http://schemas.openxmlformats.org/drawingml/2006/main">
              <a:ext uri="{FF2B5EF4-FFF2-40B4-BE49-F238E27FC236}">
                <a16:creationId xmlns:a16="http://schemas.microsoft.com/office/drawing/2014/main" id="{8228916C-593B-4B8C-BA92-503A89FC8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5562600"/>
            <a:ext cx="5476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JLPT / IELTS trong lớp học</a:t>
            </a:r>
          </a:p>
        </p:txBody>
      </p:sp>
    </p:spTree>
    <p:extLst>
      <p:ext uri="{BB962C8B-B14F-4D97-AF65-F5344CB8AC3E}">
        <p14:creationId xmlns:p14="http://schemas.microsoft.com/office/powerpoint/2010/main" val="108674716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">
            <a:extLst xmlns:a="http://schemas.openxmlformats.org/drawingml/2006/main">
              <a:ext uri="{FF2B5EF4-FFF2-40B4-BE49-F238E27FC236}">
                <a16:creationId xmlns:a16="http://schemas.microsoft.com/office/drawing/2014/main" id="{949372E3-1806-4A67-AB19-A3253199F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714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05A28"/>
                </a:solidFill>
              </a:defRPr>
            </a:pPr>
            <a:r>
              <a:rPr sz="1125" b="1">
                <a:solidFill>
                  <a:srgbClr val="F05A28"/>
                </a:solidFill>
              </a:rPr>
              <a:t>03 · THẾ GIỚI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7B8C3A63-27B9-4D3E-BDAE-F173EB8B7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96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</a:defRPr>
            </a:pPr>
            <a:r>
              <a:rPr sz="3000" b="1">
                <a:solidFill>
                  <a:srgbClr val="111111"/>
                </a:solidFill>
              </a:rPr>
              <a:t>Một hub, nhiều khu vực, chuyển scene hai chiều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8AF4EF21-072D-4920-A23E-8311806C9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097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8F1EEC40-53EC-4D3F-AA95-8D96F0D36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2865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04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5a0dfc6cb24f88"/>
          <a:stretch xmlns:a="http://schemas.openxmlformats.org/drawingml/2006/main"/>
        </p:blipFill>
        <p:spPr>
          <a:xfrm xmlns:a="http://schemas.openxmlformats.org/drawingml/2006/main">
            <a:off x="400050" y="1847850"/>
            <a:ext cx="6858000" cy="3943350"/>
          </a:xfrm>
          <a:prstGeom xmlns:a="http://schemas.openxmlformats.org/drawingml/2006/main" prst="rect">
            <a:avLst/>
          </a:prstGeom>
        </p:spPr>
      </p:pic>
      <p:sp>
        <p:nvSpPr>
          <p:cNvPr id="6" name="bullet-0">
            <a:extLst xmlns:a="http://schemas.openxmlformats.org/drawingml/2006/main">
              <a:ext uri="{FF2B5EF4-FFF2-40B4-BE49-F238E27FC236}">
                <a16:creationId xmlns:a16="http://schemas.microsoft.com/office/drawing/2014/main" id="{AADE1E67-CBB2-4577-BDD6-3B9C5CB4A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038350"/>
            <a:ext cx="228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05A28"/>
                </a:solidFill>
              </a:defRPr>
            </a:pPr>
            <a:r>
              <a:rPr sz="1800" b="1">
                <a:solidFill>
                  <a:srgbClr val="F05A28"/>
                </a:solidFill>
              </a:rPr>
              <a:t>•</a:t>
            </a:r>
          </a:p>
        </p:txBody>
      </p:sp>
      <p:sp>
        <p:nvSpPr>
          <p:cNvPr id="7" name="bullet-text-0">
            <a:extLst xmlns:a="http://schemas.openxmlformats.org/drawingml/2006/main">
              <a:ext uri="{FF2B5EF4-FFF2-40B4-BE49-F238E27FC236}">
                <a16:creationId xmlns:a16="http://schemas.microsoft.com/office/drawing/2014/main" id="{C73A9D01-6D25-453B-9FBA-D9DD93A83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038350"/>
            <a:ext cx="3600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90_TestSandbox — phố và konbini</a:t>
            </a:r>
          </a:p>
        </p:txBody>
      </p:sp>
      <p:sp>
        <p:nvSpPr>
          <p:cNvPr id="8" name="bullet-1">
            <a:extLst xmlns:a="http://schemas.openxmlformats.org/drawingml/2006/main">
              <a:ext uri="{FF2B5EF4-FFF2-40B4-BE49-F238E27FC236}">
                <a16:creationId xmlns:a16="http://schemas.microsoft.com/office/drawing/2014/main" id="{8BDD1757-F109-4E00-8E93-13A745642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781300"/>
            <a:ext cx="228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05A28"/>
                </a:solidFill>
              </a:defRPr>
            </a:pPr>
            <a:r>
              <a:rPr sz="1800" b="1">
                <a:solidFill>
                  <a:srgbClr val="F05A28"/>
                </a:solidFill>
              </a:rPr>
              <a:t>•</a:t>
            </a:r>
          </a:p>
        </p:txBody>
      </p:sp>
      <p:sp>
        <p:nvSpPr>
          <p:cNvPr id="9" name="bullet-text-1">
            <a:extLst xmlns:a="http://schemas.openxmlformats.org/drawingml/2006/main">
              <a:ext uri="{FF2B5EF4-FFF2-40B4-BE49-F238E27FC236}">
                <a16:creationId xmlns:a16="http://schemas.microsoft.com/office/drawing/2014/main" id="{A472ADBB-D54B-43E6-9BF9-5CBDF6385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781300"/>
            <a:ext cx="3600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20_StationDistrict — ga và tàu</a:t>
            </a:r>
          </a:p>
        </p:txBody>
      </p:sp>
      <p:sp>
        <p:nvSpPr>
          <p:cNvPr id="10" name="bullet-2">
            <a:extLst xmlns:a="http://schemas.openxmlformats.org/drawingml/2006/main">
              <a:ext uri="{FF2B5EF4-FFF2-40B4-BE49-F238E27FC236}">
                <a16:creationId xmlns:a16="http://schemas.microsoft.com/office/drawing/2014/main" id="{5291FEC2-C02C-4D9A-9A55-F25A42A57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524250"/>
            <a:ext cx="228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05A28"/>
                </a:solidFill>
              </a:defRPr>
            </a:pPr>
            <a:r>
              <a:rPr sz="1800" b="1">
                <a:solidFill>
                  <a:srgbClr val="F05A28"/>
                </a:solidFill>
              </a:rPr>
              <a:t>•</a:t>
            </a:r>
          </a:p>
        </p:txBody>
      </p:sp>
      <p:sp>
        <p:nvSpPr>
          <p:cNvPr id="11" name="bullet-text-2">
            <a:extLst xmlns:a="http://schemas.openxmlformats.org/drawingml/2006/main">
              <a:ext uri="{FF2B5EF4-FFF2-40B4-BE49-F238E27FC236}">
                <a16:creationId xmlns:a16="http://schemas.microsoft.com/office/drawing/2014/main" id="{09911B8E-0AC8-4EFA-870A-7A5C4F324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524250"/>
            <a:ext cx="3600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30_SushiRestaurant · 40_HIBARICLASS</a:t>
            </a:r>
          </a:p>
        </p:txBody>
      </p:sp>
      <p:sp>
        <p:nvSpPr>
          <p:cNvPr id="12" name="bullet-3">
            <a:extLst xmlns:a="http://schemas.openxmlformats.org/drawingml/2006/main">
              <a:ext uri="{FF2B5EF4-FFF2-40B4-BE49-F238E27FC236}">
                <a16:creationId xmlns:a16="http://schemas.microsoft.com/office/drawing/2014/main" id="{C2D87239-53FB-4DF5-8522-F44DC573D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4267200"/>
            <a:ext cx="228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05A28"/>
                </a:solidFill>
              </a:defRPr>
            </a:pPr>
            <a:r>
              <a:rPr sz="1800" b="1">
                <a:solidFill>
                  <a:srgbClr val="F05A28"/>
                </a:solidFill>
              </a:rPr>
              <a:t>•</a:t>
            </a:r>
          </a:p>
        </p:txBody>
      </p:sp>
      <p:sp>
        <p:nvSpPr>
          <p:cNvPr id="13" name="bullet-text-3">
            <a:extLst xmlns:a="http://schemas.openxmlformats.org/drawingml/2006/main">
              <a:ext uri="{FF2B5EF4-FFF2-40B4-BE49-F238E27FC236}">
                <a16:creationId xmlns:a16="http://schemas.microsoft.com/office/drawing/2014/main" id="{4606F1AE-26EF-424B-BDE8-E8144EB07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267200"/>
            <a:ext cx="3600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45_HomeBedroom · 50_GameCenter · 60_MidoriIsland</a:t>
            </a:r>
          </a:p>
        </p:txBody>
      </p:sp>
      <p:sp>
        <p:nvSpPr>
          <p:cNvPr id="14" name="note">
            <a:extLst xmlns:a="http://schemas.openxmlformats.org/drawingml/2006/main">
              <a:ext uri="{FF2B5EF4-FFF2-40B4-BE49-F238E27FC236}">
                <a16:creationId xmlns:a16="http://schemas.microsoft.com/office/drawing/2014/main" id="{A6281FD2-2E02-4BC9-A231-85E6FF066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5314950"/>
            <a:ext cx="3714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305E"/>
                </a:solidFill>
              </a:defRPr>
            </a:pPr>
            <a:r>
              <a:rPr sz="1425" b="1">
                <a:solidFill>
                  <a:srgbClr val="17305E"/>
                </a:solidFill>
              </a:rPr>
              <a:t>Mọi scene hoàn thiện được lưu trực tiếp; mở project và Play không cần bước setup thủ công.</a:t>
            </a:r>
          </a:p>
        </p:txBody>
      </p:sp>
    </p:spTree>
    <p:extLst>
      <p:ext uri="{BB962C8B-B14F-4D97-AF65-F5344CB8AC3E}">
        <p14:creationId xmlns:p14="http://schemas.microsoft.com/office/powerpoint/2010/main" val="1692400227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">
            <a:extLst xmlns:a="http://schemas.openxmlformats.org/drawingml/2006/main">
              <a:ext uri="{FF2B5EF4-FFF2-40B4-BE49-F238E27FC236}">
                <a16:creationId xmlns:a16="http://schemas.microsoft.com/office/drawing/2014/main" id="{34D020FF-5E27-48CE-AC77-CD68CEB24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714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05A28"/>
                </a:solidFill>
              </a:defRPr>
            </a:pPr>
            <a:r>
              <a:rPr sz="1125" b="1">
                <a:solidFill>
                  <a:srgbClr val="F05A28"/>
                </a:solidFill>
              </a:rPr>
              <a:t>04 · GAMEPLAY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E9D30AA3-5755-4F32-990D-0FB4F7FFD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96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</a:defRPr>
            </a:pPr>
            <a:r>
              <a:rPr sz="3000" b="1">
                <a:solidFill>
                  <a:srgbClr val="111111"/>
                </a:solidFill>
              </a:rPr>
              <a:t>Vòng lặp sống – học – tiến bộ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EBB5B71D-B261-4E20-80F3-68D47C5F2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097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89A72D59-8312-4E29-817C-838428E99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2865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05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bc5b9d8a9b4f04"/>
          <a:stretch xmlns:a="http://schemas.openxmlformats.org/drawingml/2006/main"/>
        </p:blipFill>
        <p:spPr>
          <a:xfrm xmlns:a="http://schemas.openxmlformats.org/drawingml/2006/main">
            <a:off x="476250" y="1752600"/>
            <a:ext cx="6553200" cy="4095750"/>
          </a:xfrm>
          <a:prstGeom xmlns:a="http://schemas.openxmlformats.org/drawingml/2006/main" prst="rect">
            <a:avLst/>
          </a:prstGeom>
        </p:spPr>
      </p:pic>
      <p:sp>
        <p:nvSpPr>
          <p:cNvPr id="6" name="lead">
            <a:extLst xmlns:a="http://schemas.openxmlformats.org/drawingml/2006/main">
              <a:ext uri="{FF2B5EF4-FFF2-40B4-BE49-F238E27FC236}">
                <a16:creationId xmlns:a16="http://schemas.microsoft.com/office/drawing/2014/main" id="{77F884C8-E69B-4F10-B6EE-F4C197914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809750"/>
            <a:ext cx="39052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305E"/>
                </a:solidFill>
              </a:defRPr>
            </a:pPr>
            <a:r>
              <a:rPr sz="2025" b="1">
                <a:solidFill>
                  <a:srgbClr val="17305E"/>
                </a:solidFill>
              </a:rPr>
              <a:t>Hành động có giá trị vì cùng tác động lên kinh tế, nhu cầu và năng lực ngôn ngữ.</a:t>
            </a:r>
          </a:p>
        </p:txBody>
      </p:sp>
      <p:sp>
        <p:nvSpPr>
          <p:cNvPr id="7" name="bullet-0">
            <a:extLst xmlns:a="http://schemas.openxmlformats.org/drawingml/2006/main">
              <a:ext uri="{FF2B5EF4-FFF2-40B4-BE49-F238E27FC236}">
                <a16:creationId xmlns:a16="http://schemas.microsoft.com/office/drawing/2014/main" id="{8FC0C149-70D7-4153-8F65-56D9D1B25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143250"/>
            <a:ext cx="228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05A28"/>
                </a:solidFill>
              </a:defRPr>
            </a:pPr>
            <a:r>
              <a:rPr sz="1800" b="1">
                <a:solidFill>
                  <a:srgbClr val="F05A28"/>
                </a:solidFill>
              </a:rPr>
              <a:t>•</a:t>
            </a:r>
          </a:p>
        </p:txBody>
      </p:sp>
      <p:sp>
        <p:nvSpPr>
          <p:cNvPr id="8" name="bullet-text-0">
            <a:extLst xmlns:a="http://schemas.openxmlformats.org/drawingml/2006/main">
              <a:ext uri="{FF2B5EF4-FFF2-40B4-BE49-F238E27FC236}">
                <a16:creationId xmlns:a16="http://schemas.microsoft.com/office/drawing/2014/main" id="{B8ED04FE-E51A-47DA-9CD8-9F4698B39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143250"/>
            <a:ext cx="3581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Làm thêm: konbini · sushi · nông trại</a:t>
            </a:r>
          </a:p>
        </p:txBody>
      </p:sp>
      <p:sp>
        <p:nvSpPr>
          <p:cNvPr id="9" name="bullet-1">
            <a:extLst xmlns:a="http://schemas.openxmlformats.org/drawingml/2006/main">
              <a:ext uri="{FF2B5EF4-FFF2-40B4-BE49-F238E27FC236}">
                <a16:creationId xmlns:a16="http://schemas.microsoft.com/office/drawing/2014/main" id="{66EEB88F-4982-4DC3-93AB-47FE592B2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752850"/>
            <a:ext cx="228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05A28"/>
                </a:solidFill>
              </a:defRPr>
            </a:pPr>
            <a:r>
              <a:rPr sz="1800" b="1">
                <a:solidFill>
                  <a:srgbClr val="F05A28"/>
                </a:solidFill>
              </a:rPr>
              <a:t>•</a:t>
            </a:r>
          </a:p>
        </p:txBody>
      </p:sp>
      <p:sp>
        <p:nvSpPr>
          <p:cNvPr id="10" name="bullet-text-1">
            <a:extLst xmlns:a="http://schemas.openxmlformats.org/drawingml/2006/main">
              <a:ext uri="{FF2B5EF4-FFF2-40B4-BE49-F238E27FC236}">
                <a16:creationId xmlns:a16="http://schemas.microsoft.com/office/drawing/2014/main" id="{7CC0CE8B-7541-4108-B437-5DBDA530A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752850"/>
            <a:ext cx="3581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Chi tiêu: đồ ăn · vé tàu · vật phẩm</a:t>
            </a:r>
          </a:p>
        </p:txBody>
      </p:sp>
      <p:sp>
        <p:nvSpPr>
          <p:cNvPr id="11" name="bullet-2">
            <a:extLst xmlns:a="http://schemas.openxmlformats.org/drawingml/2006/main">
              <a:ext uri="{FF2B5EF4-FFF2-40B4-BE49-F238E27FC236}">
                <a16:creationId xmlns:a16="http://schemas.microsoft.com/office/drawing/2014/main" id="{1F232CE3-F4D1-4B7B-A469-141636C47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362450"/>
            <a:ext cx="228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05A28"/>
                </a:solidFill>
              </a:defRPr>
            </a:pPr>
            <a:r>
              <a:rPr sz="1800" b="1">
                <a:solidFill>
                  <a:srgbClr val="F05A28"/>
                </a:solidFill>
              </a:rPr>
              <a:t>•</a:t>
            </a:r>
          </a:p>
        </p:txBody>
      </p:sp>
      <p:sp>
        <p:nvSpPr>
          <p:cNvPr id="12" name="bullet-text-2">
            <a:extLst xmlns:a="http://schemas.openxmlformats.org/drawingml/2006/main">
              <a:ext uri="{FF2B5EF4-FFF2-40B4-BE49-F238E27FC236}">
                <a16:creationId xmlns:a16="http://schemas.microsoft.com/office/drawing/2014/main" id="{09673BA5-CB31-4290-9D18-040AE2AA3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362450"/>
            <a:ext cx="3581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Học: hội thoại · bài thi · Kana Match</a:t>
            </a:r>
          </a:p>
        </p:txBody>
      </p:sp>
      <p:sp>
        <p:nvSpPr>
          <p:cNvPr id="13" name="bullet-3">
            <a:extLst xmlns:a="http://schemas.openxmlformats.org/drawingml/2006/main">
              <a:ext uri="{FF2B5EF4-FFF2-40B4-BE49-F238E27FC236}">
                <a16:creationId xmlns:a16="http://schemas.microsoft.com/office/drawing/2014/main" id="{A5D118FB-E2F5-4CB8-8CDB-09C6226CA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972050"/>
            <a:ext cx="228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05A28"/>
                </a:solidFill>
              </a:defRPr>
            </a:pPr>
            <a:r>
              <a:rPr sz="1800" b="1">
                <a:solidFill>
                  <a:srgbClr val="F05A28"/>
                </a:solidFill>
              </a:rPr>
              <a:t>•</a:t>
            </a:r>
          </a:p>
        </p:txBody>
      </p:sp>
      <p:sp>
        <p:nvSpPr>
          <p:cNvPr id="14" name="bullet-text-3">
            <a:extLst xmlns:a="http://schemas.openxmlformats.org/drawingml/2006/main">
              <a:ext uri="{FF2B5EF4-FFF2-40B4-BE49-F238E27FC236}">
                <a16:creationId xmlns:a16="http://schemas.microsoft.com/office/drawing/2014/main" id="{E4687FF6-8B90-419B-8012-5C14911B8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972050"/>
            <a:ext cx="3581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Lưu: local trước, cloud khi có cấu hình</a:t>
            </a:r>
          </a:p>
        </p:txBody>
      </p:sp>
    </p:spTree>
    <p:extLst>
      <p:ext uri="{BB962C8B-B14F-4D97-AF65-F5344CB8AC3E}">
        <p14:creationId xmlns:p14="http://schemas.microsoft.com/office/powerpoint/2010/main" val="1737945478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">
            <a:extLst xmlns:a="http://schemas.openxmlformats.org/drawingml/2006/main">
              <a:ext uri="{FF2B5EF4-FFF2-40B4-BE49-F238E27FC236}">
                <a16:creationId xmlns:a16="http://schemas.microsoft.com/office/drawing/2014/main" id="{CF1E703A-06DA-4260-859F-465B3CEB3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714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05A28"/>
                </a:solidFill>
              </a:defRPr>
            </a:pPr>
            <a:r>
              <a:rPr sz="1125" b="1">
                <a:solidFill>
                  <a:srgbClr val="F05A28"/>
                </a:solidFill>
              </a:rPr>
              <a:t>05 · KIẾN TRÚC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6EA673E6-1ACA-4809-9B70-3D1A1EFA1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96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</a:defRPr>
            </a:pPr>
            <a:r>
              <a:rPr sz="3000" b="1">
                <a:solidFill>
                  <a:srgbClr val="111111"/>
                </a:solidFill>
              </a:rPr>
              <a:t>Dữ liệu dẫn dắt, service có thể thay thế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1BE87833-1059-4A4B-9F22-5E31208D3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097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3EF9A140-2744-4E7B-A28D-10A98887B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2865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06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4f9c774e844d3d"/>
          <a:stretch xmlns:a="http://schemas.openxmlformats.org/drawingml/2006/main"/>
        </p:blipFill>
        <p:spPr>
          <a:xfrm xmlns:a="http://schemas.openxmlformats.org/drawingml/2006/main">
            <a:off x="476250" y="1714500"/>
            <a:ext cx="6705600" cy="4191000"/>
          </a:xfrm>
          <a:prstGeom xmlns:a="http://schemas.openxmlformats.org/drawingml/2006/main" prst="rect">
            <a:avLst/>
          </a:prstGeom>
        </p:spPr>
      </p:pic>
      <p:sp>
        <p:nvSpPr>
          <p:cNvPr id="6" name="bullet-0">
            <a:extLst xmlns:a="http://schemas.openxmlformats.org/drawingml/2006/main">
              <a:ext uri="{FF2B5EF4-FFF2-40B4-BE49-F238E27FC236}">
                <a16:creationId xmlns:a16="http://schemas.microsoft.com/office/drawing/2014/main" id="{F8FDA6B8-734E-40BA-B7E0-A1AC40CEF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962150"/>
            <a:ext cx="228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05A28"/>
                </a:solidFill>
              </a:defRPr>
            </a:pPr>
            <a:r>
              <a:rPr sz="1800" b="1">
                <a:solidFill>
                  <a:srgbClr val="F05A28"/>
                </a:solidFill>
              </a:rPr>
              <a:t>•</a:t>
            </a:r>
          </a:p>
        </p:txBody>
      </p:sp>
      <p:sp>
        <p:nvSpPr>
          <p:cNvPr id="7" name="bullet-text-0">
            <a:extLst xmlns:a="http://schemas.openxmlformats.org/drawingml/2006/main">
              <a:ext uri="{FF2B5EF4-FFF2-40B4-BE49-F238E27FC236}">
                <a16:creationId xmlns:a16="http://schemas.microsoft.com/office/drawing/2014/main" id="{14FB651A-A49F-45D0-B71B-82AFE71D5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962150"/>
            <a:ext cx="3581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ScenarioDefinition tách nội dung khỏi logic gameplay.</a:t>
            </a:r>
          </a:p>
        </p:txBody>
      </p:sp>
      <p:sp>
        <p:nvSpPr>
          <p:cNvPr id="8" name="bullet-1">
            <a:extLst xmlns:a="http://schemas.openxmlformats.org/drawingml/2006/main">
              <a:ext uri="{FF2B5EF4-FFF2-40B4-BE49-F238E27FC236}">
                <a16:creationId xmlns:a16="http://schemas.microsoft.com/office/drawing/2014/main" id="{E7C1197F-8F51-4928-8BC3-25C70FD48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686050"/>
            <a:ext cx="228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05A28"/>
                </a:solidFill>
              </a:defRPr>
            </a:pPr>
            <a:r>
              <a:rPr sz="1800" b="1">
                <a:solidFill>
                  <a:srgbClr val="F05A28"/>
                </a:solidFill>
              </a:rPr>
              <a:t>•</a:t>
            </a:r>
          </a:p>
        </p:txBody>
      </p:sp>
      <p:sp>
        <p:nvSpPr>
          <p:cNvPr id="9" name="bullet-text-1">
            <a:extLst xmlns:a="http://schemas.openxmlformats.org/drawingml/2006/main">
              <a:ext uri="{FF2B5EF4-FFF2-40B4-BE49-F238E27FC236}">
                <a16:creationId xmlns:a16="http://schemas.microsoft.com/office/drawing/2014/main" id="{0E1B6D71-5C51-4EF2-BA10-51C4E1D94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686050"/>
            <a:ext cx="3581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GameServices cung cấp local/cloud qua cùng interface.</a:t>
            </a:r>
          </a:p>
        </p:txBody>
      </p:sp>
      <p:sp>
        <p:nvSpPr>
          <p:cNvPr id="10" name="bullet-2">
            <a:extLst xmlns:a="http://schemas.openxmlformats.org/drawingml/2006/main">
              <a:ext uri="{FF2B5EF4-FFF2-40B4-BE49-F238E27FC236}">
                <a16:creationId xmlns:a16="http://schemas.microsoft.com/office/drawing/2014/main" id="{FD8B868F-5C61-4B2B-B5A4-A6A016649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409950"/>
            <a:ext cx="228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05A28"/>
                </a:solidFill>
              </a:defRPr>
            </a:pPr>
            <a:r>
              <a:rPr sz="1800" b="1">
                <a:solidFill>
                  <a:srgbClr val="F05A28"/>
                </a:solidFill>
              </a:rPr>
              <a:t>•</a:t>
            </a:r>
          </a:p>
        </p:txBody>
      </p:sp>
      <p:sp>
        <p:nvSpPr>
          <p:cNvPr id="11" name="bullet-text-2">
            <a:extLst xmlns:a="http://schemas.openxmlformats.org/drawingml/2006/main">
              <a:ext uri="{FF2B5EF4-FFF2-40B4-BE49-F238E27FC236}">
                <a16:creationId xmlns:a16="http://schemas.microsoft.com/office/drawing/2014/main" id="{84314499-16E3-4585-BA84-506CCD017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409950"/>
            <a:ext cx="3581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Scoring + Mastery gom kết quả hội thoại, thi và mini-game.</a:t>
            </a:r>
          </a:p>
        </p:txBody>
      </p:sp>
      <p:sp>
        <p:nvSpPr>
          <p:cNvPr id="12" name="bullet-3">
            <a:extLst xmlns:a="http://schemas.openxmlformats.org/drawingml/2006/main">
              <a:ext uri="{FF2B5EF4-FFF2-40B4-BE49-F238E27FC236}">
                <a16:creationId xmlns:a16="http://schemas.microsoft.com/office/drawing/2014/main" id="{2966F8ED-B920-46A9-81FF-49961766C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133850"/>
            <a:ext cx="228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05A28"/>
                </a:solidFill>
              </a:defRPr>
            </a:pPr>
            <a:r>
              <a:rPr sz="1800" b="1">
                <a:solidFill>
                  <a:srgbClr val="F05A28"/>
                </a:solidFill>
              </a:rPr>
              <a:t>•</a:t>
            </a:r>
          </a:p>
        </p:txBody>
      </p:sp>
      <p:sp>
        <p:nvSpPr>
          <p:cNvPr id="13" name="bullet-text-3">
            <a:extLst xmlns:a="http://schemas.openxmlformats.org/drawingml/2006/main">
              <a:ext uri="{FF2B5EF4-FFF2-40B4-BE49-F238E27FC236}">
                <a16:creationId xmlns:a16="http://schemas.microsoft.com/office/drawing/2014/main" id="{CD3E8AC0-332B-4FE0-8FA1-23C0A6479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133850"/>
            <a:ext cx="3581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Builder lưu scene/prefab hoàn chỉnh; không dùng MenuItem.</a:t>
            </a:r>
          </a:p>
        </p:txBody>
      </p:sp>
    </p:spTree>
    <p:extLst>
      <p:ext uri="{BB962C8B-B14F-4D97-AF65-F5344CB8AC3E}">
        <p14:creationId xmlns:p14="http://schemas.microsoft.com/office/powerpoint/2010/main" val="189869027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">
            <a:extLst xmlns:a="http://schemas.openxmlformats.org/drawingml/2006/main">
              <a:ext uri="{FF2B5EF4-FFF2-40B4-BE49-F238E27FC236}">
                <a16:creationId xmlns:a16="http://schemas.microsoft.com/office/drawing/2014/main" id="{70D8C8FA-53E1-4633-A354-E5C351425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714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05A28"/>
                </a:solidFill>
              </a:defRPr>
            </a:pPr>
            <a:r>
              <a:rPr sz="1125" b="1">
                <a:solidFill>
                  <a:srgbClr val="F05A28"/>
                </a:solidFill>
              </a:rPr>
              <a:t>06 · HỌC TẬP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8C8ABA95-AE32-4172-902F-C9A88FF5D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96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</a:defRPr>
            </a:pPr>
            <a:r>
              <a:rPr sz="3000" b="1">
                <a:solidFill>
                  <a:srgbClr val="111111"/>
                </a:solidFill>
              </a:rPr>
              <a:t>Ba lớp phản hồi cho người học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5FA648DA-6310-4B9F-AE3A-35DD21494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097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D55530E2-E8AD-4B70-938C-C7061FE9D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2865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07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a4ae906f124a3a"/>
          <a:srcRect xmlns:a="http://schemas.openxmlformats.org/drawingml/2006/main" l="4755" t="0" r="475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00050" y="1790700"/>
            <a:ext cx="3524250" cy="2190750"/>
          </a:xfrm>
          <a:prstGeom xmlns:a="http://schemas.openxmlformats.org/drawingml/2006/main" prst="rect">
            <a:avLst/>
          </a:prstGeom>
        </p:spPr>
      </p:pic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ad6506c6654c99"/>
          <a:srcRect xmlns:a="http://schemas.openxmlformats.org/drawingml/2006/main" l="4755" t="0" r="475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24350" y="1790700"/>
            <a:ext cx="3524250" cy="2190750"/>
          </a:xfrm>
          <a:prstGeom xmlns:a="http://schemas.openxmlformats.org/drawingml/2006/main" prst="rect">
            <a:avLst/>
          </a:prstGeom>
        </p:spPr>
      </p:pic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6ceda91abb46be"/>
          <a:srcRect xmlns:a="http://schemas.openxmlformats.org/drawingml/2006/main" l="4755" t="0" r="475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248650" y="1790700"/>
            <a:ext cx="3524250" cy="2190750"/>
          </a:xfrm>
          <a:prstGeom xmlns:a="http://schemas.openxmlformats.org/drawingml/2006/main" prst="rect">
            <a:avLst/>
          </a:prstGeom>
        </p:spPr>
      </p:pic>
      <p:sp>
        <p:nvSpPr>
          <p:cNvPr id="8" name="h1">
            <a:extLst xmlns:a="http://schemas.openxmlformats.org/drawingml/2006/main">
              <a:ext uri="{FF2B5EF4-FFF2-40B4-BE49-F238E27FC236}">
                <a16:creationId xmlns:a16="http://schemas.microsoft.com/office/drawing/2014/main" id="{BDC357F4-91CC-47BA-9032-BFBBDBB4C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267200"/>
            <a:ext cx="3524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05A28"/>
                </a:solidFill>
              </a:defRPr>
            </a:pPr>
            <a:r>
              <a:rPr sz="1350" b="1">
                <a:solidFill>
                  <a:srgbClr val="F05A28"/>
                </a:solidFill>
              </a:rPr>
              <a:t>HỘI THOẠI</a:t>
            </a:r>
          </a:p>
        </p:txBody>
      </p:sp>
      <p:sp>
        <p:nvSpPr>
          <p:cNvPr id="9" name="b1">
            <a:extLst xmlns:a="http://schemas.openxmlformats.org/drawingml/2006/main">
              <a:ext uri="{FF2B5EF4-FFF2-40B4-BE49-F238E27FC236}">
                <a16:creationId xmlns:a16="http://schemas.microsoft.com/office/drawing/2014/main" id="{740B8180-86D9-4931-9FEF-054472D8C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29150"/>
            <a:ext cx="3524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Lựa chọn, giải thích sai, thử lại và tiếp tục truyện.</a:t>
            </a:r>
          </a:p>
        </p:txBody>
      </p:sp>
      <p:sp>
        <p:nvSpPr>
          <p:cNvPr id="10" name="h2">
            <a:extLst xmlns:a="http://schemas.openxmlformats.org/drawingml/2006/main">
              <a:ext uri="{FF2B5EF4-FFF2-40B4-BE49-F238E27FC236}">
                <a16:creationId xmlns:a16="http://schemas.microsoft.com/office/drawing/2014/main" id="{20F7B526-34AB-4F27-B0A3-ECAEF2D67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267200"/>
            <a:ext cx="3524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05A28"/>
                </a:solidFill>
              </a:defRPr>
            </a:pPr>
            <a:r>
              <a:rPr sz="1350" b="1">
                <a:solidFill>
                  <a:srgbClr val="F05A28"/>
                </a:solidFill>
              </a:rPr>
              <a:t>BÀI THI</a:t>
            </a:r>
          </a:p>
        </p:txBody>
      </p:sp>
      <p:sp>
        <p:nvSpPr>
          <p:cNvPr id="11" name="b2">
            <a:extLst xmlns:a="http://schemas.openxmlformats.org/drawingml/2006/main">
              <a:ext uri="{FF2B5EF4-FFF2-40B4-BE49-F238E27FC236}">
                <a16:creationId xmlns:a16="http://schemas.microsoft.com/office/drawing/2014/main" id="{EAB4678D-C168-4B38-B13C-D436F3814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629150"/>
            <a:ext cx="3524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JLPT / IELTS, đồng hồ, kết quả và nhận xét.</a:t>
            </a:r>
          </a:p>
        </p:txBody>
      </p:sp>
      <p:sp>
        <p:nvSpPr>
          <p:cNvPr id="12" name="h3">
            <a:extLst xmlns:a="http://schemas.openxmlformats.org/drawingml/2006/main">
              <a:ext uri="{FF2B5EF4-FFF2-40B4-BE49-F238E27FC236}">
                <a16:creationId xmlns:a16="http://schemas.microsoft.com/office/drawing/2014/main" id="{F2C6E4D1-BC04-4E2B-9594-067531873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267200"/>
            <a:ext cx="3524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05A28"/>
                </a:solidFill>
              </a:defRPr>
            </a:pPr>
            <a:r>
              <a:rPr sz="1350" b="1">
                <a:solidFill>
                  <a:srgbClr val="F05A28"/>
                </a:solidFill>
              </a:rPr>
              <a:t>KANA MATCH</a:t>
            </a:r>
          </a:p>
        </p:txBody>
      </p:sp>
      <p:sp>
        <p:nvSpPr>
          <p:cNvPr id="13" name="b3">
            <a:extLst xmlns:a="http://schemas.openxmlformats.org/drawingml/2006/main">
              <a:ext uri="{FF2B5EF4-FFF2-40B4-BE49-F238E27FC236}">
                <a16:creationId xmlns:a16="http://schemas.microsoft.com/office/drawing/2014/main" id="{50462553-E830-4A9E-948C-80CA8B761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629150"/>
            <a:ext cx="3524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Ghép chữ, combo, sao, vé thưởng và quầy quà.</a:t>
            </a:r>
          </a:p>
        </p:txBody>
      </p:sp>
    </p:spTree>
    <p:extLst>
      <p:ext uri="{BB962C8B-B14F-4D97-AF65-F5344CB8AC3E}">
        <p14:creationId xmlns:p14="http://schemas.microsoft.com/office/powerpoint/2010/main" val="1697416678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">
            <a:extLst xmlns:a="http://schemas.openxmlformats.org/drawingml/2006/main">
              <a:ext uri="{FF2B5EF4-FFF2-40B4-BE49-F238E27FC236}">
                <a16:creationId xmlns:a16="http://schemas.microsoft.com/office/drawing/2014/main" id="{1DF68C5B-F2D0-4340-96EF-E482C2021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714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05A28"/>
                </a:solidFill>
              </a:defRPr>
            </a:pPr>
            <a:r>
              <a:rPr sz="1125" b="1">
                <a:solidFill>
                  <a:srgbClr val="F05A28"/>
                </a:solidFill>
              </a:rPr>
              <a:t>07 · ONLINE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96843BF4-A451-4514-AEA8-CC6D9BC9E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96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</a:defRPr>
            </a:pPr>
            <a:r>
              <a:rPr sz="3000" b="1">
                <a:solidFill>
                  <a:srgbClr val="111111"/>
                </a:solidFill>
              </a:rPr>
              <a:t>Online tăng giá trị — offline vẫn chơi được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495DD40C-21AA-47C6-857B-CB7D877FC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097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89617E72-D7C9-4332-9A46-DB1531122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2865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08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532ff09137470d"/>
          <a:stretch xmlns:a="http://schemas.openxmlformats.org/drawingml/2006/main"/>
        </p:blipFill>
        <p:spPr>
          <a:xfrm xmlns:a="http://schemas.openxmlformats.org/drawingml/2006/main">
            <a:off x="400050" y="1895267"/>
            <a:ext cx="6572250" cy="3791367"/>
          </a:xfrm>
          <a:prstGeom xmlns:a="http://schemas.openxmlformats.org/drawingml/2006/main" prst="rect">
            <a:avLst/>
          </a:prstGeom>
        </p:spPr>
      </p:pic>
      <p:sp>
        <p:nvSpPr>
          <p:cNvPr id="6" name="svc0">
            <a:extLst xmlns:a="http://schemas.openxmlformats.org/drawingml/2006/main">
              <a:ext uri="{FF2B5EF4-FFF2-40B4-BE49-F238E27FC236}">
                <a16:creationId xmlns:a16="http://schemas.microsoft.com/office/drawing/2014/main" id="{10EB239D-B5E8-425A-ADC6-9CA5D9CC9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92405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E7D6B"/>
                </a:solidFill>
              </a:defRPr>
            </a:pPr>
            <a:r>
              <a:rPr sz="1575" b="1">
                <a:solidFill>
                  <a:srgbClr val="2E7D6B"/>
                </a:solidFill>
              </a:rPr>
              <a:t>SUPABASE</a:t>
            </a:r>
          </a:p>
        </p:txBody>
      </p:sp>
      <p:sp>
        <p:nvSpPr>
          <p:cNvPr id="7" name="use0">
            <a:extLst xmlns:a="http://schemas.openxmlformats.org/drawingml/2006/main">
              <a:ext uri="{FF2B5EF4-FFF2-40B4-BE49-F238E27FC236}">
                <a16:creationId xmlns:a16="http://schemas.microsoft.com/office/drawing/2014/main" id="{4582081C-BE0F-4E61-B0C5-D93CB5540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286000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Auth · tiến trình · leaderboard · chat</a:t>
            </a:r>
          </a:p>
        </p:txBody>
      </p:sp>
      <p:sp>
        <p:nvSpPr>
          <p:cNvPr id="8" name="state0">
            <a:extLst xmlns:a="http://schemas.openxmlformats.org/drawingml/2006/main">
              <a:ext uri="{FF2B5EF4-FFF2-40B4-BE49-F238E27FC236}">
                <a16:creationId xmlns:a16="http://schemas.microsoft.com/office/drawing/2014/main" id="{F62B4039-DDFE-491F-99D2-B17566CD6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619375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Có mã; fallback local</a:t>
            </a:r>
          </a:p>
        </p:txBody>
      </p:sp>
      <p:sp>
        <p:nvSpPr>
          <p:cNvPr id="9" name="svc1">
            <a:extLst xmlns:a="http://schemas.openxmlformats.org/drawingml/2006/main">
              <a:ext uri="{FF2B5EF4-FFF2-40B4-BE49-F238E27FC236}">
                <a16:creationId xmlns:a16="http://schemas.microsoft.com/office/drawing/2014/main" id="{E0C8F3B4-6005-4ABE-A0FF-07CC7B847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08610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E7D6B"/>
                </a:solidFill>
              </a:defRPr>
            </a:pPr>
            <a:r>
              <a:rPr sz="1575" b="1">
                <a:solidFill>
                  <a:srgbClr val="2E7D6B"/>
                </a:solidFill>
              </a:rPr>
              <a:t>GEMINI</a:t>
            </a:r>
          </a:p>
        </p:txBody>
      </p:sp>
      <p:sp>
        <p:nvSpPr>
          <p:cNvPr id="10" name="use1">
            <a:extLst xmlns:a="http://schemas.openxmlformats.org/drawingml/2006/main">
              <a:ext uri="{FF2B5EF4-FFF2-40B4-BE49-F238E27FC236}">
                <a16:creationId xmlns:a16="http://schemas.microsoft.com/office/drawing/2014/main" id="{F0D4D16A-F3CC-46D2-95FD-0928F8F17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448050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Phát âm · NPC AI · IELTS Writing</a:t>
            </a:r>
          </a:p>
        </p:txBody>
      </p:sp>
      <p:sp>
        <p:nvSpPr>
          <p:cNvPr id="11" name="state1">
            <a:extLst xmlns:a="http://schemas.openxmlformats.org/drawingml/2006/main">
              <a:ext uri="{FF2B5EF4-FFF2-40B4-BE49-F238E27FC236}">
                <a16:creationId xmlns:a16="http://schemas.microsoft.com/office/drawing/2014/main" id="{858EC836-37D9-4F7B-A631-B3B72973E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781425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Đã gọi thử</a:t>
            </a:r>
          </a:p>
        </p:txBody>
      </p:sp>
      <p:sp>
        <p:nvSpPr>
          <p:cNvPr id="12" name="svc2">
            <a:extLst xmlns:a="http://schemas.openxmlformats.org/drawingml/2006/main">
              <a:ext uri="{FF2B5EF4-FFF2-40B4-BE49-F238E27FC236}">
                <a16:creationId xmlns:a16="http://schemas.microsoft.com/office/drawing/2014/main" id="{3785BB8F-2E52-4A7F-9613-C2FB8FE4A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24815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05A28"/>
                </a:solidFill>
              </a:defRPr>
            </a:pPr>
            <a:r>
              <a:rPr sz="1575" b="1">
                <a:solidFill>
                  <a:srgbClr val="F05A28"/>
                </a:solidFill>
              </a:rPr>
              <a:t>AGORA RTC</a:t>
            </a:r>
          </a:p>
        </p:txBody>
      </p:sp>
      <p:sp>
        <p:nvSpPr>
          <p:cNvPr id="13" name="use2">
            <a:extLst xmlns:a="http://schemas.openxmlformats.org/drawingml/2006/main">
              <a:ext uri="{FF2B5EF4-FFF2-40B4-BE49-F238E27FC236}">
                <a16:creationId xmlns:a16="http://schemas.microsoft.com/office/drawing/2014/main" id="{0A2177B9-7827-40D6-9E72-5090B4A27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610100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Lớp học video</a:t>
            </a:r>
          </a:p>
        </p:txBody>
      </p:sp>
      <p:sp>
        <p:nvSpPr>
          <p:cNvPr id="14" name="state2">
            <a:extLst xmlns:a="http://schemas.openxmlformats.org/drawingml/2006/main">
              <a:ext uri="{FF2B5EF4-FFF2-40B4-BE49-F238E27FC236}">
                <a16:creationId xmlns:a16="http://schemas.microsoft.com/office/drawing/2014/main" id="{5644A8F0-33E3-4981-8C79-92ED073DF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943475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SDK đã tích hợp; chưa test 2 máy</a:t>
            </a:r>
          </a:p>
        </p:txBody>
      </p:sp>
    </p:spTree>
    <p:extLst>
      <p:ext uri="{BB962C8B-B14F-4D97-AF65-F5344CB8AC3E}">
        <p14:creationId xmlns:p14="http://schemas.microsoft.com/office/powerpoint/2010/main" val="1566907026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">
            <a:extLst xmlns:a="http://schemas.openxmlformats.org/drawingml/2006/main">
              <a:ext uri="{FF2B5EF4-FFF2-40B4-BE49-F238E27FC236}">
                <a16:creationId xmlns:a16="http://schemas.microsoft.com/office/drawing/2014/main" id="{EC5650F9-87E5-411F-8717-25186A956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714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05A28"/>
                </a:solidFill>
              </a:defRPr>
            </a:pPr>
            <a:r>
              <a:rPr sz="1125" b="1">
                <a:solidFill>
                  <a:srgbClr val="F05A28"/>
                </a:solidFill>
              </a:rPr>
              <a:t>08 · NHÂN VẬT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AE56E122-A063-4F5B-8C7F-0F0206C5C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96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</a:defRPr>
            </a:pPr>
            <a:r>
              <a:rPr sz="3000" b="1">
                <a:solidFill>
                  <a:srgbClr val="111111"/>
                </a:solidFill>
              </a:rPr>
              <a:t>Humanoid pilot trước khi mở rộng animation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5EF4EE96-49D4-496D-BE55-DE2B440D9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097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72A644CD-8943-4120-A0F5-F1C289149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2865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09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9f69bed46e4602"/>
          <a:srcRect xmlns:a="http://schemas.openxmlformats.org/drawingml/2006/main" l="26384" t="0" r="2638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00050" y="1752600"/>
            <a:ext cx="2095500" cy="2495550"/>
          </a:xfrm>
          <a:prstGeom xmlns:a="http://schemas.openxmlformats.org/drawingml/2006/main" prst="rect">
            <a:avLst/>
          </a:prstGeom>
        </p:spPr>
      </p:pic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a527f390c84ca9"/>
          <a:srcRect xmlns:a="http://schemas.openxmlformats.org/drawingml/2006/main" l="26384" t="0" r="2638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24150" y="1752600"/>
            <a:ext cx="2095500" cy="2495550"/>
          </a:xfrm>
          <a:prstGeom xmlns:a="http://schemas.openxmlformats.org/drawingml/2006/main" prst="rect">
            <a:avLst/>
          </a:prstGeom>
        </p:spPr>
      </p:pic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a813f2d4fc4ac3"/>
          <a:srcRect xmlns:a="http://schemas.openxmlformats.org/drawingml/2006/main" l="26384" t="0" r="2638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48250" y="1752600"/>
            <a:ext cx="2095500" cy="2495550"/>
          </a:xfrm>
          <a:prstGeom xmlns:a="http://schemas.openxmlformats.org/drawingml/2006/main" prst="rect">
            <a:avLst/>
          </a:prstGeom>
        </p:spPr>
      </p:pic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d93dd7b1c545cf"/>
          <a:srcRect xmlns:a="http://schemas.openxmlformats.org/drawingml/2006/main" l="26384" t="0" r="2638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372350" y="1752600"/>
            <a:ext cx="2095500" cy="2495550"/>
          </a:xfrm>
          <a:prstGeom xmlns:a="http://schemas.openxmlformats.org/drawingml/2006/main" prst="rect">
            <a:avLst/>
          </a:prstGeom>
        </p:spPr>
      </p:pic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3303a7aadc425c"/>
          <a:srcRect xmlns:a="http://schemas.openxmlformats.org/drawingml/2006/main" l="26384" t="0" r="2638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696450" y="1752600"/>
            <a:ext cx="2095500" cy="2495550"/>
          </a:xfrm>
          <a:prstGeom xmlns:a="http://schemas.openxmlformats.org/drawingml/2006/main" prst="rect">
            <a:avLst/>
          </a:prstGeom>
        </p:spPr>
      </p:pic>
      <p:sp>
        <p:nvSpPr>
          <p:cNvPr id="10" name="pose0">
            <a:extLst xmlns:a="http://schemas.openxmlformats.org/drawingml/2006/main">
              <a:ext uri="{FF2B5EF4-FFF2-40B4-BE49-F238E27FC236}">
                <a16:creationId xmlns:a16="http://schemas.microsoft.com/office/drawing/2014/main" id="{C18D8FF8-5F8B-436C-9B69-808757BD2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434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IDLE</a:t>
            </a:r>
          </a:p>
        </p:txBody>
      </p:sp>
      <p:sp>
        <p:nvSpPr>
          <p:cNvPr id="11" name="pose1">
            <a:extLst xmlns:a="http://schemas.openxmlformats.org/drawingml/2006/main">
              <a:ext uri="{FF2B5EF4-FFF2-40B4-BE49-F238E27FC236}">
                <a16:creationId xmlns:a16="http://schemas.microsoft.com/office/drawing/2014/main" id="{4781CD40-55A9-4F8C-8110-996CF2CED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3434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WALK</a:t>
            </a:r>
          </a:p>
        </p:txBody>
      </p:sp>
      <p:sp>
        <p:nvSpPr>
          <p:cNvPr id="12" name="pose2">
            <a:extLst xmlns:a="http://schemas.openxmlformats.org/drawingml/2006/main">
              <a:ext uri="{FF2B5EF4-FFF2-40B4-BE49-F238E27FC236}">
                <a16:creationId xmlns:a16="http://schemas.microsoft.com/office/drawing/2014/main" id="{ACCA68C8-10CC-4BA6-AEED-27CA0CD28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3434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05A28"/>
                </a:solidFill>
              </a:defRPr>
            </a:pPr>
            <a:r>
              <a:rPr sz="1275" b="1">
                <a:solidFill>
                  <a:srgbClr val="F05A28"/>
                </a:solidFill>
              </a:rPr>
              <a:t>RUN*</a:t>
            </a:r>
          </a:p>
        </p:txBody>
      </p:sp>
      <p:sp>
        <p:nvSpPr>
          <p:cNvPr id="13" name="pose3">
            <a:extLst xmlns:a="http://schemas.openxmlformats.org/drawingml/2006/main">
              <a:ext uri="{FF2B5EF4-FFF2-40B4-BE49-F238E27FC236}">
                <a16:creationId xmlns:a16="http://schemas.microsoft.com/office/drawing/2014/main" id="{0DA53627-07B5-4C28-A13D-794403F36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43434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TALK</a:t>
            </a:r>
          </a:p>
        </p:txBody>
      </p:sp>
      <p:sp>
        <p:nvSpPr>
          <p:cNvPr id="14" name="pose4">
            <a:extLst xmlns:a="http://schemas.openxmlformats.org/drawingml/2006/main">
              <a:ext uri="{FF2B5EF4-FFF2-40B4-BE49-F238E27FC236}">
                <a16:creationId xmlns:a16="http://schemas.microsoft.com/office/drawing/2014/main" id="{825A2B7A-6CCC-40D8-8FFE-E2A9AB64B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43434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SIT</a:t>
            </a:r>
          </a:p>
        </p:txBody>
      </p:sp>
      <p:sp>
        <p:nvSpPr>
          <p:cNvPr id="15" name="audit">
            <a:extLst xmlns:a="http://schemas.openxmlformats.org/drawingml/2006/main">
              <a:ext uri="{FF2B5EF4-FFF2-40B4-BE49-F238E27FC236}">
                <a16:creationId xmlns:a16="http://schemas.microsoft.com/office/drawing/2014/main" id="{7F3E71F0-D83A-43C7-974C-0D2386E04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33950"/>
            <a:ext cx="11391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305E"/>
                </a:solidFill>
              </a:defRPr>
            </a:pPr>
            <a:r>
              <a:rPr sz="1725" b="1">
                <a:solidFill>
                  <a:srgbClr val="17305E"/>
                </a:solidFill>
              </a:rPr>
              <a:t>Avatar hợp lệ · isHuman=true · root motion tắt · giữ nguyên PlayerController, camera, collider, inventory và online.</a:t>
            </a:r>
          </a:p>
        </p:txBody>
      </p:sp>
      <p:sp>
        <p:nvSpPr>
          <p:cNvPr id="16" name="gap">
            <a:extLst xmlns:a="http://schemas.openxmlformats.org/drawingml/2006/main">
              <a:ext uri="{FF2B5EF4-FFF2-40B4-BE49-F238E27FC236}">
                <a16:creationId xmlns:a16="http://schemas.microsoft.com/office/drawing/2014/main" id="{01B82010-04DF-4819-86DB-593BD113A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62600"/>
            <a:ext cx="11391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F05A28"/>
                </a:solidFill>
              </a:defRPr>
            </a:pPr>
            <a:r>
              <a:rPr sz="1350" b="0">
                <a:solidFill>
                  <a:srgbClr val="F05A28"/>
                </a:solidFill>
              </a:rPr>
              <a:t>* Run retarget thành công bằng clip Humanoid thật; gameplay controller chưa có state Run riêng.</a:t>
            </a:r>
          </a:p>
        </p:txBody>
      </p:sp>
    </p:spTree>
    <p:extLst>
      <p:ext uri="{BB962C8B-B14F-4D97-AF65-F5344CB8AC3E}">
        <p14:creationId xmlns:p14="http://schemas.microsoft.com/office/powerpoint/2010/main" val="1531747269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">
            <a:extLst xmlns:a="http://schemas.openxmlformats.org/drawingml/2006/main">
              <a:ext uri="{FF2B5EF4-FFF2-40B4-BE49-F238E27FC236}">
                <a16:creationId xmlns:a16="http://schemas.microsoft.com/office/drawing/2014/main" id="{A2641659-0970-4907-8325-03F80525C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714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05A28"/>
                </a:solidFill>
              </a:defRPr>
            </a:pPr>
            <a:r>
              <a:rPr sz="1125" b="1">
                <a:solidFill>
                  <a:srgbClr val="F05A28"/>
                </a:solidFill>
              </a:rPr>
              <a:t>09 · KIỂM THỬ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CAD3B39D-3814-4254-8E8A-9C0F83D26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96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</a:defRPr>
            </a:pPr>
            <a:r>
              <a:rPr sz="3000" b="1">
                <a:solidFill>
                  <a:srgbClr val="111111"/>
                </a:solidFill>
              </a:rPr>
              <a:t>Play Mode là bằng chứng hoàn thành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FA5A2AE2-7FBD-453B-8558-DEA2E25FB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097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B0796A5C-F2BB-4B79-8D78-56DA1E835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2865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10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e7d8fc41544628"/>
          <a:stretch xmlns:a="http://schemas.openxmlformats.org/drawingml/2006/main"/>
        </p:blipFill>
        <p:spPr>
          <a:xfrm xmlns:a="http://schemas.openxmlformats.org/drawingml/2006/main">
            <a:off x="400050" y="2094647"/>
            <a:ext cx="5619750" cy="2516306"/>
          </a:xfrm>
          <a:prstGeom xmlns:a="http://schemas.openxmlformats.org/drawingml/2006/main" prst="rect">
            <a:avLst/>
          </a:prstGeom>
        </p:spPr>
      </p:pic>
      <p:sp>
        <p:nvSpPr>
          <p:cNvPr id="6" name="metric">
            <a:extLst xmlns:a="http://schemas.openxmlformats.org/drawingml/2006/main">
              <a:ext uri="{FF2B5EF4-FFF2-40B4-BE49-F238E27FC236}">
                <a16:creationId xmlns:a16="http://schemas.microsoft.com/office/drawing/2014/main" id="{11238763-6478-4250-A86F-E3DD9886B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771650"/>
            <a:ext cx="476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4800" b="1">
                <a:solidFill>
                  <a:srgbClr val="F05A28"/>
                </a:solidFill>
              </a:defRPr>
            </a:pPr>
            <a:r>
              <a:rPr sz="4800" b="1">
                <a:solidFill>
                  <a:srgbClr val="F05A28"/>
                </a:solidFill>
              </a:rPr>
              <a:t>16 / 16</a:t>
            </a:r>
          </a:p>
        </p:txBody>
      </p:sp>
      <p:sp>
        <p:nvSpPr>
          <p:cNvPr id="7" name="metric-label">
            <a:extLst xmlns:a="http://schemas.openxmlformats.org/drawingml/2006/main">
              <a:ext uri="{FF2B5EF4-FFF2-40B4-BE49-F238E27FC236}">
                <a16:creationId xmlns:a16="http://schemas.microsoft.com/office/drawing/2014/main" id="{F7765806-981D-4BCE-941E-4F657CB7A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6860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555555"/>
                </a:solidFill>
              </a:defRPr>
            </a:pPr>
            <a:r>
              <a:rPr sz="1425" b="0">
                <a:solidFill>
                  <a:srgbClr val="555555"/>
                </a:solidFill>
              </a:rPr>
              <a:t>Play Mode (mốc báo cáo 08/10/2026)</a:t>
            </a:r>
          </a:p>
        </p:txBody>
      </p:sp>
      <p:sp>
        <p:nvSpPr>
          <p:cNvPr id="8" name="metric2">
            <a:extLst xmlns:a="http://schemas.openxmlformats.org/drawingml/2006/main">
              <a:ext uri="{FF2B5EF4-FFF2-40B4-BE49-F238E27FC236}">
                <a16:creationId xmlns:a16="http://schemas.microsoft.com/office/drawing/2014/main" id="{8C433F73-C8B1-4CEE-8678-D61960EAC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352800"/>
            <a:ext cx="4762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4350" b="1">
                <a:solidFill>
                  <a:srgbClr val="2E7D6B"/>
                </a:solidFill>
              </a:defRPr>
            </a:pPr>
            <a:r>
              <a:rPr sz="4350" b="1">
                <a:solidFill>
                  <a:srgbClr val="2E7D6B"/>
                </a:solidFill>
              </a:rPr>
              <a:t>11 / 11</a:t>
            </a:r>
          </a:p>
        </p:txBody>
      </p:sp>
      <p:sp>
        <p:nvSpPr>
          <p:cNvPr id="9" name="metric2-label">
            <a:extLst xmlns:a="http://schemas.openxmlformats.org/drawingml/2006/main">
              <a:ext uri="{FF2B5EF4-FFF2-40B4-BE49-F238E27FC236}">
                <a16:creationId xmlns:a16="http://schemas.microsoft.com/office/drawing/2014/main" id="{2A2C2993-B409-4831-8BAA-18A7443D1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1719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555555"/>
                </a:solidFill>
              </a:defRPr>
            </a:pPr>
            <a:r>
              <a:rPr sz="1425" b="0">
                <a:solidFill>
                  <a:srgbClr val="555555"/>
                </a:solidFill>
              </a:rPr>
              <a:t>EditMode</a:t>
            </a:r>
          </a:p>
        </p:txBody>
      </p:sp>
      <p:sp>
        <p:nvSpPr>
          <p:cNvPr id="10" name="evidence">
            <a:extLst xmlns:a="http://schemas.openxmlformats.org/drawingml/2006/main">
              <a:ext uri="{FF2B5EF4-FFF2-40B4-BE49-F238E27FC236}">
                <a16:creationId xmlns:a16="http://schemas.microsoft.com/office/drawing/2014/main" id="{6C1A6479-29D0-4601-ADC1-3B82F40CF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972050"/>
            <a:ext cx="4762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305E"/>
                </a:solidFill>
              </a:defRPr>
            </a:pPr>
            <a:r>
              <a:rPr sz="1650" b="1">
                <a:solidFill>
                  <a:srgbClr val="17305E"/>
                </a:solidFill>
              </a:rPr>
              <a:t>Hơn 150 ảnh tự chụp · va chạm thật · input thật · scene thật</a:t>
            </a:r>
          </a:p>
        </p:txBody>
      </p:sp>
    </p:spTree>
    <p:extLst>
      <p:ext uri="{BB962C8B-B14F-4D97-AF65-F5344CB8AC3E}">
        <p14:creationId xmlns:p14="http://schemas.microsoft.com/office/powerpoint/2010/main" val="1332248465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">
            <a:extLst xmlns:a="http://schemas.openxmlformats.org/drawingml/2006/main">
              <a:ext uri="{FF2B5EF4-FFF2-40B4-BE49-F238E27FC236}">
                <a16:creationId xmlns:a16="http://schemas.microsoft.com/office/drawing/2014/main" id="{413C5BB0-666A-4747-9892-E81ECDE71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714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05A28"/>
                </a:solidFill>
              </a:defRPr>
            </a:pPr>
            <a:r>
              <a:rPr sz="1125" b="1">
                <a:solidFill>
                  <a:srgbClr val="F05A28"/>
                </a:solidFill>
              </a:rPr>
              <a:t>10 · LỘ TRÌNH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08806D6B-6391-436E-A99D-895D33F59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96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</a:defRPr>
            </a:pPr>
            <a:r>
              <a:rPr sz="3000" b="1">
                <a:solidFill>
                  <a:srgbClr val="111111"/>
                </a:solidFill>
              </a:rPr>
              <a:t>Chỉ thêm gameplay sau khi nhân vật đạt chuẩn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B84BF043-E8DE-410D-B57F-3DE717DE5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097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1DCACC77-1063-4BAD-9DA2-6C9935437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2865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11</a:t>
            </a:r>
          </a:p>
        </p:txBody>
      </p:sp>
      <p:sp>
        <p:nvSpPr>
          <p:cNvPr id="5" name="stepbox0">
            <a:extLst xmlns:a="http://schemas.openxmlformats.org/drawingml/2006/main">
              <a:ext uri="{FF2B5EF4-FFF2-40B4-BE49-F238E27FC236}">
                <a16:creationId xmlns:a16="http://schemas.microsoft.com/office/drawing/2014/main" id="{240EE0A3-16CA-45C6-9A72-4079CC16C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38350"/>
            <a:ext cx="255270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num0">
            <a:extLst xmlns:a="http://schemas.openxmlformats.org/drawingml/2006/main">
              <a:ext uri="{FF2B5EF4-FFF2-40B4-BE49-F238E27FC236}">
                <a16:creationId xmlns:a16="http://schemas.microsoft.com/office/drawing/2014/main" id="{1D243D9F-4224-4CD8-BC74-9B6E52E33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533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05A28"/>
                </a:solidFill>
              </a:defRPr>
            </a:pPr>
            <a:r>
              <a:rPr sz="3150" b="1">
                <a:solidFill>
                  <a:srgbClr val="F05A28"/>
                </a:solidFill>
              </a:rPr>
              <a:t>1</a:t>
            </a:r>
          </a:p>
        </p:txBody>
      </p:sp>
      <p:sp>
        <p:nvSpPr>
          <p:cNvPr id="7" name="st0">
            <a:extLst xmlns:a="http://schemas.openxmlformats.org/drawingml/2006/main">
              <a:ext uri="{FF2B5EF4-FFF2-40B4-BE49-F238E27FC236}">
                <a16:creationId xmlns:a16="http://schemas.microsoft.com/office/drawing/2014/main" id="{C59CC863-043D-4E7F-BBC9-BC45DF65D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0"/>
            <a:ext cx="2133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305E"/>
                </a:solidFill>
              </a:defRPr>
            </a:pPr>
            <a:r>
              <a:rPr sz="1725" b="1">
                <a:solidFill>
                  <a:srgbClr val="17305E"/>
                </a:solidFill>
              </a:rPr>
              <a:t>Chốt Run riêng</a:t>
            </a:r>
          </a:p>
        </p:txBody>
      </p:sp>
      <p:sp>
        <p:nvSpPr>
          <p:cNvPr id="8" name="sd0">
            <a:extLst xmlns:a="http://schemas.openxmlformats.org/drawingml/2006/main">
              <a:ext uri="{FF2B5EF4-FFF2-40B4-BE49-F238E27FC236}">
                <a16:creationId xmlns:a16="http://schemas.microsoft.com/office/drawing/2014/main" id="{C8137109-67F3-4E5C-ADBA-A67EACF12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95700"/>
            <a:ext cx="2133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locomotion nhất quán</a:t>
            </a:r>
          </a:p>
        </p:txBody>
      </p:sp>
      <p:sp>
        <p:nvSpPr>
          <p:cNvPr id="9" name="stepbox1">
            <a:extLst xmlns:a="http://schemas.openxmlformats.org/drawingml/2006/main">
              <a:ext uri="{FF2B5EF4-FFF2-40B4-BE49-F238E27FC236}">
                <a16:creationId xmlns:a16="http://schemas.microsoft.com/office/drawing/2014/main" id="{399BC91B-FBA4-4C0A-8ED9-45DBB22B4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2038350"/>
            <a:ext cx="255270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num1">
            <a:extLst xmlns:a="http://schemas.openxmlformats.org/drawingml/2006/main">
              <a:ext uri="{FF2B5EF4-FFF2-40B4-BE49-F238E27FC236}">
                <a16:creationId xmlns:a16="http://schemas.microsoft.com/office/drawing/2014/main" id="{D45874ED-CF3B-4F1E-B115-550904DF5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2190750"/>
            <a:ext cx="533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</a:defRPr>
            </a:pPr>
            <a:r>
              <a:rPr sz="3150" b="1">
                <a:solidFill>
                  <a:srgbClr val="111111"/>
                </a:solidFill>
              </a:rPr>
              <a:t>2</a:t>
            </a:r>
          </a:p>
        </p:txBody>
      </p:sp>
      <p:sp>
        <p:nvSpPr>
          <p:cNvPr id="11" name="st1">
            <a:extLst xmlns:a="http://schemas.openxmlformats.org/drawingml/2006/main">
              <a:ext uri="{FF2B5EF4-FFF2-40B4-BE49-F238E27FC236}">
                <a16:creationId xmlns:a16="http://schemas.microsoft.com/office/drawing/2014/main" id="{7CFBF81E-7FBE-4C78-839A-A5C095BB4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2952750"/>
            <a:ext cx="2133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305E"/>
                </a:solidFill>
              </a:defRPr>
            </a:pPr>
            <a:r>
              <a:rPr sz="1725" b="1">
                <a:solidFill>
                  <a:srgbClr val="17305E"/>
                </a:solidFill>
              </a:rPr>
              <a:t>Bổ sung animation thật</a:t>
            </a:r>
          </a:p>
        </p:txBody>
      </p:sp>
      <p:sp>
        <p:nvSpPr>
          <p:cNvPr id="12" name="sd1">
            <a:extLst xmlns:a="http://schemas.openxmlformats.org/drawingml/2006/main">
              <a:ext uri="{FF2B5EF4-FFF2-40B4-BE49-F238E27FC236}">
                <a16:creationId xmlns:a16="http://schemas.microsoft.com/office/drawing/2014/main" id="{FBA17401-C615-4097-99F5-50D2D73AD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3695700"/>
            <a:ext cx="2133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farming · bê hàng · phục vụ</a:t>
            </a:r>
          </a:p>
        </p:txBody>
      </p:sp>
      <p:sp>
        <p:nvSpPr>
          <p:cNvPr id="13" name="stepbox2">
            <a:extLst xmlns:a="http://schemas.openxmlformats.org/drawingml/2006/main">
              <a:ext uri="{FF2B5EF4-FFF2-40B4-BE49-F238E27FC236}">
                <a16:creationId xmlns:a16="http://schemas.microsoft.com/office/drawing/2014/main" id="{9865B0EE-41DE-49CB-A0CB-824900A79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38350"/>
            <a:ext cx="255270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num2">
            <a:extLst xmlns:a="http://schemas.openxmlformats.org/drawingml/2006/main">
              <a:ext uri="{FF2B5EF4-FFF2-40B4-BE49-F238E27FC236}">
                <a16:creationId xmlns:a16="http://schemas.microsoft.com/office/drawing/2014/main" id="{F5CB5655-CAB0-475C-A22B-90831FBF5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190750"/>
            <a:ext cx="533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</a:defRPr>
            </a:pPr>
            <a:r>
              <a:rPr sz="3150" b="1">
                <a:solidFill>
                  <a:srgbClr val="111111"/>
                </a:solidFill>
              </a:rPr>
              <a:t>3</a:t>
            </a:r>
          </a:p>
        </p:txBody>
      </p:sp>
      <p:sp>
        <p:nvSpPr>
          <p:cNvPr id="15" name="st2">
            <a:extLst xmlns:a="http://schemas.openxmlformats.org/drawingml/2006/main">
              <a:ext uri="{FF2B5EF4-FFF2-40B4-BE49-F238E27FC236}">
                <a16:creationId xmlns:a16="http://schemas.microsoft.com/office/drawing/2014/main" id="{9EE2B003-050A-4E8F-AFA7-76A3D5E77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952750"/>
            <a:ext cx="2133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305E"/>
                </a:solidFill>
              </a:defRPr>
            </a:pPr>
            <a:r>
              <a:rPr sz="1725" b="1">
                <a:solidFill>
                  <a:srgbClr val="17305E"/>
                </a:solidFill>
              </a:rPr>
              <a:t>Fishing</a:t>
            </a:r>
          </a:p>
        </p:txBody>
      </p:sp>
      <p:sp>
        <p:nvSpPr>
          <p:cNvPr id="16" name="sd2">
            <a:extLst xmlns:a="http://schemas.openxmlformats.org/drawingml/2006/main">
              <a:ext uri="{FF2B5EF4-FFF2-40B4-BE49-F238E27FC236}">
                <a16:creationId xmlns:a16="http://schemas.microsoft.com/office/drawing/2014/main" id="{28CD040A-980B-4454-805F-1AD22C947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695700"/>
            <a:ext cx="2133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animation + tool + gameplay</a:t>
            </a:r>
          </a:p>
        </p:txBody>
      </p:sp>
      <p:sp>
        <p:nvSpPr>
          <p:cNvPr id="17" name="stepbox3">
            <a:extLst xmlns:a="http://schemas.openxmlformats.org/drawingml/2006/main">
              <a:ext uri="{FF2B5EF4-FFF2-40B4-BE49-F238E27FC236}">
                <a16:creationId xmlns:a16="http://schemas.microsoft.com/office/drawing/2014/main" id="{FC728BAD-83A4-47FA-A2F4-B02C20CAF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2038350"/>
            <a:ext cx="255270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num3">
            <a:extLst xmlns:a="http://schemas.openxmlformats.org/drawingml/2006/main">
              <a:ext uri="{FF2B5EF4-FFF2-40B4-BE49-F238E27FC236}">
                <a16:creationId xmlns:a16="http://schemas.microsoft.com/office/drawing/2014/main" id="{9D546F87-68E7-4CC7-9C47-3BEA4A169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2190750"/>
            <a:ext cx="533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</a:defRPr>
            </a:pPr>
            <a:r>
              <a:rPr sz="3150" b="1">
                <a:solidFill>
                  <a:srgbClr val="111111"/>
                </a:solidFill>
              </a:rPr>
              <a:t>4</a:t>
            </a:r>
          </a:p>
        </p:txBody>
      </p:sp>
      <p:sp>
        <p:nvSpPr>
          <p:cNvPr id="19" name="st3">
            <a:extLst xmlns:a="http://schemas.openxmlformats.org/drawingml/2006/main">
              <a:ext uri="{FF2B5EF4-FFF2-40B4-BE49-F238E27FC236}">
                <a16:creationId xmlns:a16="http://schemas.microsoft.com/office/drawing/2014/main" id="{1AF9CA41-0A20-41A7-929D-AE2DC07C2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2952750"/>
            <a:ext cx="2133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305E"/>
                </a:solidFill>
              </a:defRPr>
            </a:pPr>
            <a:r>
              <a:rPr sz="1725" b="1">
                <a:solidFill>
                  <a:srgbClr val="17305E"/>
                </a:solidFill>
              </a:rPr>
              <a:t>Kiểm chứng</a:t>
            </a:r>
          </a:p>
        </p:txBody>
      </p:sp>
      <p:sp>
        <p:nvSpPr>
          <p:cNvPr id="20" name="sd3">
            <a:extLst xmlns:a="http://schemas.openxmlformats.org/drawingml/2006/main">
              <a:ext uri="{FF2B5EF4-FFF2-40B4-BE49-F238E27FC236}">
                <a16:creationId xmlns:a16="http://schemas.microsoft.com/office/drawing/2014/main" id="{288A6766-F846-4B45-892F-0B5523EB5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3695700"/>
            <a:ext cx="2133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Play Mode + ảnh + collision</a:t>
            </a:r>
          </a:p>
        </p:txBody>
      </p:sp>
      <p:sp>
        <p:nvSpPr>
          <p:cNvPr id="21" name="guardrail">
            <a:extLst xmlns:a="http://schemas.openxmlformats.org/drawingml/2006/main">
              <a:ext uri="{FF2B5EF4-FFF2-40B4-BE49-F238E27FC236}">
                <a16:creationId xmlns:a16="http://schemas.microsoft.com/office/drawing/2014/main" id="{D2D72000-BCBD-41F6-B9A1-167CA6338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57800"/>
            <a:ext cx="11391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05A28"/>
                </a:solidFill>
              </a:defRPr>
            </a:pPr>
            <a:r>
              <a:rPr sz="1725" b="1">
                <a:solidFill>
                  <a:srgbClr val="F05A28"/>
                </a:solidFill>
              </a:rPr>
              <a:t>Không thay hàng loạt nhân vật · không tạo scene mới · không dùng animation giả để che phần thiếu</a:t>
            </a:r>
          </a:p>
        </p:txBody>
      </p:sp>
    </p:spTree>
    <p:extLst>
      <p:ext uri="{BB962C8B-B14F-4D97-AF65-F5344CB8AC3E}">
        <p14:creationId xmlns:p14="http://schemas.microsoft.com/office/powerpoint/2010/main" val="109183428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1111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losing-kicker">
            <a:extLst xmlns:a="http://schemas.openxmlformats.org/drawingml/2006/main">
              <a:ext uri="{FF2B5EF4-FFF2-40B4-BE49-F238E27FC236}">
                <a16:creationId xmlns:a16="http://schemas.microsoft.com/office/drawing/2014/main" id="{E3D86E10-2B94-446B-9998-95168F0BC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723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05A28"/>
                </a:solidFill>
              </a:defRPr>
            </a:pPr>
            <a:r>
              <a:rPr sz="1200" b="1">
                <a:solidFill>
                  <a:srgbClr val="F05A28"/>
                </a:solidFill>
              </a:rPr>
              <a:t>NIHONGOLIFE · CAPSTONE V4</a:t>
            </a:r>
          </a:p>
        </p:txBody>
      </p:sp>
      <p:sp>
        <p:nvSpPr>
          <p:cNvPr id="2" name="closing">
            <a:extLst xmlns:a="http://schemas.openxmlformats.org/drawingml/2006/main">
              <a:ext uri="{FF2B5EF4-FFF2-40B4-BE49-F238E27FC236}">
                <a16:creationId xmlns:a16="http://schemas.microsoft.com/office/drawing/2014/main" id="{37D62073-8F24-4BC2-B04C-4D6CADE8A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809625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</a:rPr>
              <a:t>Học tiếng Nhật</a:t>
            </a:r>
          </a:p>
          <a:p xmlns:a="http://schemas.openxmlformats.org/drawingml/2006/main">
            <a:pPr algn="l"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</a:rPr>
              <a:t>qua một cuộc sống</a:t>
            </a:r>
          </a:p>
          <a:p xmlns:a="http://schemas.openxmlformats.org/drawingml/2006/main">
            <a:pPr algn="l"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</a:rPr>
              <a:t>có thể chơi được.</a:t>
            </a:r>
          </a:p>
        </p:txBody>
      </p:sp>
      <p:sp>
        <p:nvSpPr>
          <p:cNvPr id="3" name="close-jp">
            <a:extLst xmlns:a="http://schemas.openxmlformats.org/drawingml/2006/main">
              <a:ext uri="{FF2B5EF4-FFF2-40B4-BE49-F238E27FC236}">
                <a16:creationId xmlns:a16="http://schemas.microsoft.com/office/drawing/2014/main" id="{5CA6D28E-C5EC-4D77-851F-CD77E49DF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10100"/>
            <a:ext cx="666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D7D7D7"/>
                </a:solidFill>
              </a:defRPr>
            </a:pPr>
            <a:r>
              <a:rPr sz="1800" b="0">
                <a:solidFill>
                  <a:srgbClr val="D7D7D7"/>
                </a:solidFill>
              </a:rPr>
              <a:t>ひばり町で、また会いましょう。</a:t>
            </a:r>
          </a:p>
        </p:txBody>
      </p:sp>
      <p:sp>
        <p:nvSpPr>
          <p:cNvPr id="4" name="thanks">
            <a:extLst xmlns:a="http://schemas.openxmlformats.org/drawingml/2006/main">
              <a:ext uri="{FF2B5EF4-FFF2-40B4-BE49-F238E27FC236}">
                <a16:creationId xmlns:a16="http://schemas.microsoft.com/office/drawing/2014/main" id="{CB43C2D6-9CFF-42D7-B0A7-DEC459984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676900"/>
            <a:ext cx="400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05A28"/>
                </a:solidFill>
              </a:defRPr>
            </a:pPr>
            <a:r>
              <a:rPr sz="1650" b="1">
                <a:solidFill>
                  <a:srgbClr val="F05A28"/>
                </a:solidFill>
              </a:rPr>
              <a:t>CẢM ƠN</a:t>
            </a:r>
          </a:p>
        </p:txBody>
      </p:sp>
      <p:sp>
        <p:nvSpPr>
          <p:cNvPr id="5" name="final-accent">
            <a:extLst xmlns:a="http://schemas.openxmlformats.org/drawingml/2006/main">
              <a:ext uri="{FF2B5EF4-FFF2-40B4-BE49-F238E27FC236}">
                <a16:creationId xmlns:a16="http://schemas.microsoft.com/office/drawing/2014/main" id="{F9C7DBAC-D8AC-41D4-937E-74B016811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0"/>
            <a:ext cx="876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5A28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34948780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2026-10-10T17:37:00.0680000Z</dcterms:created>
  <dcterms:modified xsi:type="dcterms:W3CDTF">2026-10-10T17:37:00.0680000Z</dcterms:modified>
</coreProperties>
</file>