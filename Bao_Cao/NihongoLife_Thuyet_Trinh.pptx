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cô và các bạn. Em là Quách Thành Long, lớp K24GD03. Đồ án Project 3 Capstone của em là NihongoLife — một game 3D mô phỏng cuộc sống tại khu phố Nhật Bản, nơi người chơi học tiếng Nhật N5 bằng cách thực sự sống và giao tiếp.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gồm 5 phần, theo đúng cấu trúc báo cáo: ý tưởng, sản phẩm, công cụ, phân tích thiết kế và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1: ý tưởng game — xuất phát từ khó khăn thật của người mới học tiếng Nhật.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mới học thường nhớ từ nhưng không phản xạ được khi gặp tình huống thật. NihongoLife đặt kiến thức N5 vào những việc cụ thể như gọi món hay mua đồ, và biến lỗi sai thành cơ hội học.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hoạt động trong game đều đi qua vòng lặp 6 bước này. Điểm quan trọng là bước 5: lỗi sai không làm thua, mà mở ra giải thích và cơ hội thử lại.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Nhân vật chính là du học sinh Việt Nam tại trường Nhật ngữ Hibari. Câu chuyện đi từ mùa xuân đến lễ hội mùa hè, qua 14 tình huống học tập ở các khu vực: ga tàu, nhà hàng sushi, lớp học, phòng ngủ và khu phố.</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2: sản phẩm. Toàn bộ hình ảnh tiếp theo được chụp trực tiếp từ game.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vài con số: 14 tình huống học tập, 5 khu vực, giao diện 3 ngôn ngữ, chấm điểm theo 5 nhóm kỹ năng, 2 đề luyện thi mẫu và hơn 15 màn hình 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Màn hình đầu tiên: menu chính đặt trên nền khu phố 3D. Người chơi đổi ngôn ngữ giao diện tức thì. Popup Cách chơi tóm tắt 4 bước và các phím tắt.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trái tim của game. Tanaka chào buổi sáng, người chơi có 3 lựa chọn. Câu lịch sự được cộng điểm; câu thân mật hoặc sai thời điểm sẽ được NPC giải thích nhẹ nhàng và cho chọn lại.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chơi luôn biết cần làm gì và cần đi đâu: nhật ký nhiệm vụ liệt kê mục tiêu và từ vựng, bản đồ hiển thị vị trí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Nhà hàng sushi là một vòng tương tác đời sống trọn vẹn: vào quán, xem thực đơn với thông tin văn hóa, gọi món, ăn và thanh toán, mỗi bước gắn với một câu tiếng Nhật.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Ngoài campaign, game có trung tâm luyện thi độc lập. Ví dụ câu hỏi đọc chữ 先生. Hết giờ thì phần thi tự khóa. Kết quả chỉ để tự đánh giá, không thay thế điểm thi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màn hình hỗ trợ: cài đặt với đổi phím, hồ sơ người chơi và popup giới thiệu. Tính năng online được xây trên Supabase và có chế độ offline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3: công cụ làm game.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 xây trên Unity 6 với URP, viết bằng C#. Nội dung học được tách ra thành ScriptableObject để thêm bài mới không cần sửa code. Supabase, Gemini và Agora phục vụ các tính năng online.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4: tài liệu phân tích và thiết kế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Tác nhân chính là người học, tác nhân phụ là người viết nội dung. 7 use case chính bao phủ từ vào game, chơi tình huống, mua sắm, luyện thi đến online.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diagram cho hội thoại: tiếp cận NPC, mở hội thoại, hỗ trợ theo chế độ học, chọn câu, chấm điểm, rẽ nhánh. Nhánh sai đi tới giải thích và thử lại.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luồng đời sống và luyện thi: mỗi luồng có điểm bắt đầu, điểm kết thúc rõ ràng và một nhánh ngoại lệ — chưa thanh toán, hoặc hết giờ phần thi.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chia 5 lớp: UI, gameplay, dịch vụ, dữ liệu và hạ tầng online tùy chọn. Nhờ vậy thêm nội dung mới chỉ là thêm asset.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đi từ ScenarioDefinition qua ScenarioManager, DialogueManager tới ScoringManager và lưu tiến trình. Điểm chia 5 nhóm, không có trạng thái thua.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đợt kiểm thử Play Mode, em phát hiện và sửa 3 lỗi, trong đó lỗi khiến trung tâm luyện thi không hiện đề nào. Kiểm thử tự động 7/7 đạt.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5: khả năng mở rộng trong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Lộ trình chia 3 giai đoạn: hoàn thiện chất lượng nội dung và âm thanh, mở rộng nền tảng web/mobile và online, rồi nâng cấp lên N4, N3 và kết nối với trường học.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cảm ơn thầy cô và các bạn đã lắng nghe. Em rất mong nhận được câu hỏi và góp ý.</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2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4" name="Rounded Rectangle 3"/>
          <p:cNvSpPr/>
          <p:nvPr/>
        </p:nvSpPr>
        <p:spPr>
          <a:xfrm>
            <a:off x="548640" y="384048"/>
            <a:ext cx="3611880" cy="69494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 name="Picture 1" descr="g09_dialogue_choice.png"/>
          <p:cNvPicPr>
            <a:picLocks noChangeAspect="1"/>
          </p:cNvPicPr>
          <p:nvPr/>
        </p:nvPicPr>
        <p:blipFill>
          <a:blip r:embed="rId2"/>
          <a:srcRect l="27500" r="27500"/>
          <a:stretch>
            <a:fillRect/>
          </a:stretch>
        </p:blipFill>
        <p:spPr>
          <a:xfrm>
            <a:off x="6705295" y="0"/>
            <a:ext cx="5486400" cy="6858000"/>
          </a:xfrm>
          <a:prstGeom prst="rect">
            <a:avLst/>
          </a:prstGeom>
        </p:spPr>
      </p:pic>
      <p:pic>
        <p:nvPicPr>
          <p:cNvPr id="3" name="Picture 2" descr="vtc-logo.png"/>
          <p:cNvPicPr>
            <a:picLocks noChangeAspect="1"/>
          </p:cNvPicPr>
          <p:nvPr/>
        </p:nvPicPr>
        <p:blipFill>
          <a:blip r:embed="rId3"/>
          <a:stretch>
            <a:fillRect/>
          </a:stretch>
        </p:blipFill>
        <p:spPr>
          <a:xfrm>
            <a:off x="640080" y="502920"/>
            <a:ext cx="2697480" cy="457200"/>
          </a:xfrm>
          <a:prstGeom prst="rect">
            <a:avLst/>
          </a:prstGeom>
        </p:spPr>
      </p:pic>
      <p:pic>
        <p:nvPicPr>
          <p:cNvPr id="5" name="Picture 4" descr="logo_dark.png"/>
          <p:cNvPicPr>
            <a:picLocks noChangeAspect="1"/>
          </p:cNvPicPr>
          <p:nvPr/>
        </p:nvPicPr>
        <p:blipFill>
          <a:blip r:embed="rId4"/>
          <a:stretch>
            <a:fillRect/>
          </a:stretch>
        </p:blipFill>
        <p:spPr>
          <a:xfrm>
            <a:off x="640080" y="1828800"/>
            <a:ext cx="3456432" cy="960120"/>
          </a:xfrm>
          <a:prstGeom prst="rect">
            <a:avLst/>
          </a:prstGeom>
        </p:spPr>
      </p:pic>
      <p:sp>
        <p:nvSpPr>
          <p:cNvPr id="6" name="TextBox 5"/>
          <p:cNvSpPr txBox="1"/>
          <p:nvPr/>
        </p:nvSpPr>
        <p:spPr>
          <a:xfrm>
            <a:off x="640080" y="3063240"/>
            <a:ext cx="5852160" cy="365760"/>
          </a:xfrm>
          <a:prstGeom prst="rect">
            <a:avLst/>
          </a:prstGeom>
          <a:noFill/>
        </p:spPr>
        <p:txBody>
          <a:bodyPr wrap="square" lIns="0" rIns="0" tIns="0" bIns="0" anchor="t">
            <a:spAutoFit/>
          </a:bodyPr>
          <a:lstStyle/>
          <a:p>
            <a:pPr algn="l">
              <a:lnSpc>
                <a:spcPct val="110000"/>
              </a:lnSpc>
              <a:spcAft>
                <a:spcPts val="0"/>
              </a:spcAft>
            </a:pPr>
            <a:r>
              <a:rPr sz="1400" b="0" i="0">
                <a:solidFill>
                  <a:srgbClr val="F2B233"/>
                </a:solidFill>
                <a:latin typeface="Segoe UI Semibold"/>
                <a:ea typeface="Yu Gothic"/>
              </a:rPr>
              <a:t>PROJECT 3 · CAPSTONE  —  BÁO CÁO ĐỒ ÁN</a:t>
            </a:r>
          </a:p>
        </p:txBody>
      </p:sp>
      <p:sp>
        <p:nvSpPr>
          <p:cNvPr id="7" name="TextBox 6"/>
          <p:cNvSpPr txBox="1"/>
          <p:nvPr/>
        </p:nvSpPr>
        <p:spPr>
          <a:xfrm>
            <a:off x="640080" y="3474720"/>
            <a:ext cx="5852160" cy="1188720"/>
          </a:xfrm>
          <a:prstGeom prst="rect">
            <a:avLst/>
          </a:prstGeom>
          <a:noFill/>
        </p:spPr>
        <p:txBody>
          <a:bodyPr wrap="square" lIns="0" rIns="0" tIns="0" bIns="0" anchor="t">
            <a:spAutoFit/>
          </a:bodyPr>
          <a:lstStyle/>
          <a:p>
            <a:pPr algn="l">
              <a:lnSpc>
                <a:spcPct val="100000"/>
              </a:lnSpc>
              <a:spcAft>
                <a:spcPts val="0"/>
              </a:spcAft>
            </a:pPr>
            <a:r>
              <a:rPr sz="3000" b="0" i="0">
                <a:solidFill>
                  <a:srgbClr val="FFFFFF"/>
                </a:solidFill>
                <a:latin typeface="Segoe UI Semibold"/>
                <a:ea typeface="Yu Gothic"/>
              </a:rPr>
              <a:t>Game mô phỏng cuộc sống 3D kết hợp học tiếng Nhật N5</a:t>
            </a:r>
          </a:p>
        </p:txBody>
      </p:sp>
      <p:sp>
        <p:nvSpPr>
          <p:cNvPr id="8" name="TextBox 7"/>
          <p:cNvSpPr txBox="1"/>
          <p:nvPr/>
        </p:nvSpPr>
        <p:spPr>
          <a:xfrm>
            <a:off x="640080" y="4663440"/>
            <a:ext cx="5852160" cy="365760"/>
          </a:xfrm>
          <a:prstGeom prst="rect">
            <a:avLst/>
          </a:prstGeom>
          <a:noFill/>
        </p:spPr>
        <p:txBody>
          <a:bodyPr wrap="square" lIns="0" rIns="0" tIns="0" bIns="0" anchor="t">
            <a:spAutoFit/>
          </a:bodyPr>
          <a:lstStyle/>
          <a:p>
            <a:pPr algn="l">
              <a:lnSpc>
                <a:spcPct val="110000"/>
              </a:lnSpc>
              <a:spcAft>
                <a:spcPts val="0"/>
              </a:spcAft>
            </a:pPr>
            <a:r>
              <a:rPr sz="1800" b="0" i="0">
                <a:solidFill>
                  <a:srgbClr val="C8D3E6"/>
                </a:solidFill>
                <a:latin typeface="Yu Gothic"/>
                <a:ea typeface="Yu Gothic"/>
              </a:rPr>
              <a:t>ひばり町で、日本語と暮らそう</a:t>
            </a:r>
          </a:p>
        </p:txBody>
      </p:sp>
      <p:sp>
        <p:nvSpPr>
          <p:cNvPr id="9" name="TextBox 8"/>
          <p:cNvSpPr txBox="1"/>
          <p:nvPr/>
        </p:nvSpPr>
        <p:spPr>
          <a:xfrm>
            <a:off x="640080" y="5349240"/>
            <a:ext cx="5852160" cy="914400"/>
          </a:xfrm>
          <a:prstGeom prst="rect">
            <a:avLst/>
          </a:prstGeom>
          <a:noFill/>
        </p:spPr>
        <p:txBody>
          <a:bodyPr wrap="square" lIns="0" rIns="0" tIns="0" bIns="0" anchor="t">
            <a:spAutoFit/>
          </a:bodyPr>
          <a:lstStyle/>
          <a:p>
            <a:pPr algn="l">
              <a:lnSpc>
                <a:spcPct val="110000"/>
              </a:lnSpc>
              <a:spcAft>
                <a:spcPts val="400"/>
              </a:spcAft>
            </a:pPr>
            <a:r>
              <a:rPr sz="1400" b="0" i="0">
                <a:solidFill>
                  <a:srgbClr val="8FA0BC"/>
                </a:solidFill>
                <a:latin typeface="Segoe UI"/>
                <a:ea typeface="Yu Gothic"/>
              </a:rPr>
              <a:t>Học viên: </a:t>
            </a:r>
            <a:r>
              <a:rPr sz="1400" b="1" i="0">
                <a:solidFill>
                  <a:srgbClr val="FFFFFF"/>
                </a:solidFill>
                <a:latin typeface="Segoe UI"/>
                <a:ea typeface="Yu Gothic"/>
              </a:rPr>
              <a:t>Quách Thành Long</a:t>
            </a:r>
            <a:r>
              <a:rPr sz="1400" b="0" i="0">
                <a:solidFill>
                  <a:srgbClr val="8FA0BC"/>
                </a:solidFill>
                <a:latin typeface="Segoe UI"/>
                <a:ea typeface="Yu Gothic"/>
              </a:rPr>
              <a:t>   ·   MSSV 124010124034</a:t>
            </a:r>
          </a:p>
          <a:p>
            <a:pPr algn="l">
              <a:lnSpc>
                <a:spcPct val="110000"/>
              </a:lnSpc>
              <a:spcAft>
                <a:spcPts val="400"/>
              </a:spcAft>
            </a:pPr>
            <a:r>
              <a:rPr sz="1400" b="0" i="0">
                <a:solidFill>
                  <a:srgbClr val="8FA0BC"/>
                </a:solidFill>
                <a:latin typeface="Segoe UI"/>
                <a:ea typeface="Yu Gothic"/>
              </a:rPr>
              <a:t>Lớp: </a:t>
            </a:r>
            <a:r>
              <a:rPr sz="1400" b="1" i="0">
                <a:solidFill>
                  <a:srgbClr val="FFFFFF"/>
                </a:solidFill>
                <a:latin typeface="Segoe UI"/>
                <a:ea typeface="Yu Gothic"/>
              </a:rPr>
              <a:t>K24GD03</a:t>
            </a:r>
            <a:r>
              <a:rPr sz="1400" b="0" i="0">
                <a:solidFill>
                  <a:srgbClr val="8FA0BC"/>
                </a:solidFill>
                <a:latin typeface="Segoe UI"/>
                <a:ea typeface="Yu Gothic"/>
              </a:rPr>
              <a:t>   ·   GVHD: </a:t>
            </a:r>
            <a:r>
              <a:rPr sz="1400" b="1" i="0">
                <a:solidFill>
                  <a:srgbClr val="FFFFFF"/>
                </a:solidFill>
                <a:latin typeface="Segoe UI"/>
                <a:ea typeface="Yu Gothic"/>
              </a:rPr>
              <a:t>Nguyễn Ngọc Chấn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NỘI DUNG</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Lộ trình thuyết trình</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02</a:t>
            </a:r>
          </a:p>
        </p:txBody>
      </p:sp>
      <p:sp>
        <p:nvSpPr>
          <p:cNvPr id="8" name="TextBox 7"/>
          <p:cNvSpPr txBox="1"/>
          <p:nvPr/>
        </p:nvSpPr>
        <p:spPr>
          <a:xfrm>
            <a:off x="731520" y="1600200"/>
            <a:ext cx="1097280" cy="731520"/>
          </a:xfrm>
          <a:prstGeom prst="rect">
            <a:avLst/>
          </a:prstGeom>
          <a:noFill/>
        </p:spPr>
        <p:txBody>
          <a:bodyPr wrap="square" lIns="0" rIns="0" tIns="0" bIns="0" anchor="ctr">
            <a:spAutoFit/>
          </a:bodyPr>
          <a:lstStyle/>
          <a:p>
            <a:pPr algn="l">
              <a:lnSpc>
                <a:spcPct val="110000"/>
              </a:lnSpc>
              <a:spcAft>
                <a:spcPts val="0"/>
              </a:spcAft>
            </a:pPr>
            <a:r>
              <a:rPr sz="4000" b="0" i="0">
                <a:solidFill>
                  <a:srgbClr val="F2B233"/>
                </a:solidFill>
                <a:latin typeface="Segoe UI Semibold"/>
                <a:ea typeface="Yu Gothic"/>
              </a:rPr>
              <a:t>01</a:t>
            </a:r>
          </a:p>
        </p:txBody>
      </p:sp>
      <p:sp>
        <p:nvSpPr>
          <p:cNvPr id="9" name="TextBox 8"/>
          <p:cNvSpPr txBox="1"/>
          <p:nvPr/>
        </p:nvSpPr>
        <p:spPr>
          <a:xfrm>
            <a:off x="1920240" y="1618488"/>
            <a:ext cx="4114800" cy="411480"/>
          </a:xfrm>
          <a:prstGeom prst="rect">
            <a:avLst/>
          </a:prstGeom>
          <a:noFill/>
        </p:spPr>
        <p:txBody>
          <a:bodyPr wrap="square" lIns="0" rIns="0" tIns="0" bIns="0" anchor="t">
            <a:spAutoFit/>
          </a:bodyPr>
          <a:lstStyle/>
          <a:p>
            <a:pPr algn="l">
              <a:lnSpc>
                <a:spcPct val="110000"/>
              </a:lnSpc>
              <a:spcAft>
                <a:spcPts val="0"/>
              </a:spcAft>
            </a:pPr>
            <a:r>
              <a:rPr sz="2200" b="0" i="0">
                <a:solidFill>
                  <a:srgbClr val="14213D"/>
                </a:solidFill>
                <a:latin typeface="Segoe UI Semibold"/>
                <a:ea typeface="Yu Gothic"/>
              </a:rPr>
              <a:t>Ý tưởng game</a:t>
            </a:r>
          </a:p>
        </p:txBody>
      </p:sp>
      <p:sp>
        <p:nvSpPr>
          <p:cNvPr id="10" name="TextBox 9"/>
          <p:cNvSpPr txBox="1"/>
          <p:nvPr/>
        </p:nvSpPr>
        <p:spPr>
          <a:xfrm>
            <a:off x="1920240" y="2011680"/>
            <a:ext cx="4846320" cy="36576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Vấn đề người học gặp phải và giải pháp “học bằng cách sống”</a:t>
            </a:r>
          </a:p>
        </p:txBody>
      </p:sp>
      <p:sp>
        <p:nvSpPr>
          <p:cNvPr id="11" name="TextBox 10"/>
          <p:cNvSpPr txBox="1"/>
          <p:nvPr/>
        </p:nvSpPr>
        <p:spPr>
          <a:xfrm>
            <a:off x="731520" y="2514600"/>
            <a:ext cx="1097280" cy="731520"/>
          </a:xfrm>
          <a:prstGeom prst="rect">
            <a:avLst/>
          </a:prstGeom>
          <a:noFill/>
        </p:spPr>
        <p:txBody>
          <a:bodyPr wrap="square" lIns="0" rIns="0" tIns="0" bIns="0" anchor="ctr">
            <a:spAutoFit/>
          </a:bodyPr>
          <a:lstStyle/>
          <a:p>
            <a:pPr algn="l">
              <a:lnSpc>
                <a:spcPct val="110000"/>
              </a:lnSpc>
              <a:spcAft>
                <a:spcPts val="0"/>
              </a:spcAft>
            </a:pPr>
            <a:r>
              <a:rPr sz="4000" b="0" i="0">
                <a:solidFill>
                  <a:srgbClr val="F2B233"/>
                </a:solidFill>
                <a:latin typeface="Segoe UI Semibold"/>
                <a:ea typeface="Yu Gothic"/>
              </a:rPr>
              <a:t>02</a:t>
            </a:r>
          </a:p>
        </p:txBody>
      </p:sp>
      <p:sp>
        <p:nvSpPr>
          <p:cNvPr id="12" name="TextBox 11"/>
          <p:cNvSpPr txBox="1"/>
          <p:nvPr/>
        </p:nvSpPr>
        <p:spPr>
          <a:xfrm>
            <a:off x="1920240" y="2532888"/>
            <a:ext cx="4114800" cy="411480"/>
          </a:xfrm>
          <a:prstGeom prst="rect">
            <a:avLst/>
          </a:prstGeom>
          <a:noFill/>
        </p:spPr>
        <p:txBody>
          <a:bodyPr wrap="square" lIns="0" rIns="0" tIns="0" bIns="0" anchor="t">
            <a:spAutoFit/>
          </a:bodyPr>
          <a:lstStyle/>
          <a:p>
            <a:pPr algn="l">
              <a:lnSpc>
                <a:spcPct val="110000"/>
              </a:lnSpc>
              <a:spcAft>
                <a:spcPts val="0"/>
              </a:spcAft>
            </a:pPr>
            <a:r>
              <a:rPr sz="2200" b="0" i="0">
                <a:solidFill>
                  <a:srgbClr val="14213D"/>
                </a:solidFill>
                <a:latin typeface="Segoe UI Semibold"/>
                <a:ea typeface="Yu Gothic"/>
              </a:rPr>
              <a:t>Sản phẩm</a:t>
            </a:r>
          </a:p>
        </p:txBody>
      </p:sp>
      <p:sp>
        <p:nvSpPr>
          <p:cNvPr id="13" name="TextBox 12"/>
          <p:cNvSpPr txBox="1"/>
          <p:nvPr/>
        </p:nvSpPr>
        <p:spPr>
          <a:xfrm>
            <a:off x="1920240" y="2926080"/>
            <a:ext cx="4846320" cy="36576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Thế giới Hibari-chō và các luồng giao diện chính trong game</a:t>
            </a:r>
          </a:p>
        </p:txBody>
      </p:sp>
      <p:sp>
        <p:nvSpPr>
          <p:cNvPr id="14" name="TextBox 13"/>
          <p:cNvSpPr txBox="1"/>
          <p:nvPr/>
        </p:nvSpPr>
        <p:spPr>
          <a:xfrm>
            <a:off x="731520" y="3429000"/>
            <a:ext cx="1097280" cy="731520"/>
          </a:xfrm>
          <a:prstGeom prst="rect">
            <a:avLst/>
          </a:prstGeom>
          <a:noFill/>
        </p:spPr>
        <p:txBody>
          <a:bodyPr wrap="square" lIns="0" rIns="0" tIns="0" bIns="0" anchor="ctr">
            <a:spAutoFit/>
          </a:bodyPr>
          <a:lstStyle/>
          <a:p>
            <a:pPr algn="l">
              <a:lnSpc>
                <a:spcPct val="110000"/>
              </a:lnSpc>
              <a:spcAft>
                <a:spcPts val="0"/>
              </a:spcAft>
            </a:pPr>
            <a:r>
              <a:rPr sz="4000" b="0" i="0">
                <a:solidFill>
                  <a:srgbClr val="F2B233"/>
                </a:solidFill>
                <a:latin typeface="Segoe UI Semibold"/>
                <a:ea typeface="Yu Gothic"/>
              </a:rPr>
              <a:t>03</a:t>
            </a:r>
          </a:p>
        </p:txBody>
      </p:sp>
      <p:sp>
        <p:nvSpPr>
          <p:cNvPr id="15" name="TextBox 14"/>
          <p:cNvSpPr txBox="1"/>
          <p:nvPr/>
        </p:nvSpPr>
        <p:spPr>
          <a:xfrm>
            <a:off x="1920240" y="3447288"/>
            <a:ext cx="4114800" cy="411480"/>
          </a:xfrm>
          <a:prstGeom prst="rect">
            <a:avLst/>
          </a:prstGeom>
          <a:noFill/>
        </p:spPr>
        <p:txBody>
          <a:bodyPr wrap="square" lIns="0" rIns="0" tIns="0" bIns="0" anchor="t">
            <a:spAutoFit/>
          </a:bodyPr>
          <a:lstStyle/>
          <a:p>
            <a:pPr algn="l">
              <a:lnSpc>
                <a:spcPct val="110000"/>
              </a:lnSpc>
              <a:spcAft>
                <a:spcPts val="0"/>
              </a:spcAft>
            </a:pPr>
            <a:r>
              <a:rPr sz="2200" b="0" i="0">
                <a:solidFill>
                  <a:srgbClr val="14213D"/>
                </a:solidFill>
                <a:latin typeface="Segoe UI Semibold"/>
                <a:ea typeface="Yu Gothic"/>
              </a:rPr>
              <a:t>Công cụ làm game</a:t>
            </a:r>
          </a:p>
        </p:txBody>
      </p:sp>
      <p:sp>
        <p:nvSpPr>
          <p:cNvPr id="16" name="TextBox 15"/>
          <p:cNvSpPr txBox="1"/>
          <p:nvPr/>
        </p:nvSpPr>
        <p:spPr>
          <a:xfrm>
            <a:off x="1920240" y="3840480"/>
            <a:ext cx="4846320" cy="36576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Unity 6, C#, ScriptableObject và các dịch vụ online</a:t>
            </a:r>
          </a:p>
        </p:txBody>
      </p:sp>
      <p:sp>
        <p:nvSpPr>
          <p:cNvPr id="17" name="TextBox 16"/>
          <p:cNvSpPr txBox="1"/>
          <p:nvPr/>
        </p:nvSpPr>
        <p:spPr>
          <a:xfrm>
            <a:off x="731520" y="4343400"/>
            <a:ext cx="1097280" cy="731520"/>
          </a:xfrm>
          <a:prstGeom prst="rect">
            <a:avLst/>
          </a:prstGeom>
          <a:noFill/>
        </p:spPr>
        <p:txBody>
          <a:bodyPr wrap="square" lIns="0" rIns="0" tIns="0" bIns="0" anchor="ctr">
            <a:spAutoFit/>
          </a:bodyPr>
          <a:lstStyle/>
          <a:p>
            <a:pPr algn="l">
              <a:lnSpc>
                <a:spcPct val="110000"/>
              </a:lnSpc>
              <a:spcAft>
                <a:spcPts val="0"/>
              </a:spcAft>
            </a:pPr>
            <a:r>
              <a:rPr sz="4000" b="0" i="0">
                <a:solidFill>
                  <a:srgbClr val="F2B233"/>
                </a:solidFill>
                <a:latin typeface="Segoe UI Semibold"/>
                <a:ea typeface="Yu Gothic"/>
              </a:rPr>
              <a:t>04</a:t>
            </a:r>
          </a:p>
        </p:txBody>
      </p:sp>
      <p:sp>
        <p:nvSpPr>
          <p:cNvPr id="18" name="TextBox 17"/>
          <p:cNvSpPr txBox="1"/>
          <p:nvPr/>
        </p:nvSpPr>
        <p:spPr>
          <a:xfrm>
            <a:off x="1920240" y="4361688"/>
            <a:ext cx="4114800" cy="411480"/>
          </a:xfrm>
          <a:prstGeom prst="rect">
            <a:avLst/>
          </a:prstGeom>
          <a:noFill/>
        </p:spPr>
        <p:txBody>
          <a:bodyPr wrap="square" lIns="0" rIns="0" tIns="0" bIns="0" anchor="t">
            <a:spAutoFit/>
          </a:bodyPr>
          <a:lstStyle/>
          <a:p>
            <a:pPr algn="l">
              <a:lnSpc>
                <a:spcPct val="110000"/>
              </a:lnSpc>
              <a:spcAft>
                <a:spcPts val="0"/>
              </a:spcAft>
            </a:pPr>
            <a:r>
              <a:rPr sz="2200" b="0" i="0">
                <a:solidFill>
                  <a:srgbClr val="14213D"/>
                </a:solidFill>
                <a:latin typeface="Segoe UI Semibold"/>
                <a:ea typeface="Yu Gothic"/>
              </a:rPr>
              <a:t>Phân tích &amp; thiết kế</a:t>
            </a:r>
          </a:p>
        </p:txBody>
      </p:sp>
      <p:sp>
        <p:nvSpPr>
          <p:cNvPr id="19" name="TextBox 18"/>
          <p:cNvSpPr txBox="1"/>
          <p:nvPr/>
        </p:nvSpPr>
        <p:spPr>
          <a:xfrm>
            <a:off x="1920240" y="4754880"/>
            <a:ext cx="4846320" cy="36576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Use case, activity diagram, kiến trúc, kiểm thử</a:t>
            </a:r>
          </a:p>
        </p:txBody>
      </p:sp>
      <p:sp>
        <p:nvSpPr>
          <p:cNvPr id="20" name="TextBox 19"/>
          <p:cNvSpPr txBox="1"/>
          <p:nvPr/>
        </p:nvSpPr>
        <p:spPr>
          <a:xfrm>
            <a:off x="731520" y="5257800"/>
            <a:ext cx="1097280" cy="731520"/>
          </a:xfrm>
          <a:prstGeom prst="rect">
            <a:avLst/>
          </a:prstGeom>
          <a:noFill/>
        </p:spPr>
        <p:txBody>
          <a:bodyPr wrap="square" lIns="0" rIns="0" tIns="0" bIns="0" anchor="ctr">
            <a:spAutoFit/>
          </a:bodyPr>
          <a:lstStyle/>
          <a:p>
            <a:pPr algn="l">
              <a:lnSpc>
                <a:spcPct val="110000"/>
              </a:lnSpc>
              <a:spcAft>
                <a:spcPts val="0"/>
              </a:spcAft>
            </a:pPr>
            <a:r>
              <a:rPr sz="4000" b="0" i="0">
                <a:solidFill>
                  <a:srgbClr val="F2B233"/>
                </a:solidFill>
                <a:latin typeface="Segoe UI Semibold"/>
                <a:ea typeface="Yu Gothic"/>
              </a:rPr>
              <a:t>05</a:t>
            </a:r>
          </a:p>
        </p:txBody>
      </p:sp>
      <p:sp>
        <p:nvSpPr>
          <p:cNvPr id="21" name="TextBox 20"/>
          <p:cNvSpPr txBox="1"/>
          <p:nvPr/>
        </p:nvSpPr>
        <p:spPr>
          <a:xfrm>
            <a:off x="1920240" y="5276088"/>
            <a:ext cx="4114800" cy="411480"/>
          </a:xfrm>
          <a:prstGeom prst="rect">
            <a:avLst/>
          </a:prstGeom>
          <a:noFill/>
        </p:spPr>
        <p:txBody>
          <a:bodyPr wrap="square" lIns="0" rIns="0" tIns="0" bIns="0" anchor="t">
            <a:spAutoFit/>
          </a:bodyPr>
          <a:lstStyle/>
          <a:p>
            <a:pPr algn="l">
              <a:lnSpc>
                <a:spcPct val="110000"/>
              </a:lnSpc>
              <a:spcAft>
                <a:spcPts val="0"/>
              </a:spcAft>
            </a:pPr>
            <a:r>
              <a:rPr sz="2200" b="0" i="0">
                <a:solidFill>
                  <a:srgbClr val="14213D"/>
                </a:solidFill>
                <a:latin typeface="Segoe UI Semibold"/>
                <a:ea typeface="Yu Gothic"/>
              </a:rPr>
              <a:t>Hướng phát triển</a:t>
            </a:r>
          </a:p>
        </p:txBody>
      </p:sp>
      <p:sp>
        <p:nvSpPr>
          <p:cNvPr id="22" name="TextBox 21"/>
          <p:cNvSpPr txBox="1"/>
          <p:nvPr/>
        </p:nvSpPr>
        <p:spPr>
          <a:xfrm>
            <a:off x="1920240" y="5669280"/>
            <a:ext cx="4846320" cy="36576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Lộ trình mở rộng nội dung và nền tảng</a:t>
            </a:r>
          </a:p>
        </p:txBody>
      </p:sp>
      <p:pic>
        <p:nvPicPr>
          <p:cNvPr id="23" name="Picture 22" descr="01_menu.png"/>
          <p:cNvPicPr>
            <a:picLocks noChangeAspect="1"/>
          </p:cNvPicPr>
          <p:nvPr/>
        </p:nvPicPr>
        <p:blipFill>
          <a:blip r:embed="rId4"/>
          <a:stretch>
            <a:fillRect/>
          </a:stretch>
        </p:blipFill>
        <p:spPr>
          <a:xfrm>
            <a:off x="7040880" y="1600200"/>
            <a:ext cx="4572000" cy="2571750"/>
          </a:xfrm>
          <a:prstGeom prst="rect">
            <a:avLst/>
          </a:prstGeom>
          <a:ln w="9525">
            <a:solidFill>
              <a:srgbClr val="D5DCE8"/>
            </a:solidFill>
          </a:ln>
        </p:spPr>
      </p:pic>
      <p:pic>
        <p:nvPicPr>
          <p:cNvPr id="24" name="Picture 23" descr="s02_sushi.png"/>
          <p:cNvPicPr>
            <a:picLocks noChangeAspect="1"/>
          </p:cNvPicPr>
          <p:nvPr/>
        </p:nvPicPr>
        <p:blipFill>
          <a:blip r:embed="rId5"/>
          <a:stretch>
            <a:fillRect/>
          </a:stretch>
        </p:blipFill>
        <p:spPr>
          <a:xfrm>
            <a:off x="7040880" y="4343400"/>
            <a:ext cx="2194560" cy="1234440"/>
          </a:xfrm>
          <a:prstGeom prst="rect">
            <a:avLst/>
          </a:prstGeom>
          <a:ln w="9525">
            <a:solidFill>
              <a:srgbClr val="D5DCE8"/>
            </a:solidFill>
          </a:ln>
        </p:spPr>
      </p:pic>
      <p:pic>
        <p:nvPicPr>
          <p:cNvPr id="25" name="Picture 24" descr="s03_classroom.png"/>
          <p:cNvPicPr>
            <a:picLocks noChangeAspect="1"/>
          </p:cNvPicPr>
          <p:nvPr/>
        </p:nvPicPr>
        <p:blipFill>
          <a:blip r:embed="rId6"/>
          <a:stretch>
            <a:fillRect/>
          </a:stretch>
        </p:blipFill>
        <p:spPr>
          <a:xfrm>
            <a:off x="9418320" y="4343400"/>
            <a:ext cx="2194560" cy="1234440"/>
          </a:xfrm>
          <a:prstGeom prst="rect">
            <a:avLst/>
          </a:prstGeom>
          <a:ln w="9525">
            <a:solidFill>
              <a:srgbClr val="D5DCE8"/>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logo_dark.png"/>
          <p:cNvPicPr>
            <a:picLocks noChangeAspect="1"/>
          </p:cNvPicPr>
          <p:nvPr/>
        </p:nvPicPr>
        <p:blipFill>
          <a:blip r:embed="rId2"/>
          <a:stretch>
            <a:fillRect/>
          </a:stretch>
        </p:blipFill>
        <p:spPr>
          <a:xfrm>
            <a:off x="640080" y="548640"/>
            <a:ext cx="2040940" cy="566928"/>
          </a:xfrm>
          <a:prstGeom prst="rect">
            <a:avLst/>
          </a:prstGeom>
        </p:spPr>
      </p:pic>
      <p:sp>
        <p:nvSpPr>
          <p:cNvPr id="3" name="TextBox 2"/>
          <p:cNvSpPr txBox="1"/>
          <p:nvPr/>
        </p:nvSpPr>
        <p:spPr>
          <a:xfrm>
            <a:off x="640080" y="2057400"/>
            <a:ext cx="5486400" cy="1463040"/>
          </a:xfrm>
          <a:prstGeom prst="rect">
            <a:avLst/>
          </a:prstGeom>
          <a:noFill/>
        </p:spPr>
        <p:txBody>
          <a:bodyPr wrap="square" lIns="0" rIns="0" tIns="0" bIns="0" anchor="t">
            <a:spAutoFit/>
          </a:bodyPr>
          <a:lstStyle/>
          <a:p>
            <a:pPr algn="l">
              <a:lnSpc>
                <a:spcPct val="110000"/>
              </a:lnSpc>
              <a:spcAft>
                <a:spcPts val="0"/>
              </a:spcAft>
            </a:pPr>
            <a:r>
              <a:rPr sz="11000" b="0" i="0">
                <a:solidFill>
                  <a:srgbClr val="F2B233"/>
                </a:solidFill>
                <a:latin typeface="Segoe UI Semibold"/>
                <a:ea typeface="Yu Gothic"/>
              </a:rPr>
              <a:t>01</a:t>
            </a:r>
          </a:p>
        </p:txBody>
      </p:sp>
      <p:sp>
        <p:nvSpPr>
          <p:cNvPr id="4" name="TextBox 3"/>
          <p:cNvSpPr txBox="1"/>
          <p:nvPr/>
        </p:nvSpPr>
        <p:spPr>
          <a:xfrm>
            <a:off x="640080" y="3611880"/>
            <a:ext cx="5486400" cy="1280160"/>
          </a:xfrm>
          <a:prstGeom prst="rect">
            <a:avLst/>
          </a:prstGeom>
          <a:noFill/>
        </p:spPr>
        <p:txBody>
          <a:bodyPr wrap="square" lIns="0" rIns="0" tIns="0" bIns="0" anchor="t">
            <a:spAutoFit/>
          </a:bodyPr>
          <a:lstStyle/>
          <a:p>
            <a:pPr algn="l">
              <a:lnSpc>
                <a:spcPct val="110000"/>
              </a:lnSpc>
              <a:spcAft>
                <a:spcPts val="0"/>
              </a:spcAft>
            </a:pPr>
            <a:r>
              <a:rPr sz="4000" b="0" i="0">
                <a:solidFill>
                  <a:srgbClr val="FFFFFF"/>
                </a:solidFill>
                <a:latin typeface="Segoe UI Semibold"/>
                <a:ea typeface="Yu Gothic"/>
              </a:rPr>
              <a:t>Ý tưởng game</a:t>
            </a:r>
          </a:p>
        </p:txBody>
      </p:sp>
      <p:sp>
        <p:nvSpPr>
          <p:cNvPr id="5" name="TextBox 4"/>
          <p:cNvSpPr txBox="1"/>
          <p:nvPr/>
        </p:nvSpPr>
        <p:spPr>
          <a:xfrm>
            <a:off x="640080" y="4800600"/>
            <a:ext cx="5303520" cy="914400"/>
          </a:xfrm>
          <a:prstGeom prst="rect">
            <a:avLst/>
          </a:prstGeom>
          <a:noFill/>
        </p:spPr>
        <p:txBody>
          <a:bodyPr wrap="square" lIns="0" rIns="0" tIns="0" bIns="0" anchor="t">
            <a:spAutoFit/>
          </a:bodyPr>
          <a:lstStyle/>
          <a:p>
            <a:pPr algn="l">
              <a:lnSpc>
                <a:spcPct val="110000"/>
              </a:lnSpc>
              <a:spcAft>
                <a:spcPts val="0"/>
              </a:spcAft>
            </a:pPr>
            <a:r>
              <a:rPr sz="1600" b="0" i="0">
                <a:solidFill>
                  <a:srgbClr val="C8D3E6"/>
                </a:solidFill>
                <a:latin typeface="Segoe UI"/>
                <a:ea typeface="Yu Gothic"/>
              </a:rPr>
              <a:t>Biến kiến thức N5 trên sách thành phản xạ giao tiếp trong ngữ cảnh đời sống.</a:t>
            </a:r>
          </a:p>
        </p:txBody>
      </p:sp>
      <p:sp>
        <p:nvSpPr>
          <p:cNvPr id="6" name="TextBox 5"/>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03</a:t>
            </a:r>
          </a:p>
        </p:txBody>
      </p:sp>
      <p:pic>
        <p:nvPicPr>
          <p:cNvPr id="7" name="Picture 6" descr="g01_gameplay.png"/>
          <p:cNvPicPr>
            <a:picLocks noChangeAspect="1"/>
          </p:cNvPicPr>
          <p:nvPr/>
        </p:nvPicPr>
        <p:blipFill>
          <a:blip r:embed="rId4"/>
          <a:srcRect l="27500" r="27500"/>
          <a:stretch>
            <a:fillRect/>
          </a:stretch>
        </p:blipFill>
        <p:spPr>
          <a:xfrm>
            <a:off x="6705295" y="0"/>
            <a:ext cx="54864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01 · Ý TƯỞNG GAME</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Vấn đề và giải pháp</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04</a:t>
            </a:r>
          </a:p>
        </p:txBody>
      </p:sp>
      <p:sp>
        <p:nvSpPr>
          <p:cNvPr id="8" name="Rounded Rectangle 7"/>
          <p:cNvSpPr/>
          <p:nvPr/>
        </p:nvSpPr>
        <p:spPr>
          <a:xfrm>
            <a:off x="548640" y="1554480"/>
            <a:ext cx="5394960" cy="448056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28800"/>
            <a:ext cx="4892040" cy="457200"/>
          </a:xfrm>
          <a:prstGeom prst="rect">
            <a:avLst/>
          </a:prstGeom>
          <a:noFill/>
        </p:spPr>
        <p:txBody>
          <a:bodyPr wrap="square" lIns="0" rIns="0" tIns="0" bIns="0" anchor="ctr">
            <a:spAutoFit/>
          </a:bodyPr>
          <a:lstStyle/>
          <a:p>
            <a:pPr algn="l">
              <a:lnSpc>
                <a:spcPct val="110000"/>
              </a:lnSpc>
              <a:spcAft>
                <a:spcPts val="0"/>
              </a:spcAft>
            </a:pPr>
            <a:r>
              <a:rPr sz="1700" b="0" i="0">
                <a:solidFill>
                  <a:srgbClr val="14213D"/>
                </a:solidFill>
                <a:latin typeface="Segoe UI Semibold"/>
                <a:ea typeface="Yu Gothic"/>
              </a:rPr>
              <a:t>Vấn đề</a:t>
            </a:r>
          </a:p>
        </p:txBody>
      </p:sp>
      <p:sp>
        <p:nvSpPr>
          <p:cNvPr id="10" name="TextBox 9"/>
          <p:cNvSpPr txBox="1"/>
          <p:nvPr/>
        </p:nvSpPr>
        <p:spPr>
          <a:xfrm>
            <a:off x="822959" y="2423160"/>
            <a:ext cx="4892040" cy="3474720"/>
          </a:xfrm>
          <a:prstGeom prst="rect">
            <a:avLst/>
          </a:prstGeom>
          <a:noFill/>
        </p:spPr>
        <p:txBody>
          <a:bodyPr wrap="square" lIns="0" rIns="0" tIns="0" bIns="0" anchor="t">
            <a:spAutoFit/>
          </a:bodyPr>
          <a:lstStyle/>
          <a:p>
            <a:pPr algn="l">
              <a:lnSpc>
                <a:spcPct val="115000"/>
              </a:lnSpc>
              <a:spcAft>
                <a:spcPts val="0"/>
              </a:spcAft>
            </a:pPr>
            <a:r>
              <a:rPr sz="1400" b="0" i="0">
                <a:solidFill>
                  <a:srgbClr val="22304A"/>
                </a:solidFill>
                <a:latin typeface="Segoe UI"/>
                <a:ea typeface="Yu Gothic"/>
              </a:rPr>
              <a:t/>
            </a:r>
          </a:p>
        </p:txBody>
      </p:sp>
      <p:sp>
        <p:nvSpPr>
          <p:cNvPr id="11" name="TextBox 10"/>
          <p:cNvSpPr txBox="1"/>
          <p:nvPr/>
        </p:nvSpPr>
        <p:spPr>
          <a:xfrm>
            <a:off x="822960" y="2240280"/>
            <a:ext cx="4846320" cy="3657600"/>
          </a:xfrm>
          <a:prstGeom prst="rect">
            <a:avLst/>
          </a:prstGeom>
          <a:noFill/>
        </p:spPr>
        <p:txBody>
          <a:bodyPr wrap="square" lIns="0" rIns="0" tIns="0" bIns="0">
            <a:spAutoFit/>
          </a:bodyPr>
          <a:lstStyle/>
          <a:p>
            <a:pPr marL="256032" indent="-256032">
              <a:lnSpc>
                <a:spcPct val="110000"/>
              </a:lnSpc>
              <a:spcAft>
                <a:spcPts val="800"/>
              </a:spcAft>
              <a:buClr>
                <a:srgbClr val="F2B233"/>
              </a:buClr>
              <a:buFont typeface="Arial"/>
              <a:buChar char="●"/>
            </a:pPr>
            <a:r>
              <a:rPr b="1" sz="1500">
                <a:solidFill>
                  <a:srgbClr val="14213D"/>
                </a:solidFill>
                <a:latin typeface="Segoe UI Semibold"/>
              </a:rPr>
              <a:t>Học rời rạc:  </a:t>
            </a:r>
            <a:r>
              <a:rPr sz="1500">
                <a:solidFill>
                  <a:srgbClr val="22304A"/>
                </a:solidFill>
                <a:latin typeface="Segoe UI"/>
                <a:ea typeface="Yu Gothic"/>
              </a:rPr>
              <a:t>nhớ từ vựng nhưng không biết dùng khi gặp tình huống thật.</a:t>
            </a:r>
          </a:p>
          <a:p>
            <a:pPr marL="256032" indent="-256032">
              <a:lnSpc>
                <a:spcPct val="110000"/>
              </a:lnSpc>
              <a:spcAft>
                <a:spcPts val="800"/>
              </a:spcAft>
              <a:buClr>
                <a:srgbClr val="F2B233"/>
              </a:buClr>
              <a:buFont typeface="Arial"/>
              <a:buChar char="●"/>
            </a:pPr>
            <a:r>
              <a:rPr b="1" sz="1500">
                <a:solidFill>
                  <a:srgbClr val="14213D"/>
                </a:solidFill>
                <a:latin typeface="Segoe UI Semibold"/>
              </a:rPr>
              <a:t>Thiếu ngữ cảnh:  </a:t>
            </a:r>
            <a:r>
              <a:rPr sz="1500">
                <a:solidFill>
                  <a:srgbClr val="22304A"/>
                </a:solidFill>
                <a:latin typeface="Segoe UI"/>
                <a:ea typeface="Yu Gothic"/>
              </a:rPr>
              <a:t>bài học không gắn với địa điểm, đối tượng và mức độ lịch sự.</a:t>
            </a:r>
          </a:p>
          <a:p>
            <a:pPr marL="256032" indent="-256032">
              <a:lnSpc>
                <a:spcPct val="110000"/>
              </a:lnSpc>
              <a:spcAft>
                <a:spcPts val="800"/>
              </a:spcAft>
              <a:buClr>
                <a:srgbClr val="F2B233"/>
              </a:buClr>
              <a:buFont typeface="Arial"/>
              <a:buChar char="●"/>
            </a:pPr>
            <a:r>
              <a:rPr b="1" sz="1500">
                <a:solidFill>
                  <a:srgbClr val="14213D"/>
                </a:solidFill>
                <a:latin typeface="Segoe UI Semibold"/>
              </a:rPr>
              <a:t>Sợ nói sai:  </a:t>
            </a:r>
            <a:r>
              <a:rPr sz="1500">
                <a:solidFill>
                  <a:srgbClr val="22304A"/>
                </a:solidFill>
                <a:latin typeface="Segoe UI"/>
                <a:ea typeface="Yu Gothic"/>
              </a:rPr>
              <a:t>người học ngại thử vì không có môi trường an toàn để sai và sửa.</a:t>
            </a:r>
          </a:p>
          <a:p>
            <a:pPr marL="256032" indent="-256032">
              <a:lnSpc>
                <a:spcPct val="110000"/>
              </a:lnSpc>
              <a:spcAft>
                <a:spcPts val="800"/>
              </a:spcAft>
              <a:buClr>
                <a:srgbClr val="F2B233"/>
              </a:buClr>
              <a:buFont typeface="Arial"/>
              <a:buChar char="●"/>
            </a:pPr>
            <a:r>
              <a:rPr b="1" sz="1500">
                <a:solidFill>
                  <a:srgbClr val="14213D"/>
                </a:solidFill>
                <a:latin typeface="Segoe UI Semibold"/>
              </a:rPr>
              <a:t>Nhàm chán:  </a:t>
            </a:r>
            <a:r>
              <a:rPr sz="1500">
                <a:solidFill>
                  <a:srgbClr val="22304A"/>
                </a:solidFill>
                <a:latin typeface="Segoe UI"/>
                <a:ea typeface="Yu Gothic"/>
              </a:rPr>
              <a:t>flashcard và bài tập trắc nghiệm khó tạo động lực lâu dài.</a:t>
            </a:r>
          </a:p>
        </p:txBody>
      </p:sp>
      <p:sp>
        <p:nvSpPr>
          <p:cNvPr id="12" name="Rounded Rectangle 11"/>
          <p:cNvSpPr/>
          <p:nvPr/>
        </p:nvSpPr>
        <p:spPr>
          <a:xfrm>
            <a:off x="6245352" y="1554480"/>
            <a:ext cx="5394960" cy="448056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828800"/>
            <a:ext cx="4892040" cy="457200"/>
          </a:xfrm>
          <a:prstGeom prst="rect">
            <a:avLst/>
          </a:prstGeom>
          <a:noFill/>
        </p:spPr>
        <p:txBody>
          <a:bodyPr wrap="square" lIns="0" rIns="0" tIns="0" bIns="0" anchor="ctr">
            <a:spAutoFit/>
          </a:bodyPr>
          <a:lstStyle/>
          <a:p>
            <a:pPr algn="l">
              <a:lnSpc>
                <a:spcPct val="110000"/>
              </a:lnSpc>
              <a:spcAft>
                <a:spcPts val="0"/>
              </a:spcAft>
            </a:pPr>
            <a:r>
              <a:rPr sz="1700" b="0" i="0">
                <a:solidFill>
                  <a:srgbClr val="FFFFFF"/>
                </a:solidFill>
                <a:latin typeface="Segoe UI Semibold"/>
                <a:ea typeface="Yu Gothic"/>
              </a:rPr>
              <a:t>Giải pháp: NihongoLife</a:t>
            </a:r>
          </a:p>
        </p:txBody>
      </p:sp>
      <p:sp>
        <p:nvSpPr>
          <p:cNvPr id="14" name="TextBox 13"/>
          <p:cNvSpPr txBox="1"/>
          <p:nvPr/>
        </p:nvSpPr>
        <p:spPr>
          <a:xfrm>
            <a:off x="6519672" y="2423160"/>
            <a:ext cx="4892040" cy="3474720"/>
          </a:xfrm>
          <a:prstGeom prst="rect">
            <a:avLst/>
          </a:prstGeom>
          <a:noFill/>
        </p:spPr>
        <p:txBody>
          <a:bodyPr wrap="square" lIns="0" rIns="0" tIns="0" bIns="0" anchor="t">
            <a:spAutoFit/>
          </a:bodyPr>
          <a:lstStyle/>
          <a:p>
            <a:pPr algn="l">
              <a:lnSpc>
                <a:spcPct val="115000"/>
              </a:lnSpc>
              <a:spcAft>
                <a:spcPts val="0"/>
              </a:spcAft>
            </a:pPr>
            <a:r>
              <a:rPr sz="1400" b="0" i="0">
                <a:solidFill>
                  <a:srgbClr val="C8D3E6"/>
                </a:solidFill>
                <a:latin typeface="Segoe UI"/>
                <a:ea typeface="Yu Gothic"/>
              </a:rPr>
              <a:t/>
            </a:r>
          </a:p>
        </p:txBody>
      </p:sp>
      <p:sp>
        <p:nvSpPr>
          <p:cNvPr id="15" name="TextBox 14"/>
          <p:cNvSpPr txBox="1"/>
          <p:nvPr/>
        </p:nvSpPr>
        <p:spPr>
          <a:xfrm>
            <a:off x="6519672" y="2240280"/>
            <a:ext cx="4846320" cy="3657600"/>
          </a:xfrm>
          <a:prstGeom prst="rect">
            <a:avLst/>
          </a:prstGeom>
          <a:noFill/>
        </p:spPr>
        <p:txBody>
          <a:bodyPr wrap="square" lIns="0" rIns="0" tIns="0" bIns="0">
            <a:spAutoFit/>
          </a:bodyPr>
          <a:lstStyle/>
          <a:p>
            <a:pPr marL="256032" indent="-256032">
              <a:lnSpc>
                <a:spcPct val="110000"/>
              </a:lnSpc>
              <a:spcAft>
                <a:spcPts val="800"/>
              </a:spcAft>
              <a:buClr>
                <a:srgbClr val="F2B233"/>
              </a:buClr>
              <a:buFont typeface="Arial"/>
              <a:buChar char="●"/>
            </a:pPr>
            <a:r>
              <a:rPr b="1" sz="1500">
                <a:solidFill>
                  <a:srgbClr val="E3E9F3"/>
                </a:solidFill>
                <a:latin typeface="Segoe UI Semibold"/>
              </a:rPr>
              <a:t>Sống trong khu phố:  </a:t>
            </a:r>
            <a:r>
              <a:rPr sz="1500">
                <a:solidFill>
                  <a:srgbClr val="E3E9F3"/>
                </a:solidFill>
                <a:latin typeface="Segoe UI"/>
                <a:ea typeface="Yu Gothic"/>
              </a:rPr>
              <a:t>đi học, mua đồ, gọi món, đi tàu tại Hibari-chō 3D.</a:t>
            </a:r>
          </a:p>
          <a:p>
            <a:pPr marL="256032" indent="-256032">
              <a:lnSpc>
                <a:spcPct val="110000"/>
              </a:lnSpc>
              <a:spcAft>
                <a:spcPts val="800"/>
              </a:spcAft>
              <a:buClr>
                <a:srgbClr val="F2B233"/>
              </a:buClr>
              <a:buFont typeface="Arial"/>
              <a:buChar char="●"/>
            </a:pPr>
            <a:r>
              <a:rPr b="1" sz="1500">
                <a:solidFill>
                  <a:srgbClr val="E3E9F3"/>
                </a:solidFill>
                <a:latin typeface="Segoe UI Semibold"/>
              </a:rPr>
              <a:t>Hội thoại rẽ nhánh:  </a:t>
            </a:r>
            <a:r>
              <a:rPr sz="1500">
                <a:solidFill>
                  <a:srgbClr val="E3E9F3"/>
                </a:solidFill>
                <a:latin typeface="Segoe UI"/>
                <a:ea typeface="Yu Gothic"/>
              </a:rPr>
              <a:t>chọn câu tiếng Nhật phù hợp; NPC phản ứng theo lựa chọn.</a:t>
            </a:r>
          </a:p>
          <a:p>
            <a:pPr marL="256032" indent="-256032">
              <a:lnSpc>
                <a:spcPct val="110000"/>
              </a:lnSpc>
              <a:spcAft>
                <a:spcPts val="800"/>
              </a:spcAft>
              <a:buClr>
                <a:srgbClr val="F2B233"/>
              </a:buClr>
              <a:buFont typeface="Arial"/>
              <a:buChar char="●"/>
            </a:pPr>
            <a:r>
              <a:rPr b="1" sz="1500">
                <a:solidFill>
                  <a:srgbClr val="E3E9F3"/>
                </a:solidFill>
                <a:latin typeface="Segoe UI Semibold"/>
              </a:rPr>
              <a:t>Sai cũng không sao:  </a:t>
            </a:r>
            <a:r>
              <a:rPr sz="1500">
                <a:solidFill>
                  <a:srgbClr val="E3E9F3"/>
                </a:solidFill>
                <a:latin typeface="Segoe UI"/>
                <a:ea typeface="Yu Gothic"/>
              </a:rPr>
              <a:t>nhánh sai có giải thích và cho thử lại.</a:t>
            </a:r>
          </a:p>
          <a:p>
            <a:pPr marL="256032" indent="-256032">
              <a:lnSpc>
                <a:spcPct val="110000"/>
              </a:lnSpc>
              <a:spcAft>
                <a:spcPts val="800"/>
              </a:spcAft>
              <a:buClr>
                <a:srgbClr val="F2B233"/>
              </a:buClr>
              <a:buFont typeface="Arial"/>
              <a:buChar char="●"/>
            </a:pPr>
            <a:r>
              <a:rPr b="1" sz="1500">
                <a:solidFill>
                  <a:srgbClr val="E3E9F3"/>
                </a:solidFill>
                <a:latin typeface="Segoe UI Semibold"/>
              </a:rPr>
              <a:t>Tiến bộ đo được:  </a:t>
            </a:r>
            <a:r>
              <a:rPr sz="1500">
                <a:solidFill>
                  <a:srgbClr val="E3E9F3"/>
                </a:solidFill>
                <a:latin typeface="Segoe UI"/>
                <a:ea typeface="Yu Gothic"/>
              </a:rPr>
              <a:t>điểm theo 5 nhóm kỹ năng, XP, mở khóa nội dung.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01 · Ý TƯỞNG GAME</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Học bằng cách sống: vòng lặp cốt lõi</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05</a:t>
            </a:r>
          </a:p>
        </p:txBody>
      </p:sp>
      <p:pic>
        <p:nvPicPr>
          <p:cNvPr id="8" name="Picture 7" descr="d01_core_loop.png"/>
          <p:cNvPicPr>
            <a:picLocks noChangeAspect="1"/>
          </p:cNvPicPr>
          <p:nvPr/>
        </p:nvPicPr>
        <p:blipFill>
          <a:blip r:embed="rId4"/>
          <a:stretch>
            <a:fillRect/>
          </a:stretch>
        </p:blipFill>
        <p:spPr>
          <a:xfrm>
            <a:off x="457200" y="1680210"/>
            <a:ext cx="6766560" cy="4229100"/>
          </a:xfrm>
          <a:prstGeom prst="rect">
            <a:avLst/>
          </a:prstGeom>
        </p:spPr>
      </p:pic>
      <p:sp>
        <p:nvSpPr>
          <p:cNvPr id="9" name="TextBox 8"/>
          <p:cNvSpPr txBox="1"/>
          <p:nvPr/>
        </p:nvSpPr>
        <p:spPr>
          <a:xfrm>
            <a:off x="7498079" y="1737360"/>
            <a:ext cx="4114800" cy="4389120"/>
          </a:xfrm>
          <a:prstGeom prst="rect">
            <a:avLst/>
          </a:prstGeom>
          <a:noFill/>
        </p:spPr>
        <p:txBody>
          <a:bodyPr wrap="square" lIns="0" rIns="0" tIns="0" bIns="0">
            <a:spAutoFit/>
          </a:bodyPr>
          <a:lstStyle/>
          <a:p>
            <a:pPr marL="256032" indent="-256032">
              <a:lnSpc>
                <a:spcPct val="110000"/>
              </a:lnSpc>
              <a:spcAft>
                <a:spcPts val="1200"/>
              </a:spcAft>
              <a:buClr>
                <a:srgbClr val="F2B233"/>
              </a:buClr>
              <a:buFont typeface="Arial"/>
              <a:buChar char="●"/>
            </a:pPr>
            <a:r>
              <a:rPr b="1" sz="1600">
                <a:solidFill>
                  <a:srgbClr val="14213D"/>
                </a:solidFill>
                <a:latin typeface="Segoe UI Semibold"/>
              </a:rPr>
              <a:t>Khám phá  </a:t>
            </a:r>
            <a:r>
              <a:rPr sz="1600">
                <a:solidFill>
                  <a:srgbClr val="22304A"/>
                </a:solidFill>
                <a:latin typeface="Segoe UI"/>
                <a:ea typeface="Yu Gothic"/>
              </a:rPr>
              <a:t>khu phố, tìm NPC và địa điểm.</a:t>
            </a:r>
          </a:p>
          <a:p>
            <a:pPr marL="256032" indent="-256032">
              <a:lnSpc>
                <a:spcPct val="110000"/>
              </a:lnSpc>
              <a:spcAft>
                <a:spcPts val="1200"/>
              </a:spcAft>
              <a:buClr>
                <a:srgbClr val="F2B233"/>
              </a:buClr>
              <a:buFont typeface="Arial"/>
              <a:buChar char="●"/>
            </a:pPr>
            <a:r>
              <a:rPr b="1" sz="1600">
                <a:solidFill>
                  <a:srgbClr val="14213D"/>
                </a:solidFill>
                <a:latin typeface="Segoe UI Semibold"/>
              </a:rPr>
              <a:t>Nhận mục tiêu  </a:t>
            </a:r>
            <a:r>
              <a:rPr sz="1600">
                <a:solidFill>
                  <a:srgbClr val="22304A"/>
                </a:solidFill>
                <a:latin typeface="Segoe UI"/>
                <a:ea typeface="Yu Gothic"/>
              </a:rPr>
              <a:t>qua Nhật ký nhiệm vụ.</a:t>
            </a:r>
          </a:p>
          <a:p>
            <a:pPr marL="256032" indent="-256032">
              <a:lnSpc>
                <a:spcPct val="110000"/>
              </a:lnSpc>
              <a:spcAft>
                <a:spcPts val="1200"/>
              </a:spcAft>
              <a:buClr>
                <a:srgbClr val="F2B233"/>
              </a:buClr>
              <a:buFont typeface="Arial"/>
              <a:buChar char="●"/>
            </a:pPr>
            <a:r>
              <a:rPr b="1" sz="1600">
                <a:solidFill>
                  <a:srgbClr val="14213D"/>
                </a:solidFill>
                <a:latin typeface="Segoe UI Semibold"/>
              </a:rPr>
              <a:t>Tương tác  </a:t>
            </a:r>
            <a:r>
              <a:rPr sz="1600">
                <a:solidFill>
                  <a:srgbClr val="22304A"/>
                </a:solidFill>
                <a:latin typeface="Segoe UI"/>
                <a:ea typeface="Yu Gothic"/>
              </a:rPr>
              <a:t>với NPC, đồ vật, cổng khu vực.</a:t>
            </a:r>
          </a:p>
          <a:p>
            <a:pPr marL="256032" indent="-256032">
              <a:lnSpc>
                <a:spcPct val="110000"/>
              </a:lnSpc>
              <a:spcAft>
                <a:spcPts val="1200"/>
              </a:spcAft>
              <a:buClr>
                <a:srgbClr val="F2B233"/>
              </a:buClr>
              <a:buFont typeface="Arial"/>
              <a:buChar char="●"/>
            </a:pPr>
            <a:r>
              <a:rPr b="1" sz="1600">
                <a:solidFill>
                  <a:srgbClr val="14213D"/>
                </a:solidFill>
                <a:latin typeface="Segoe UI Semibold"/>
              </a:rPr>
              <a:t>Chọn câu  </a:t>
            </a:r>
            <a:r>
              <a:rPr sz="1600">
                <a:solidFill>
                  <a:srgbClr val="22304A"/>
                </a:solidFill>
                <a:latin typeface="Segoe UI"/>
                <a:ea typeface="Yu Gothic"/>
              </a:rPr>
              <a:t>tiếng Nhật N5 phù hợp.</a:t>
            </a:r>
          </a:p>
          <a:p>
            <a:pPr marL="256032" indent="-256032">
              <a:lnSpc>
                <a:spcPct val="110000"/>
              </a:lnSpc>
              <a:spcAft>
                <a:spcPts val="1200"/>
              </a:spcAft>
              <a:buClr>
                <a:srgbClr val="F2B233"/>
              </a:buClr>
              <a:buFont typeface="Arial"/>
              <a:buChar char="●"/>
            </a:pPr>
            <a:r>
              <a:rPr b="1" sz="1600">
                <a:solidFill>
                  <a:srgbClr val="14213D"/>
                </a:solidFill>
                <a:latin typeface="Segoe UI Semibold"/>
              </a:rPr>
              <a:t>Sửa lỗi  </a:t>
            </a:r>
            <a:r>
              <a:rPr sz="1600">
                <a:solidFill>
                  <a:srgbClr val="22304A"/>
                </a:solidFill>
                <a:latin typeface="Segoe UI"/>
                <a:ea typeface="Yu Gothic"/>
              </a:rPr>
              <a:t>theo giải thích của NPC.</a:t>
            </a:r>
          </a:p>
          <a:p>
            <a:pPr marL="256032" indent="-256032">
              <a:lnSpc>
                <a:spcPct val="110000"/>
              </a:lnSpc>
              <a:spcAft>
                <a:spcPts val="1200"/>
              </a:spcAft>
              <a:buClr>
                <a:srgbClr val="F2B233"/>
              </a:buClr>
              <a:buFont typeface="Arial"/>
              <a:buChar char="●"/>
            </a:pPr>
            <a:r>
              <a:rPr b="1" sz="1600">
                <a:solidFill>
                  <a:srgbClr val="14213D"/>
                </a:solidFill>
                <a:latin typeface="Segoe UI Semibold"/>
              </a:rPr>
              <a:t>Tiến bộ  </a:t>
            </a:r>
            <a:r>
              <a:rPr sz="1600">
                <a:solidFill>
                  <a:srgbClr val="22304A"/>
                </a:solidFill>
                <a:latin typeface="Segoe UI"/>
                <a:ea typeface="Yu Gothic"/>
              </a:rPr>
              <a:t>XP, Knowledge, mở khóa.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01 · Ý TƯỞNG GAME</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Thế giới Hibari-chō và cốt truyện</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06</a:t>
            </a:r>
          </a:p>
        </p:txBody>
      </p:sp>
      <p:pic>
        <p:nvPicPr>
          <p:cNvPr id="8" name="Picture 7" descr="d10_zones.png"/>
          <p:cNvPicPr>
            <a:picLocks noChangeAspect="1"/>
          </p:cNvPicPr>
          <p:nvPr/>
        </p:nvPicPr>
        <p:blipFill>
          <a:blip r:embed="rId4"/>
          <a:stretch>
            <a:fillRect/>
          </a:stretch>
        </p:blipFill>
        <p:spPr>
          <a:xfrm>
            <a:off x="548640" y="1463040"/>
            <a:ext cx="6309360" cy="4037471"/>
          </a:xfrm>
          <a:prstGeom prst="rect">
            <a:avLst/>
          </a:prstGeom>
          <a:ln w="9525">
            <a:solidFill>
              <a:srgbClr val="D5DCE8"/>
            </a:solidFill>
          </a:ln>
        </p:spPr>
      </p:pic>
      <p:sp>
        <p:nvSpPr>
          <p:cNvPr id="9" name="Rounded Rectangle 8"/>
          <p:cNvSpPr/>
          <p:nvPr/>
        </p:nvSpPr>
        <p:spPr>
          <a:xfrm>
            <a:off x="7223760" y="1508760"/>
            <a:ext cx="4434840" cy="749808"/>
          </a:xfrm>
          <a:prstGeom prst="roundRect">
            <a:avLst>
              <a:gd name="adj" fmla="val 15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508760"/>
            <a:ext cx="1280160" cy="749808"/>
          </a:xfrm>
          <a:prstGeom prst="rect">
            <a:avLst/>
          </a:prstGeom>
          <a:noFill/>
        </p:spPr>
        <p:txBody>
          <a:bodyPr wrap="square" lIns="0" rIns="0" tIns="0" bIns="0" anchor="ctr">
            <a:spAutoFit/>
          </a:bodyPr>
          <a:lstStyle/>
          <a:p>
            <a:pPr algn="l">
              <a:lnSpc>
                <a:spcPct val="110000"/>
              </a:lnSpc>
              <a:spcAft>
                <a:spcPts val="0"/>
              </a:spcAft>
            </a:pPr>
            <a:r>
              <a:rPr sz="1500" b="0" i="0">
                <a:solidFill>
                  <a:srgbClr val="C8463D"/>
                </a:solidFill>
                <a:latin typeface="Segoe UI Semibold"/>
                <a:ea typeface="Yu Gothic"/>
              </a:rPr>
              <a:t>Mở đầu</a:t>
            </a:r>
          </a:p>
        </p:txBody>
      </p:sp>
      <p:sp>
        <p:nvSpPr>
          <p:cNvPr id="11" name="TextBox 10"/>
          <p:cNvSpPr txBox="1"/>
          <p:nvPr/>
        </p:nvSpPr>
        <p:spPr>
          <a:xfrm>
            <a:off x="8641080" y="1508760"/>
            <a:ext cx="2926080" cy="749808"/>
          </a:xfrm>
          <a:prstGeom prst="rect">
            <a:avLst/>
          </a:prstGeom>
          <a:noFill/>
        </p:spPr>
        <p:txBody>
          <a:bodyPr wrap="square" lIns="0" rIns="0" tIns="0" bIns="0" anchor="ctr">
            <a:spAutoFit/>
          </a:bodyPr>
          <a:lstStyle/>
          <a:p>
            <a:pPr algn="l">
              <a:lnSpc>
                <a:spcPct val="110000"/>
              </a:lnSpc>
              <a:spcAft>
                <a:spcPts val="0"/>
              </a:spcAft>
            </a:pPr>
            <a:r>
              <a:rPr sz="1400" b="0" i="0">
                <a:solidFill>
                  <a:srgbClr val="22304A"/>
                </a:solidFill>
                <a:latin typeface="Segoe UI"/>
                <a:ea typeface="Yu Gothic"/>
              </a:rPr>
              <a:t>Đến Hibari-chō — chào hỏi</a:t>
            </a:r>
          </a:p>
        </p:txBody>
      </p:sp>
      <p:sp>
        <p:nvSpPr>
          <p:cNvPr id="12" name="Rounded Rectangle 11"/>
          <p:cNvSpPr/>
          <p:nvPr/>
        </p:nvSpPr>
        <p:spPr>
          <a:xfrm>
            <a:off x="7223760" y="2404872"/>
            <a:ext cx="4434840" cy="749808"/>
          </a:xfrm>
          <a:prstGeom prst="roundRect">
            <a:avLst>
              <a:gd name="adj" fmla="val 15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404872"/>
            <a:ext cx="1280160" cy="749808"/>
          </a:xfrm>
          <a:prstGeom prst="rect">
            <a:avLst/>
          </a:prstGeom>
          <a:noFill/>
        </p:spPr>
        <p:txBody>
          <a:bodyPr wrap="square" lIns="0" rIns="0" tIns="0" bIns="0" anchor="ctr">
            <a:spAutoFit/>
          </a:bodyPr>
          <a:lstStyle/>
          <a:p>
            <a:pPr algn="l">
              <a:lnSpc>
                <a:spcPct val="110000"/>
              </a:lnSpc>
              <a:spcAft>
                <a:spcPts val="0"/>
              </a:spcAft>
            </a:pPr>
            <a:r>
              <a:rPr sz="1500" b="0" i="0">
                <a:solidFill>
                  <a:srgbClr val="C8463D"/>
                </a:solidFill>
                <a:latin typeface="Segoe UI Semibold"/>
                <a:ea typeface="Yu Gothic"/>
              </a:rPr>
              <a:t>Chương 1</a:t>
            </a:r>
          </a:p>
        </p:txBody>
      </p:sp>
      <p:sp>
        <p:nvSpPr>
          <p:cNvPr id="14" name="TextBox 13"/>
          <p:cNvSpPr txBox="1"/>
          <p:nvPr/>
        </p:nvSpPr>
        <p:spPr>
          <a:xfrm>
            <a:off x="8641080" y="2404872"/>
            <a:ext cx="2926080" cy="749808"/>
          </a:xfrm>
          <a:prstGeom prst="rect">
            <a:avLst/>
          </a:prstGeom>
          <a:noFill/>
        </p:spPr>
        <p:txBody>
          <a:bodyPr wrap="square" lIns="0" rIns="0" tIns="0" bIns="0" anchor="ctr">
            <a:spAutoFit/>
          </a:bodyPr>
          <a:lstStyle/>
          <a:p>
            <a:pPr algn="l">
              <a:lnSpc>
                <a:spcPct val="110000"/>
              </a:lnSpc>
              <a:spcAft>
                <a:spcPts val="0"/>
              </a:spcAft>
            </a:pPr>
            <a:r>
              <a:rPr sz="1400" b="0" i="0">
                <a:solidFill>
                  <a:srgbClr val="22304A"/>
                </a:solidFill>
                <a:latin typeface="Segoe UI"/>
                <a:ea typeface="Yu Gothic"/>
              </a:rPr>
              <a:t>Nhà Tanaka, trường — tự giới thiệu</a:t>
            </a:r>
          </a:p>
        </p:txBody>
      </p:sp>
      <p:sp>
        <p:nvSpPr>
          <p:cNvPr id="15" name="Rounded Rectangle 14"/>
          <p:cNvSpPr/>
          <p:nvPr/>
        </p:nvSpPr>
        <p:spPr>
          <a:xfrm>
            <a:off x="7223760" y="3300984"/>
            <a:ext cx="4434840" cy="749808"/>
          </a:xfrm>
          <a:prstGeom prst="roundRect">
            <a:avLst>
              <a:gd name="adj" fmla="val 15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3300984"/>
            <a:ext cx="1280160" cy="749808"/>
          </a:xfrm>
          <a:prstGeom prst="rect">
            <a:avLst/>
          </a:prstGeom>
          <a:noFill/>
        </p:spPr>
        <p:txBody>
          <a:bodyPr wrap="square" lIns="0" rIns="0" tIns="0" bIns="0" anchor="ctr">
            <a:spAutoFit/>
          </a:bodyPr>
          <a:lstStyle/>
          <a:p>
            <a:pPr algn="l">
              <a:lnSpc>
                <a:spcPct val="110000"/>
              </a:lnSpc>
              <a:spcAft>
                <a:spcPts val="0"/>
              </a:spcAft>
            </a:pPr>
            <a:r>
              <a:rPr sz="1500" b="0" i="0">
                <a:solidFill>
                  <a:srgbClr val="C8463D"/>
                </a:solidFill>
                <a:latin typeface="Segoe UI Semibold"/>
                <a:ea typeface="Yu Gothic"/>
              </a:rPr>
              <a:t>Chương 2</a:t>
            </a:r>
          </a:p>
        </p:txBody>
      </p:sp>
      <p:sp>
        <p:nvSpPr>
          <p:cNvPr id="17" name="TextBox 16"/>
          <p:cNvSpPr txBox="1"/>
          <p:nvPr/>
        </p:nvSpPr>
        <p:spPr>
          <a:xfrm>
            <a:off x="8641080" y="3300984"/>
            <a:ext cx="2926080" cy="749808"/>
          </a:xfrm>
          <a:prstGeom prst="rect">
            <a:avLst/>
          </a:prstGeom>
          <a:noFill/>
        </p:spPr>
        <p:txBody>
          <a:bodyPr wrap="square" lIns="0" rIns="0" tIns="0" bIns="0" anchor="ctr">
            <a:spAutoFit/>
          </a:bodyPr>
          <a:lstStyle/>
          <a:p>
            <a:pPr algn="l">
              <a:lnSpc>
                <a:spcPct val="110000"/>
              </a:lnSpc>
              <a:spcAft>
                <a:spcPts val="0"/>
              </a:spcAft>
            </a:pPr>
            <a:r>
              <a:rPr sz="1400" b="0" i="0">
                <a:solidFill>
                  <a:srgbClr val="22304A"/>
                </a:solidFill>
                <a:latin typeface="Segoe UI"/>
                <a:ea typeface="Yu Gothic"/>
              </a:rPr>
              <a:t>Konbini — đồ ăn, số đếm, thanh toán</a:t>
            </a:r>
          </a:p>
        </p:txBody>
      </p:sp>
      <p:sp>
        <p:nvSpPr>
          <p:cNvPr id="18" name="Rounded Rectangle 17"/>
          <p:cNvSpPr/>
          <p:nvPr/>
        </p:nvSpPr>
        <p:spPr>
          <a:xfrm>
            <a:off x="7223760" y="4197096"/>
            <a:ext cx="4434840" cy="749808"/>
          </a:xfrm>
          <a:prstGeom prst="roundRect">
            <a:avLst>
              <a:gd name="adj" fmla="val 15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197096"/>
            <a:ext cx="1280160" cy="749808"/>
          </a:xfrm>
          <a:prstGeom prst="rect">
            <a:avLst/>
          </a:prstGeom>
          <a:noFill/>
        </p:spPr>
        <p:txBody>
          <a:bodyPr wrap="square" lIns="0" rIns="0" tIns="0" bIns="0" anchor="ctr">
            <a:spAutoFit/>
          </a:bodyPr>
          <a:lstStyle/>
          <a:p>
            <a:pPr algn="l">
              <a:lnSpc>
                <a:spcPct val="110000"/>
              </a:lnSpc>
              <a:spcAft>
                <a:spcPts val="0"/>
              </a:spcAft>
            </a:pPr>
            <a:r>
              <a:rPr sz="1500" b="0" i="0">
                <a:solidFill>
                  <a:srgbClr val="C8463D"/>
                </a:solidFill>
                <a:latin typeface="Segoe UI Semibold"/>
                <a:ea typeface="Yu Gothic"/>
              </a:rPr>
              <a:t>Chương 3</a:t>
            </a:r>
          </a:p>
        </p:txBody>
      </p:sp>
      <p:sp>
        <p:nvSpPr>
          <p:cNvPr id="20" name="TextBox 19"/>
          <p:cNvSpPr txBox="1"/>
          <p:nvPr/>
        </p:nvSpPr>
        <p:spPr>
          <a:xfrm>
            <a:off x="8641080" y="4197096"/>
            <a:ext cx="2926080" cy="749808"/>
          </a:xfrm>
          <a:prstGeom prst="rect">
            <a:avLst/>
          </a:prstGeom>
          <a:noFill/>
        </p:spPr>
        <p:txBody>
          <a:bodyPr wrap="square" lIns="0" rIns="0" tIns="0" bIns="0" anchor="ctr">
            <a:spAutoFit/>
          </a:bodyPr>
          <a:lstStyle/>
          <a:p>
            <a:pPr algn="l">
              <a:lnSpc>
                <a:spcPct val="110000"/>
              </a:lnSpc>
              <a:spcAft>
                <a:spcPts val="0"/>
              </a:spcAft>
            </a:pPr>
            <a:r>
              <a:rPr sz="1400" b="0" i="0">
                <a:solidFill>
                  <a:srgbClr val="22304A"/>
                </a:solidFill>
                <a:latin typeface="Segoe UI"/>
                <a:ea typeface="Yu Gothic"/>
              </a:rPr>
              <a:t>Hàng xóm, nhà hàng — gọi món</a:t>
            </a:r>
          </a:p>
        </p:txBody>
      </p:sp>
      <p:sp>
        <p:nvSpPr>
          <p:cNvPr id="21" name="Rounded Rectangle 20"/>
          <p:cNvSpPr/>
          <p:nvPr/>
        </p:nvSpPr>
        <p:spPr>
          <a:xfrm>
            <a:off x="7223760" y="5093208"/>
            <a:ext cx="4434840" cy="749808"/>
          </a:xfrm>
          <a:prstGeom prst="roundRect">
            <a:avLst>
              <a:gd name="adj" fmla="val 15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093208"/>
            <a:ext cx="1280160" cy="749808"/>
          </a:xfrm>
          <a:prstGeom prst="rect">
            <a:avLst/>
          </a:prstGeom>
          <a:noFill/>
        </p:spPr>
        <p:txBody>
          <a:bodyPr wrap="square" lIns="0" rIns="0" tIns="0" bIns="0" anchor="ctr">
            <a:spAutoFit/>
          </a:bodyPr>
          <a:lstStyle/>
          <a:p>
            <a:pPr algn="l">
              <a:lnSpc>
                <a:spcPct val="110000"/>
              </a:lnSpc>
              <a:spcAft>
                <a:spcPts val="0"/>
              </a:spcAft>
            </a:pPr>
            <a:r>
              <a:rPr sz="1500" b="0" i="0">
                <a:solidFill>
                  <a:srgbClr val="C8463D"/>
                </a:solidFill>
                <a:latin typeface="Segoe UI Semibold"/>
                <a:ea typeface="Yu Gothic"/>
              </a:rPr>
              <a:t>Chương 4</a:t>
            </a:r>
          </a:p>
        </p:txBody>
      </p:sp>
      <p:sp>
        <p:nvSpPr>
          <p:cNvPr id="23" name="TextBox 22"/>
          <p:cNvSpPr txBox="1"/>
          <p:nvPr/>
        </p:nvSpPr>
        <p:spPr>
          <a:xfrm>
            <a:off x="8641080" y="5093208"/>
            <a:ext cx="2926080" cy="749808"/>
          </a:xfrm>
          <a:prstGeom prst="rect">
            <a:avLst/>
          </a:prstGeom>
          <a:noFill/>
        </p:spPr>
        <p:txBody>
          <a:bodyPr wrap="square" lIns="0" rIns="0" tIns="0" bIns="0" anchor="ctr">
            <a:spAutoFit/>
          </a:bodyPr>
          <a:lstStyle/>
          <a:p>
            <a:pPr algn="l">
              <a:lnSpc>
                <a:spcPct val="110000"/>
              </a:lnSpc>
              <a:spcAft>
                <a:spcPts val="0"/>
              </a:spcAft>
            </a:pPr>
            <a:r>
              <a:rPr sz="1400" b="0" i="0">
                <a:solidFill>
                  <a:srgbClr val="22304A"/>
                </a:solidFill>
                <a:latin typeface="Segoe UI"/>
                <a:ea typeface="Yu Gothic"/>
              </a:rPr>
              <a:t>Nhà ga, lễ hội — hỏi đường, tổng kết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logo_dark.png"/>
          <p:cNvPicPr>
            <a:picLocks noChangeAspect="1"/>
          </p:cNvPicPr>
          <p:nvPr/>
        </p:nvPicPr>
        <p:blipFill>
          <a:blip r:embed="rId2"/>
          <a:stretch>
            <a:fillRect/>
          </a:stretch>
        </p:blipFill>
        <p:spPr>
          <a:xfrm>
            <a:off x="640080" y="548640"/>
            <a:ext cx="2040940" cy="566928"/>
          </a:xfrm>
          <a:prstGeom prst="rect">
            <a:avLst/>
          </a:prstGeom>
        </p:spPr>
      </p:pic>
      <p:sp>
        <p:nvSpPr>
          <p:cNvPr id="3" name="TextBox 2"/>
          <p:cNvSpPr txBox="1"/>
          <p:nvPr/>
        </p:nvSpPr>
        <p:spPr>
          <a:xfrm>
            <a:off x="640080" y="2057400"/>
            <a:ext cx="5486400" cy="1463040"/>
          </a:xfrm>
          <a:prstGeom prst="rect">
            <a:avLst/>
          </a:prstGeom>
          <a:noFill/>
        </p:spPr>
        <p:txBody>
          <a:bodyPr wrap="square" lIns="0" rIns="0" tIns="0" bIns="0" anchor="t">
            <a:spAutoFit/>
          </a:bodyPr>
          <a:lstStyle/>
          <a:p>
            <a:pPr algn="l">
              <a:lnSpc>
                <a:spcPct val="110000"/>
              </a:lnSpc>
              <a:spcAft>
                <a:spcPts val="0"/>
              </a:spcAft>
            </a:pPr>
            <a:r>
              <a:rPr sz="11000" b="0" i="0">
                <a:solidFill>
                  <a:srgbClr val="F2B233"/>
                </a:solidFill>
                <a:latin typeface="Segoe UI Semibold"/>
                <a:ea typeface="Yu Gothic"/>
              </a:rPr>
              <a:t>02</a:t>
            </a:r>
          </a:p>
        </p:txBody>
      </p:sp>
      <p:sp>
        <p:nvSpPr>
          <p:cNvPr id="4" name="TextBox 3"/>
          <p:cNvSpPr txBox="1"/>
          <p:nvPr/>
        </p:nvSpPr>
        <p:spPr>
          <a:xfrm>
            <a:off x="640080" y="3611880"/>
            <a:ext cx="5486400" cy="1280160"/>
          </a:xfrm>
          <a:prstGeom prst="rect">
            <a:avLst/>
          </a:prstGeom>
          <a:noFill/>
        </p:spPr>
        <p:txBody>
          <a:bodyPr wrap="square" lIns="0" rIns="0" tIns="0" bIns="0" anchor="t">
            <a:spAutoFit/>
          </a:bodyPr>
          <a:lstStyle/>
          <a:p>
            <a:pPr algn="l">
              <a:lnSpc>
                <a:spcPct val="110000"/>
              </a:lnSpc>
              <a:spcAft>
                <a:spcPts val="0"/>
              </a:spcAft>
            </a:pPr>
            <a:r>
              <a:rPr sz="4000" b="0" i="0">
                <a:solidFill>
                  <a:srgbClr val="FFFFFF"/>
                </a:solidFill>
                <a:latin typeface="Segoe UI Semibold"/>
                <a:ea typeface="Yu Gothic"/>
              </a:rPr>
              <a:t>Sản phẩm</a:t>
            </a:r>
          </a:p>
        </p:txBody>
      </p:sp>
      <p:sp>
        <p:nvSpPr>
          <p:cNvPr id="5" name="TextBox 4"/>
          <p:cNvSpPr txBox="1"/>
          <p:nvPr/>
        </p:nvSpPr>
        <p:spPr>
          <a:xfrm>
            <a:off x="640080" y="4800600"/>
            <a:ext cx="5303520" cy="914400"/>
          </a:xfrm>
          <a:prstGeom prst="rect">
            <a:avLst/>
          </a:prstGeom>
          <a:noFill/>
        </p:spPr>
        <p:txBody>
          <a:bodyPr wrap="square" lIns="0" rIns="0" tIns="0" bIns="0" anchor="t">
            <a:spAutoFit/>
          </a:bodyPr>
          <a:lstStyle/>
          <a:p>
            <a:pPr algn="l">
              <a:lnSpc>
                <a:spcPct val="110000"/>
              </a:lnSpc>
              <a:spcAft>
                <a:spcPts val="0"/>
              </a:spcAft>
            </a:pPr>
            <a:r>
              <a:rPr sz="1600" b="0" i="0">
                <a:solidFill>
                  <a:srgbClr val="C8D3E6"/>
                </a:solidFill>
                <a:latin typeface="Segoe UI"/>
                <a:ea typeface="Yu Gothic"/>
              </a:rPr>
              <a:t>Ảnh chụp trực tiếp từ Unity Play Mode — mỗi màn hình là một luồng UI hoàn chỉnh.</a:t>
            </a:r>
          </a:p>
        </p:txBody>
      </p:sp>
      <p:sp>
        <p:nvSpPr>
          <p:cNvPr id="6" name="TextBox 5"/>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07</a:t>
            </a:r>
          </a:p>
        </p:txBody>
      </p:sp>
      <p:pic>
        <p:nvPicPr>
          <p:cNvPr id="7" name="Picture 6" descr="g08_restaurant_menu.png"/>
          <p:cNvPicPr>
            <a:picLocks noChangeAspect="1"/>
          </p:cNvPicPr>
          <p:nvPr/>
        </p:nvPicPr>
        <p:blipFill>
          <a:blip r:embed="rId4"/>
          <a:srcRect l="27500" r="27500"/>
          <a:stretch>
            <a:fillRect/>
          </a:stretch>
        </p:blipFill>
        <p:spPr>
          <a:xfrm>
            <a:off x="6705295" y="0"/>
            <a:ext cx="54864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Con số nổi bật</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08</a:t>
            </a:r>
          </a:p>
        </p:txBody>
      </p:sp>
      <p:sp>
        <p:nvSpPr>
          <p:cNvPr id="8" name="Rounded Rectangle 7"/>
          <p:cNvSpPr/>
          <p:nvPr/>
        </p:nvSpPr>
        <p:spPr>
          <a:xfrm>
            <a:off x="548640" y="1600200"/>
            <a:ext cx="3474720" cy="20574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8308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F2B233"/>
                </a:solidFill>
                <a:latin typeface="Segoe UI Semibold"/>
                <a:ea typeface="Yu Gothic"/>
              </a:rPr>
              <a:t>14</a:t>
            </a:r>
          </a:p>
        </p:txBody>
      </p:sp>
      <p:sp>
        <p:nvSpPr>
          <p:cNvPr id="10" name="TextBox 9"/>
          <p:cNvSpPr txBox="1"/>
          <p:nvPr/>
        </p:nvSpPr>
        <p:spPr>
          <a:xfrm>
            <a:off x="868680" y="278892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E3E9F3"/>
                </a:solidFill>
                <a:latin typeface="Segoe UI"/>
                <a:ea typeface="Yu Gothic"/>
              </a:rPr>
              <a:t>tình huống học tập
(scenario N5)</a:t>
            </a:r>
          </a:p>
        </p:txBody>
      </p:sp>
      <p:sp>
        <p:nvSpPr>
          <p:cNvPr id="11" name="Rounded Rectangle 10"/>
          <p:cNvSpPr/>
          <p:nvPr/>
        </p:nvSpPr>
        <p:spPr>
          <a:xfrm>
            <a:off x="4297679" y="1600200"/>
            <a:ext cx="3474720" cy="205740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19" y="178308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14213D"/>
                </a:solidFill>
                <a:latin typeface="Segoe UI Semibold"/>
                <a:ea typeface="Yu Gothic"/>
              </a:rPr>
              <a:t>5</a:t>
            </a:r>
          </a:p>
        </p:txBody>
      </p:sp>
      <p:sp>
        <p:nvSpPr>
          <p:cNvPr id="13" name="TextBox 12"/>
          <p:cNvSpPr txBox="1"/>
          <p:nvPr/>
        </p:nvSpPr>
        <p:spPr>
          <a:xfrm>
            <a:off x="4617719" y="278892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22304A"/>
                </a:solidFill>
                <a:latin typeface="Segoe UI"/>
                <a:ea typeface="Yu Gothic"/>
              </a:rPr>
              <a:t>khu vực 3D
có thể vào</a:t>
            </a:r>
          </a:p>
        </p:txBody>
      </p:sp>
      <p:sp>
        <p:nvSpPr>
          <p:cNvPr id="14" name="Rounded Rectangle 13"/>
          <p:cNvSpPr/>
          <p:nvPr/>
        </p:nvSpPr>
        <p:spPr>
          <a:xfrm>
            <a:off x="8046719" y="1600200"/>
            <a:ext cx="3474720" cy="20574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59" y="178308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F2B233"/>
                </a:solidFill>
                <a:latin typeface="Segoe UI Semibold"/>
                <a:ea typeface="Yu Gothic"/>
              </a:rPr>
              <a:t>3</a:t>
            </a:r>
          </a:p>
        </p:txBody>
      </p:sp>
      <p:sp>
        <p:nvSpPr>
          <p:cNvPr id="16" name="TextBox 15"/>
          <p:cNvSpPr txBox="1"/>
          <p:nvPr/>
        </p:nvSpPr>
        <p:spPr>
          <a:xfrm>
            <a:off x="8366759" y="278892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E3E9F3"/>
                </a:solidFill>
                <a:latin typeface="Segoe UI"/>
                <a:ea typeface="Yu Gothic"/>
              </a:rPr>
              <a:t>ngôn ngữ giao diện
VI · EN · JP</a:t>
            </a:r>
          </a:p>
        </p:txBody>
      </p:sp>
      <p:sp>
        <p:nvSpPr>
          <p:cNvPr id="17" name="Rounded Rectangle 16"/>
          <p:cNvSpPr/>
          <p:nvPr/>
        </p:nvSpPr>
        <p:spPr>
          <a:xfrm>
            <a:off x="548640" y="3931920"/>
            <a:ext cx="3474720" cy="205740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14213D"/>
                </a:solidFill>
                <a:latin typeface="Segoe UI Semibold"/>
                <a:ea typeface="Yu Gothic"/>
              </a:rPr>
              <a:t>5</a:t>
            </a:r>
          </a:p>
        </p:txBody>
      </p:sp>
      <p:sp>
        <p:nvSpPr>
          <p:cNvPr id="19" name="TextBox 18"/>
          <p:cNvSpPr txBox="1"/>
          <p:nvPr/>
        </p:nvSpPr>
        <p:spPr>
          <a:xfrm>
            <a:off x="868680" y="512064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22304A"/>
                </a:solidFill>
                <a:latin typeface="Segoe UI"/>
                <a:ea typeface="Yu Gothic"/>
              </a:rPr>
              <a:t>nhóm điểm kỹ năng
mỗi tình huống</a:t>
            </a:r>
          </a:p>
        </p:txBody>
      </p:sp>
      <p:sp>
        <p:nvSpPr>
          <p:cNvPr id="20" name="Rounded Rectangle 19"/>
          <p:cNvSpPr/>
          <p:nvPr/>
        </p:nvSpPr>
        <p:spPr>
          <a:xfrm>
            <a:off x="4297679" y="3931920"/>
            <a:ext cx="3474720" cy="20574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19" y="411480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F2B233"/>
                </a:solidFill>
                <a:latin typeface="Segoe UI Semibold"/>
                <a:ea typeface="Yu Gothic"/>
              </a:rPr>
              <a:t>2</a:t>
            </a:r>
          </a:p>
        </p:txBody>
      </p:sp>
      <p:sp>
        <p:nvSpPr>
          <p:cNvPr id="22" name="TextBox 21"/>
          <p:cNvSpPr txBox="1"/>
          <p:nvPr/>
        </p:nvSpPr>
        <p:spPr>
          <a:xfrm>
            <a:off x="4617719" y="512064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E3E9F3"/>
                </a:solidFill>
                <a:latin typeface="Segoe UI"/>
                <a:ea typeface="Yu Gothic"/>
              </a:rPr>
              <a:t>đề luyện thi
JLPT N5 · IELTS</a:t>
            </a:r>
          </a:p>
        </p:txBody>
      </p:sp>
      <p:sp>
        <p:nvSpPr>
          <p:cNvPr id="23" name="Rounded Rectangle 22"/>
          <p:cNvSpPr/>
          <p:nvPr/>
        </p:nvSpPr>
        <p:spPr>
          <a:xfrm>
            <a:off x="8046719" y="3931920"/>
            <a:ext cx="3474720" cy="205740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59" y="4114800"/>
            <a:ext cx="2926080" cy="1005840"/>
          </a:xfrm>
          <a:prstGeom prst="rect">
            <a:avLst/>
          </a:prstGeom>
          <a:noFill/>
        </p:spPr>
        <p:txBody>
          <a:bodyPr wrap="square" lIns="0" rIns="0" tIns="0" bIns="0" anchor="t">
            <a:spAutoFit/>
          </a:bodyPr>
          <a:lstStyle/>
          <a:p>
            <a:pPr algn="l">
              <a:lnSpc>
                <a:spcPct val="110000"/>
              </a:lnSpc>
              <a:spcAft>
                <a:spcPts val="0"/>
              </a:spcAft>
            </a:pPr>
            <a:r>
              <a:rPr sz="6000" b="0" i="0">
                <a:solidFill>
                  <a:srgbClr val="14213D"/>
                </a:solidFill>
                <a:latin typeface="Segoe UI Semibold"/>
                <a:ea typeface="Yu Gothic"/>
              </a:rPr>
              <a:t>15+</a:t>
            </a:r>
          </a:p>
        </p:txBody>
      </p:sp>
      <p:sp>
        <p:nvSpPr>
          <p:cNvPr id="25" name="TextBox 24"/>
          <p:cNvSpPr txBox="1"/>
          <p:nvPr/>
        </p:nvSpPr>
        <p:spPr>
          <a:xfrm>
            <a:off x="8366759" y="5120640"/>
            <a:ext cx="2926080" cy="731520"/>
          </a:xfrm>
          <a:prstGeom prst="rect">
            <a:avLst/>
          </a:prstGeom>
          <a:noFill/>
        </p:spPr>
        <p:txBody>
          <a:bodyPr wrap="square" lIns="0" rIns="0" tIns="0" bIns="0" anchor="t">
            <a:spAutoFit/>
          </a:bodyPr>
          <a:lstStyle/>
          <a:p>
            <a:pPr algn="l">
              <a:lnSpc>
                <a:spcPct val="110000"/>
              </a:lnSpc>
              <a:spcAft>
                <a:spcPts val="0"/>
              </a:spcAft>
            </a:pPr>
            <a:r>
              <a:rPr sz="1500" b="0" i="0">
                <a:solidFill>
                  <a:srgbClr val="22304A"/>
                </a:solidFill>
                <a:latin typeface="Segoe UI"/>
                <a:ea typeface="Yu Gothic"/>
              </a:rPr>
              <a:t>màn hình UI
đã hoàn thiện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Menu chính và hướng dẫn chơi</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09</a:t>
            </a:r>
          </a:p>
        </p:txBody>
      </p:sp>
      <p:pic>
        <p:nvPicPr>
          <p:cNvPr id="8" name="Picture 7" descr="01_menu.png"/>
          <p:cNvPicPr>
            <a:picLocks noChangeAspect="1"/>
          </p:cNvPicPr>
          <p:nvPr/>
        </p:nvPicPr>
        <p:blipFill>
          <a:blip r:embed="rId4"/>
          <a:stretch>
            <a:fillRect/>
          </a:stretch>
        </p:blipFill>
        <p:spPr>
          <a:xfrm>
            <a:off x="548640" y="1508760"/>
            <a:ext cx="5486400" cy="3086100"/>
          </a:xfrm>
          <a:prstGeom prst="rect">
            <a:avLst/>
          </a:prstGeom>
          <a:ln w="9525">
            <a:solidFill>
              <a:srgbClr val="D5DCE8"/>
            </a:solidFill>
          </a:ln>
        </p:spPr>
      </p:pic>
      <p:pic>
        <p:nvPicPr>
          <p:cNvPr id="9" name="Picture 8" descr="02_guide.png"/>
          <p:cNvPicPr>
            <a:picLocks noChangeAspect="1"/>
          </p:cNvPicPr>
          <p:nvPr/>
        </p:nvPicPr>
        <p:blipFill>
          <a:blip r:embed="rId5"/>
          <a:stretch>
            <a:fillRect/>
          </a:stretch>
        </p:blipFill>
        <p:spPr>
          <a:xfrm>
            <a:off x="6153912" y="1508760"/>
            <a:ext cx="5486400" cy="3086100"/>
          </a:xfrm>
          <a:prstGeom prst="rect">
            <a:avLst/>
          </a:prstGeom>
          <a:ln w="9525">
            <a:solidFill>
              <a:srgbClr val="D5DCE8"/>
            </a:solidFill>
          </a:ln>
        </p:spPr>
      </p:pic>
      <p:sp>
        <p:nvSpPr>
          <p:cNvPr id="10" name="TextBox 9"/>
          <p:cNvSpPr txBox="1"/>
          <p:nvPr/>
        </p:nvSpPr>
        <p:spPr>
          <a:xfrm>
            <a:off x="548640"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Menu chính  </a:t>
            </a:r>
            <a:r>
              <a:rPr sz="1400" b="0" i="0">
                <a:solidFill>
                  <a:srgbClr val="22304A"/>
                </a:solidFill>
                <a:latin typeface="Segoe UI"/>
                <a:ea typeface="Yu Gothic"/>
              </a:rPr>
              <a:t>Bắt đầu, đổi ngôn ngữ VI/EN/JP ngay lập tức, Xếp hạng, Cách chơi, Về tôi, Bạn bè, Hồ sơ, Online.</a:t>
            </a:r>
          </a:p>
        </p:txBody>
      </p:sp>
      <p:sp>
        <p:nvSpPr>
          <p:cNvPr id="11" name="TextBox 10"/>
          <p:cNvSpPr txBox="1"/>
          <p:nvPr/>
        </p:nvSpPr>
        <p:spPr>
          <a:xfrm>
            <a:off x="6153912"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Cách chơi  </a:t>
            </a:r>
            <a:r>
              <a:rPr sz="1400" b="0" i="0">
                <a:solidFill>
                  <a:srgbClr val="22304A"/>
                </a:solidFill>
                <a:latin typeface="Segoe UI"/>
                <a:ea typeface="Yu Gothic"/>
              </a:rPr>
              <a:t>4 bước bắt đầu và bảng phím tắt: WASD di chuyển, F tương tác, B balo, Tab nhân vật, M bản đồ, V luyện nói.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Hội thoại N5: chọn câu đúng ngữ cảnh</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10</a:t>
            </a:r>
          </a:p>
        </p:txBody>
      </p:sp>
      <p:pic>
        <p:nvPicPr>
          <p:cNvPr id="8" name="Picture 7" descr="g09_dialogue_choice.png"/>
          <p:cNvPicPr>
            <a:picLocks noChangeAspect="1"/>
          </p:cNvPicPr>
          <p:nvPr/>
        </p:nvPicPr>
        <p:blipFill>
          <a:blip r:embed="rId4"/>
          <a:stretch>
            <a:fillRect/>
          </a:stretch>
        </p:blipFill>
        <p:spPr>
          <a:xfrm>
            <a:off x="548640" y="1508760"/>
            <a:ext cx="6949440" cy="3909060"/>
          </a:xfrm>
          <a:prstGeom prst="rect">
            <a:avLst/>
          </a:prstGeom>
          <a:ln w="9525">
            <a:solidFill>
              <a:srgbClr val="D5DCE8"/>
            </a:solidFill>
          </a:ln>
        </p:spPr>
      </p:pic>
      <p:sp>
        <p:nvSpPr>
          <p:cNvPr id="9" name="TextBox 8"/>
          <p:cNvSpPr txBox="1"/>
          <p:nvPr/>
        </p:nvSpPr>
        <p:spPr>
          <a:xfrm>
            <a:off x="7818120" y="1554480"/>
            <a:ext cx="3840480" cy="548640"/>
          </a:xfrm>
          <a:prstGeom prst="rect">
            <a:avLst/>
          </a:prstGeom>
          <a:noFill/>
        </p:spPr>
        <p:txBody>
          <a:bodyPr wrap="square" lIns="0" rIns="0" tIns="0" bIns="0" anchor="t">
            <a:spAutoFit/>
          </a:bodyPr>
          <a:lstStyle/>
          <a:p>
            <a:pPr algn="l">
              <a:lnSpc>
                <a:spcPct val="110000"/>
              </a:lnSpc>
              <a:spcAft>
                <a:spcPts val="0"/>
              </a:spcAft>
            </a:pPr>
            <a:r>
              <a:rPr sz="1600" b="1" i="0">
                <a:solidFill>
                  <a:srgbClr val="C8463D"/>
                </a:solidFill>
                <a:latin typeface="Segoe UI Semibold"/>
                <a:ea typeface="Yu Gothic"/>
              </a:rPr>
              <a:t>Tanaka: </a:t>
            </a:r>
            <a:r>
              <a:rPr sz="1600" b="0" i="0">
                <a:solidFill>
                  <a:srgbClr val="22304A"/>
                </a:solidFill>
                <a:latin typeface="Yu Gothic"/>
                <a:ea typeface="Yu Gothic"/>
              </a:rPr>
              <a:t>おはようございます！いい朝ですね。</a:t>
            </a:r>
          </a:p>
        </p:txBody>
      </p:sp>
      <p:sp>
        <p:nvSpPr>
          <p:cNvPr id="10" name="Rounded Rectangle 9"/>
          <p:cNvSpPr/>
          <p:nvPr/>
        </p:nvSpPr>
        <p:spPr>
          <a:xfrm>
            <a:off x="7818120" y="2377440"/>
            <a:ext cx="3840480" cy="100584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1000" y="2724912"/>
            <a:ext cx="310896" cy="310896"/>
          </a:xfrm>
          <a:prstGeom prst="ellipse">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2487168"/>
            <a:ext cx="3063240" cy="411480"/>
          </a:xfrm>
          <a:prstGeom prst="rect">
            <a:avLst/>
          </a:prstGeom>
          <a:noFill/>
        </p:spPr>
        <p:txBody>
          <a:bodyPr wrap="square" lIns="0" rIns="0" tIns="0" bIns="0" anchor="t">
            <a:spAutoFit/>
          </a:bodyPr>
          <a:lstStyle/>
          <a:p>
            <a:pPr algn="l">
              <a:lnSpc>
                <a:spcPct val="110000"/>
              </a:lnSpc>
              <a:spcAft>
                <a:spcPts val="0"/>
              </a:spcAft>
            </a:pPr>
            <a:r>
              <a:rPr sz="1600" b="1" i="0">
                <a:solidFill>
                  <a:srgbClr val="14213D"/>
                </a:solidFill>
                <a:latin typeface="Yu Gothic"/>
                <a:ea typeface="Yu Gothic"/>
              </a:rPr>
              <a:t>おはようございます。</a:t>
            </a:r>
          </a:p>
        </p:txBody>
      </p:sp>
      <p:sp>
        <p:nvSpPr>
          <p:cNvPr id="13" name="TextBox 12"/>
          <p:cNvSpPr txBox="1"/>
          <p:nvPr/>
        </p:nvSpPr>
        <p:spPr>
          <a:xfrm>
            <a:off x="8503920" y="2907792"/>
            <a:ext cx="3063240" cy="411480"/>
          </a:xfrm>
          <a:prstGeom prst="rect">
            <a:avLst/>
          </a:prstGeom>
          <a:noFill/>
        </p:spPr>
        <p:txBody>
          <a:bodyPr wrap="square" lIns="0" rIns="0" tIns="0" bIns="0" anchor="t">
            <a:spAutoFit/>
          </a:bodyPr>
          <a:lstStyle/>
          <a:p>
            <a:pPr algn="l">
              <a:lnSpc>
                <a:spcPct val="110000"/>
              </a:lnSpc>
              <a:spcAft>
                <a:spcPts val="0"/>
              </a:spcAft>
            </a:pPr>
            <a:r>
              <a:rPr sz="1300" b="0" i="0">
                <a:solidFill>
                  <a:srgbClr val="5B6B82"/>
                </a:solidFill>
                <a:latin typeface="Segoe UI"/>
                <a:ea typeface="Yu Gothic"/>
              </a:rPr>
              <a:t>Lịch sự, đúng ngữ cảnh → cộng điểm</a:t>
            </a:r>
          </a:p>
        </p:txBody>
      </p:sp>
      <p:sp>
        <p:nvSpPr>
          <p:cNvPr id="14" name="Rounded Rectangle 13"/>
          <p:cNvSpPr/>
          <p:nvPr/>
        </p:nvSpPr>
        <p:spPr>
          <a:xfrm>
            <a:off x="7818120" y="3566160"/>
            <a:ext cx="3840480" cy="100584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1000" y="3913632"/>
            <a:ext cx="310896" cy="310896"/>
          </a:xfrm>
          <a:prstGeom prst="ellipse">
            <a:avLst/>
          </a:prstGeom>
          <a:solidFill>
            <a:srgbClr val="F2B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0" y="3675888"/>
            <a:ext cx="3063240" cy="411480"/>
          </a:xfrm>
          <a:prstGeom prst="rect">
            <a:avLst/>
          </a:prstGeom>
          <a:noFill/>
        </p:spPr>
        <p:txBody>
          <a:bodyPr wrap="square" lIns="0" rIns="0" tIns="0" bIns="0" anchor="t">
            <a:spAutoFit/>
          </a:bodyPr>
          <a:lstStyle/>
          <a:p>
            <a:pPr algn="l">
              <a:lnSpc>
                <a:spcPct val="110000"/>
              </a:lnSpc>
              <a:spcAft>
                <a:spcPts val="0"/>
              </a:spcAft>
            </a:pPr>
            <a:r>
              <a:rPr sz="1600" b="1" i="0">
                <a:solidFill>
                  <a:srgbClr val="14213D"/>
                </a:solidFill>
                <a:latin typeface="Yu Gothic"/>
                <a:ea typeface="Yu Gothic"/>
              </a:rPr>
              <a:t>おはよう。</a:t>
            </a:r>
          </a:p>
        </p:txBody>
      </p:sp>
      <p:sp>
        <p:nvSpPr>
          <p:cNvPr id="17" name="TextBox 16"/>
          <p:cNvSpPr txBox="1"/>
          <p:nvPr/>
        </p:nvSpPr>
        <p:spPr>
          <a:xfrm>
            <a:off x="8503920" y="4096512"/>
            <a:ext cx="3063240" cy="411480"/>
          </a:xfrm>
          <a:prstGeom prst="rect">
            <a:avLst/>
          </a:prstGeom>
          <a:noFill/>
        </p:spPr>
        <p:txBody>
          <a:bodyPr wrap="square" lIns="0" rIns="0" tIns="0" bIns="0" anchor="t">
            <a:spAutoFit/>
          </a:bodyPr>
          <a:lstStyle/>
          <a:p>
            <a:pPr algn="l">
              <a:lnSpc>
                <a:spcPct val="110000"/>
              </a:lnSpc>
              <a:spcAft>
                <a:spcPts val="0"/>
              </a:spcAft>
            </a:pPr>
            <a:r>
              <a:rPr sz="1300" b="0" i="0">
                <a:solidFill>
                  <a:srgbClr val="5B6B82"/>
                </a:solidFill>
                <a:latin typeface="Segoe UI"/>
                <a:ea typeface="Yu Gothic"/>
              </a:rPr>
              <a:t>Thân mật — chưa hợp với người mới gặp</a:t>
            </a:r>
          </a:p>
        </p:txBody>
      </p:sp>
      <p:sp>
        <p:nvSpPr>
          <p:cNvPr id="18" name="Rounded Rectangle 17"/>
          <p:cNvSpPr/>
          <p:nvPr/>
        </p:nvSpPr>
        <p:spPr>
          <a:xfrm>
            <a:off x="7818120" y="4754880"/>
            <a:ext cx="3840480" cy="100584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1000" y="5102352"/>
            <a:ext cx="310896" cy="310896"/>
          </a:xfrm>
          <a:prstGeom prst="ellipse">
            <a:avLst/>
          </a:prstGeom>
          <a:solidFill>
            <a:srgbClr val="C84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4864608"/>
            <a:ext cx="3063240" cy="411480"/>
          </a:xfrm>
          <a:prstGeom prst="rect">
            <a:avLst/>
          </a:prstGeom>
          <a:noFill/>
        </p:spPr>
        <p:txBody>
          <a:bodyPr wrap="square" lIns="0" rIns="0" tIns="0" bIns="0" anchor="t">
            <a:spAutoFit/>
          </a:bodyPr>
          <a:lstStyle/>
          <a:p>
            <a:pPr algn="l">
              <a:lnSpc>
                <a:spcPct val="110000"/>
              </a:lnSpc>
              <a:spcAft>
                <a:spcPts val="0"/>
              </a:spcAft>
            </a:pPr>
            <a:r>
              <a:rPr sz="1600" b="1" i="0">
                <a:solidFill>
                  <a:srgbClr val="14213D"/>
                </a:solidFill>
                <a:latin typeface="Yu Gothic"/>
                <a:ea typeface="Yu Gothic"/>
              </a:rPr>
              <a:t>こんばんは。</a:t>
            </a:r>
          </a:p>
        </p:txBody>
      </p:sp>
      <p:sp>
        <p:nvSpPr>
          <p:cNvPr id="21" name="TextBox 20"/>
          <p:cNvSpPr txBox="1"/>
          <p:nvPr/>
        </p:nvSpPr>
        <p:spPr>
          <a:xfrm>
            <a:off x="8503920" y="5285232"/>
            <a:ext cx="3063240" cy="411480"/>
          </a:xfrm>
          <a:prstGeom prst="rect">
            <a:avLst/>
          </a:prstGeom>
          <a:noFill/>
        </p:spPr>
        <p:txBody>
          <a:bodyPr wrap="square" lIns="0" rIns="0" tIns="0" bIns="0" anchor="t">
            <a:spAutoFit/>
          </a:bodyPr>
          <a:lstStyle/>
          <a:p>
            <a:pPr algn="l">
              <a:lnSpc>
                <a:spcPct val="110000"/>
              </a:lnSpc>
              <a:spcAft>
                <a:spcPts val="0"/>
              </a:spcAft>
            </a:pPr>
            <a:r>
              <a:rPr sz="1300" b="0" i="0">
                <a:solidFill>
                  <a:srgbClr val="5B6B82"/>
                </a:solidFill>
                <a:latin typeface="Segoe UI"/>
                <a:ea typeface="Yu Gothic"/>
              </a:rPr>
              <a:t>Sai thời điểm → giải thích, thử lại</a:t>
            </a:r>
          </a:p>
        </p:txBody>
      </p:sp>
      <p:sp>
        <p:nvSpPr>
          <p:cNvPr id="22" name="TextBox 21"/>
          <p:cNvSpPr txBox="1"/>
          <p:nvPr/>
        </p:nvSpPr>
        <p:spPr>
          <a:xfrm>
            <a:off x="7818120" y="5943600"/>
            <a:ext cx="3840480" cy="365760"/>
          </a:xfrm>
          <a:prstGeom prst="rect">
            <a:avLst/>
          </a:prstGeom>
          <a:noFill/>
        </p:spPr>
        <p:txBody>
          <a:bodyPr wrap="square" lIns="0" rIns="0" tIns="0" bIns="0" anchor="t">
            <a:spAutoFit/>
          </a:bodyPr>
          <a:lstStyle/>
          <a:p>
            <a:pPr algn="l">
              <a:lnSpc>
                <a:spcPct val="110000"/>
              </a:lnSpc>
              <a:spcAft>
                <a:spcPts val="0"/>
              </a:spcAft>
            </a:pPr>
            <a:r>
              <a:rPr sz="1100" b="0" i="0">
                <a:solidFill>
                  <a:srgbClr val="5B6B82"/>
                </a:solidFill>
                <a:latin typeface="Segoe UI"/>
                <a:ea typeface="Yu Gothic"/>
              </a:rPr>
              <a:t>Ghi điểm bằng ScoringManager · lưu cờ truyện bằng setFlags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Nhiệm vụ và bản đồ</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11</a:t>
            </a:r>
          </a:p>
        </p:txBody>
      </p:sp>
      <p:pic>
        <p:nvPicPr>
          <p:cNvPr id="8" name="Picture 7" descr="05_quests.png"/>
          <p:cNvPicPr>
            <a:picLocks noChangeAspect="1"/>
          </p:cNvPicPr>
          <p:nvPr/>
        </p:nvPicPr>
        <p:blipFill>
          <a:blip r:embed="rId4"/>
          <a:stretch>
            <a:fillRect/>
          </a:stretch>
        </p:blipFill>
        <p:spPr>
          <a:xfrm>
            <a:off x="548640" y="1508760"/>
            <a:ext cx="5486400" cy="3086100"/>
          </a:xfrm>
          <a:prstGeom prst="rect">
            <a:avLst/>
          </a:prstGeom>
          <a:ln w="9525">
            <a:solidFill>
              <a:srgbClr val="D5DCE8"/>
            </a:solidFill>
          </a:ln>
        </p:spPr>
      </p:pic>
      <p:pic>
        <p:nvPicPr>
          <p:cNvPr id="9" name="Picture 8" descr="g04_map.png"/>
          <p:cNvPicPr>
            <a:picLocks noChangeAspect="1"/>
          </p:cNvPicPr>
          <p:nvPr/>
        </p:nvPicPr>
        <p:blipFill>
          <a:blip r:embed="rId5"/>
          <a:stretch>
            <a:fillRect/>
          </a:stretch>
        </p:blipFill>
        <p:spPr>
          <a:xfrm>
            <a:off x="6153912" y="1508760"/>
            <a:ext cx="5486400" cy="3086100"/>
          </a:xfrm>
          <a:prstGeom prst="rect">
            <a:avLst/>
          </a:prstGeom>
          <a:ln w="9525">
            <a:solidFill>
              <a:srgbClr val="D5DCE8"/>
            </a:solidFill>
          </a:ln>
        </p:spPr>
      </p:pic>
      <p:sp>
        <p:nvSpPr>
          <p:cNvPr id="10" name="TextBox 9"/>
          <p:cNvSpPr txBox="1"/>
          <p:nvPr/>
        </p:nvSpPr>
        <p:spPr>
          <a:xfrm>
            <a:off x="548640"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Nhật ký nhiệm vụ [J]  </a:t>
            </a:r>
            <a:r>
              <a:rPr sz="1400" b="0" i="0">
                <a:solidFill>
                  <a:srgbClr val="22304A"/>
                </a:solidFill>
                <a:latin typeface="Segoe UI"/>
                <a:ea typeface="Yu Gothic"/>
              </a:rPr>
              <a:t>3 tab Đang làm / Có thể nhận / Đã xong; mỗi nhiệm vụ có địa điểm, mục tiêu, phần thưởng và từ vựng sẽ học.</a:t>
            </a:r>
          </a:p>
        </p:txBody>
      </p:sp>
      <p:sp>
        <p:nvSpPr>
          <p:cNvPr id="11" name="TextBox 10"/>
          <p:cNvSpPr txBox="1"/>
          <p:nvPr/>
        </p:nvSpPr>
        <p:spPr>
          <a:xfrm>
            <a:off x="6153912"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Bản đồ Nihongo City [M]  </a:t>
            </a:r>
            <a:r>
              <a:rPr sz="1400" b="0" i="0">
                <a:solidFill>
                  <a:srgbClr val="22304A"/>
                </a:solidFill>
                <a:latin typeface="Segoe UI"/>
                <a:ea typeface="Yu Gothic"/>
              </a:rPr>
              <a:t>Khu vực hiện tại và bản đồ tổng: Sushi Hibari, Trường Hibari, Ga Sakura Metro, Konbini, Công viên.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Nhà hàng Sushi Hibari</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12</a:t>
            </a:r>
          </a:p>
        </p:txBody>
      </p:sp>
      <p:pic>
        <p:nvPicPr>
          <p:cNvPr id="8" name="Picture 7" descr="g08_restaurant_menu.png"/>
          <p:cNvPicPr>
            <a:picLocks noChangeAspect="1"/>
          </p:cNvPicPr>
          <p:nvPr/>
        </p:nvPicPr>
        <p:blipFill>
          <a:blip r:embed="rId4"/>
          <a:stretch>
            <a:fillRect/>
          </a:stretch>
        </p:blipFill>
        <p:spPr>
          <a:xfrm>
            <a:off x="548640" y="1508760"/>
            <a:ext cx="6949440" cy="3909060"/>
          </a:xfrm>
          <a:prstGeom prst="rect">
            <a:avLst/>
          </a:prstGeom>
          <a:ln w="9525">
            <a:solidFill>
              <a:srgbClr val="D5DCE8"/>
            </a:solidFill>
          </a:ln>
        </p:spPr>
      </p:pic>
      <p:sp>
        <p:nvSpPr>
          <p:cNvPr id="9" name="TextBox 8"/>
          <p:cNvSpPr txBox="1"/>
          <p:nvPr/>
        </p:nvSpPr>
        <p:spPr>
          <a:xfrm>
            <a:off x="7818120" y="1600200"/>
            <a:ext cx="3840480" cy="4480560"/>
          </a:xfrm>
          <a:prstGeom prst="rect">
            <a:avLst/>
          </a:prstGeom>
          <a:noFill/>
        </p:spPr>
        <p:txBody>
          <a:bodyPr wrap="square" lIns="0" rIns="0" tIns="0" bIns="0">
            <a:spAutoFit/>
          </a:bodyPr>
          <a:lstStyle/>
          <a:p>
            <a:pPr marL="256032" indent="-256032">
              <a:lnSpc>
                <a:spcPct val="110000"/>
              </a:lnSpc>
              <a:spcAft>
                <a:spcPts val="1200"/>
              </a:spcAft>
              <a:buClr>
                <a:srgbClr val="F2B233"/>
              </a:buClr>
              <a:buFont typeface="Arial"/>
              <a:buChar char="●"/>
            </a:pPr>
            <a:r>
              <a:rPr b="1" sz="1500">
                <a:solidFill>
                  <a:srgbClr val="14213D"/>
                </a:solidFill>
                <a:latin typeface="Segoe UI Semibold"/>
              </a:rPr>
              <a:t>7 nhóm món:  </a:t>
            </a:r>
            <a:r>
              <a:rPr sz="1500">
                <a:solidFill>
                  <a:srgbClr val="22304A"/>
                </a:solidFill>
                <a:latin typeface="Segoe UI"/>
                <a:ea typeface="Yu Gothic"/>
              </a:rPr>
              <a:t>握り, 巻き物, 丼, 一品料理, 飲み物, デザート, 名物.</a:t>
            </a:r>
          </a:p>
          <a:p>
            <a:pPr marL="256032" indent="-256032">
              <a:lnSpc>
                <a:spcPct val="110000"/>
              </a:lnSpc>
              <a:spcAft>
                <a:spcPts val="1200"/>
              </a:spcAft>
              <a:buClr>
                <a:srgbClr val="F2B233"/>
              </a:buClr>
              <a:buFont typeface="Arial"/>
              <a:buChar char="●"/>
            </a:pPr>
            <a:r>
              <a:rPr b="1" sz="1500">
                <a:solidFill>
                  <a:srgbClr val="14213D"/>
                </a:solidFill>
                <a:latin typeface="Segoe UI Semibold"/>
              </a:rPr>
              <a:t>Chi tiết món:  </a:t>
            </a:r>
            <a:r>
              <a:rPr sz="1500">
                <a:solidFill>
                  <a:srgbClr val="22304A"/>
                </a:solidFill>
                <a:latin typeface="Segoe UI"/>
                <a:ea typeface="Yu Gothic"/>
              </a:rPr>
              <a:t>cách đọc, nghĩa, giá Yen, nguyên liệu, lưu ý dị ứng.</a:t>
            </a:r>
          </a:p>
          <a:p>
            <a:pPr marL="256032" indent="-256032">
              <a:lnSpc>
                <a:spcPct val="110000"/>
              </a:lnSpc>
              <a:spcAft>
                <a:spcPts val="1200"/>
              </a:spcAft>
              <a:buClr>
                <a:srgbClr val="F2B233"/>
              </a:buClr>
              <a:buFont typeface="Arial"/>
              <a:buChar char="●"/>
            </a:pPr>
            <a:r>
              <a:rPr b="1" sz="1500">
                <a:solidFill>
                  <a:srgbClr val="14213D"/>
                </a:solidFill>
                <a:latin typeface="Segoe UI Semibold"/>
              </a:rPr>
              <a:t>Văn hóa:  </a:t>
            </a:r>
            <a:r>
              <a:rPr sz="1500">
                <a:solidFill>
                  <a:srgbClr val="22304A"/>
                </a:solidFill>
                <a:latin typeface="Segoe UI"/>
                <a:ea typeface="Yu Gothic"/>
              </a:rPr>
              <a:t>いただきます trước bữa, ごちそうさまでした sau bữa.</a:t>
            </a:r>
          </a:p>
          <a:p>
            <a:pPr marL="256032" indent="-256032">
              <a:lnSpc>
                <a:spcPct val="110000"/>
              </a:lnSpc>
              <a:spcAft>
                <a:spcPts val="1200"/>
              </a:spcAft>
              <a:buClr>
                <a:srgbClr val="F2B233"/>
              </a:buClr>
              <a:buFont typeface="Arial"/>
              <a:buChar char="●"/>
            </a:pPr>
            <a:r>
              <a:rPr b="1" sz="1500">
                <a:solidFill>
                  <a:srgbClr val="14213D"/>
                </a:solidFill>
                <a:latin typeface="Segoe UI Semibold"/>
              </a:rPr>
              <a:t>Thanh toán:  </a:t>
            </a:r>
            <a:r>
              <a:rPr sz="1500">
                <a:solidFill>
                  <a:srgbClr val="22304A"/>
                </a:solidFill>
                <a:latin typeface="Segoe UI"/>
                <a:ea typeface="Yu Gothic"/>
              </a:rPr>
              <a:t>お会計お願いします — chưa trả tiền thì chưa rời quán.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Trung tâm luyện thi JLPT / IELTS</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13</a:t>
            </a:r>
          </a:p>
        </p:txBody>
      </p:sp>
      <p:pic>
        <p:nvPicPr>
          <p:cNvPr id="8" name="Picture 7" descr="g06_exam_hub.png"/>
          <p:cNvPicPr>
            <a:picLocks noChangeAspect="1"/>
          </p:cNvPicPr>
          <p:nvPr/>
        </p:nvPicPr>
        <p:blipFill>
          <a:blip r:embed="rId4"/>
          <a:stretch>
            <a:fillRect/>
          </a:stretch>
        </p:blipFill>
        <p:spPr>
          <a:xfrm>
            <a:off x="548640" y="1508760"/>
            <a:ext cx="5486400" cy="3086100"/>
          </a:xfrm>
          <a:prstGeom prst="rect">
            <a:avLst/>
          </a:prstGeom>
          <a:ln w="9525">
            <a:solidFill>
              <a:srgbClr val="D5DCE8"/>
            </a:solidFill>
          </a:ln>
        </p:spPr>
      </p:pic>
      <p:pic>
        <p:nvPicPr>
          <p:cNvPr id="9" name="Picture 8" descr="g07_exam_play.png"/>
          <p:cNvPicPr>
            <a:picLocks noChangeAspect="1"/>
          </p:cNvPicPr>
          <p:nvPr/>
        </p:nvPicPr>
        <p:blipFill>
          <a:blip r:embed="rId5"/>
          <a:stretch>
            <a:fillRect/>
          </a:stretch>
        </p:blipFill>
        <p:spPr>
          <a:xfrm>
            <a:off x="6153912" y="1508760"/>
            <a:ext cx="5486400" cy="3086100"/>
          </a:xfrm>
          <a:prstGeom prst="rect">
            <a:avLst/>
          </a:prstGeom>
          <a:ln w="9525">
            <a:solidFill>
              <a:srgbClr val="D5DCE8"/>
            </a:solidFill>
          </a:ln>
        </p:spPr>
      </p:pic>
      <p:sp>
        <p:nvSpPr>
          <p:cNvPr id="10" name="TextBox 9"/>
          <p:cNvSpPr txBox="1"/>
          <p:nvPr/>
        </p:nvSpPr>
        <p:spPr>
          <a:xfrm>
            <a:off x="548640"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Chọn đề [K]  </a:t>
            </a:r>
            <a:r>
              <a:rPr sz="1400" b="0" i="0">
                <a:solidFill>
                  <a:srgbClr val="22304A"/>
                </a:solidFill>
                <a:latin typeface="Segoe UI"/>
                <a:ea typeface="Yu Gothic"/>
              </a:rPr>
              <a:t>Tab JLPT/IELTS, đề nạp từ Resources/Exams; tiếp tục được lượt làm dở.</a:t>
            </a:r>
          </a:p>
        </p:txBody>
      </p:sp>
      <p:sp>
        <p:nvSpPr>
          <p:cNvPr id="11" name="TextBox 10"/>
          <p:cNvSpPr txBox="1"/>
          <p:nvPr/>
        </p:nvSpPr>
        <p:spPr>
          <a:xfrm>
            <a:off x="6153912" y="4754880"/>
            <a:ext cx="5486400" cy="1371600"/>
          </a:xfrm>
          <a:prstGeom prst="rect">
            <a:avLst/>
          </a:prstGeom>
          <a:noFill/>
        </p:spPr>
        <p:txBody>
          <a:bodyPr wrap="square" lIns="0" rIns="0" tIns="0" bIns="0" anchor="t">
            <a:spAutoFit/>
          </a:bodyPr>
          <a:lstStyle/>
          <a:p>
            <a:pPr algn="l">
              <a:lnSpc>
                <a:spcPct val="110000"/>
              </a:lnSpc>
              <a:spcAft>
                <a:spcPts val="0"/>
              </a:spcAft>
            </a:pPr>
            <a:r>
              <a:rPr sz="1400" b="1" i="0">
                <a:solidFill>
                  <a:srgbClr val="14213D"/>
                </a:solidFill>
                <a:latin typeface="Segoe UI Semibold"/>
                <a:ea typeface="Yu Gothic"/>
              </a:rPr>
              <a:t>Làm bài  </a:t>
            </a:r>
            <a:r>
              <a:rPr sz="1400" b="0" i="0">
                <a:solidFill>
                  <a:srgbClr val="22304A"/>
                </a:solidFill>
                <a:latin typeface="Segoe UI"/>
                <a:ea typeface="Yu Gothic"/>
              </a:rPr>
              <a:t>Bảng câu hỏi, đồng hồ đếm ngược, Trước/Sau, Nộp phần; chấm theo ngưỡng JLPT 80 tổng, 19 mỗi phần.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02 · SẢN PHẨM</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Cài đặt, hồ sơ và cộng đồng</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14</a:t>
            </a:r>
          </a:p>
        </p:txBody>
      </p:sp>
      <p:pic>
        <p:nvPicPr>
          <p:cNvPr id="8" name="Picture 7" descr="07_settings.png"/>
          <p:cNvPicPr>
            <a:picLocks noChangeAspect="1"/>
          </p:cNvPicPr>
          <p:nvPr/>
        </p:nvPicPr>
        <p:blipFill>
          <a:blip r:embed="rId4"/>
          <a:stretch>
            <a:fillRect/>
          </a:stretch>
        </p:blipFill>
        <p:spPr>
          <a:xfrm>
            <a:off x="548640" y="1508760"/>
            <a:ext cx="3657600" cy="2057400"/>
          </a:xfrm>
          <a:prstGeom prst="rect">
            <a:avLst/>
          </a:prstGeom>
          <a:ln w="9525">
            <a:solidFill>
              <a:srgbClr val="D5DCE8"/>
            </a:solidFill>
          </a:ln>
        </p:spPr>
      </p:pic>
      <p:pic>
        <p:nvPicPr>
          <p:cNvPr id="9" name="Picture 8" descr="m04_profile.png"/>
          <p:cNvPicPr>
            <a:picLocks noChangeAspect="1"/>
          </p:cNvPicPr>
          <p:nvPr/>
        </p:nvPicPr>
        <p:blipFill>
          <a:blip r:embed="rId5"/>
          <a:stretch>
            <a:fillRect/>
          </a:stretch>
        </p:blipFill>
        <p:spPr>
          <a:xfrm>
            <a:off x="4270248" y="1508760"/>
            <a:ext cx="3657600" cy="2057400"/>
          </a:xfrm>
          <a:prstGeom prst="rect">
            <a:avLst/>
          </a:prstGeom>
          <a:ln w="9525">
            <a:solidFill>
              <a:srgbClr val="D5DCE8"/>
            </a:solidFill>
          </a:ln>
        </p:spPr>
      </p:pic>
      <p:pic>
        <p:nvPicPr>
          <p:cNvPr id="10" name="Picture 9" descr="m02_about.png"/>
          <p:cNvPicPr>
            <a:picLocks noChangeAspect="1"/>
          </p:cNvPicPr>
          <p:nvPr/>
        </p:nvPicPr>
        <p:blipFill>
          <a:blip r:embed="rId6"/>
          <a:stretch>
            <a:fillRect/>
          </a:stretch>
        </p:blipFill>
        <p:spPr>
          <a:xfrm>
            <a:off x="7982712" y="1508760"/>
            <a:ext cx="3657600" cy="2057400"/>
          </a:xfrm>
          <a:prstGeom prst="rect">
            <a:avLst/>
          </a:prstGeom>
          <a:ln w="9525">
            <a:solidFill>
              <a:srgbClr val="D5DCE8"/>
            </a:solidFill>
          </a:ln>
        </p:spPr>
      </p:pic>
      <p:sp>
        <p:nvSpPr>
          <p:cNvPr id="11" name="TextBox 10"/>
          <p:cNvSpPr txBox="1"/>
          <p:nvPr/>
        </p:nvSpPr>
        <p:spPr>
          <a:xfrm>
            <a:off x="548640" y="3749039"/>
            <a:ext cx="3657600" cy="365760"/>
          </a:xfrm>
          <a:prstGeom prst="rect">
            <a:avLst/>
          </a:prstGeom>
          <a:noFill/>
        </p:spPr>
        <p:txBody>
          <a:bodyPr wrap="square" lIns="0" rIns="0" tIns="0" bIns="0" anchor="t">
            <a:spAutoFit/>
          </a:bodyPr>
          <a:lstStyle/>
          <a:p>
            <a:pPr algn="l">
              <a:lnSpc>
                <a:spcPct val="110000"/>
              </a:lnSpc>
              <a:spcAft>
                <a:spcPts val="0"/>
              </a:spcAft>
            </a:pPr>
            <a:r>
              <a:rPr sz="1800" b="0" i="0">
                <a:solidFill>
                  <a:srgbClr val="14213D"/>
                </a:solidFill>
                <a:latin typeface="Segoe UI Semibold"/>
                <a:ea typeface="Yu Gothic"/>
              </a:rPr>
              <a:t>Cài đặt</a:t>
            </a:r>
          </a:p>
        </p:txBody>
      </p:sp>
      <p:sp>
        <p:nvSpPr>
          <p:cNvPr id="12" name="TextBox 11"/>
          <p:cNvSpPr txBox="1"/>
          <p:nvPr/>
        </p:nvSpPr>
        <p:spPr>
          <a:xfrm>
            <a:off x="548640" y="4160520"/>
            <a:ext cx="3657600" cy="73152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Âm lượng, ngôn ngữ, đổi phím điều khiển</a:t>
            </a:r>
          </a:p>
        </p:txBody>
      </p:sp>
      <p:sp>
        <p:nvSpPr>
          <p:cNvPr id="13" name="TextBox 12"/>
          <p:cNvSpPr txBox="1"/>
          <p:nvPr/>
        </p:nvSpPr>
        <p:spPr>
          <a:xfrm>
            <a:off x="4270248" y="3749039"/>
            <a:ext cx="3657600" cy="365760"/>
          </a:xfrm>
          <a:prstGeom prst="rect">
            <a:avLst/>
          </a:prstGeom>
          <a:noFill/>
        </p:spPr>
        <p:txBody>
          <a:bodyPr wrap="square" lIns="0" rIns="0" tIns="0" bIns="0" anchor="t">
            <a:spAutoFit/>
          </a:bodyPr>
          <a:lstStyle/>
          <a:p>
            <a:pPr algn="l">
              <a:lnSpc>
                <a:spcPct val="110000"/>
              </a:lnSpc>
              <a:spcAft>
                <a:spcPts val="0"/>
              </a:spcAft>
            </a:pPr>
            <a:r>
              <a:rPr sz="1800" b="0" i="0">
                <a:solidFill>
                  <a:srgbClr val="14213D"/>
                </a:solidFill>
                <a:latin typeface="Segoe UI Semibold"/>
                <a:ea typeface="Yu Gothic"/>
              </a:rPr>
              <a:t>Hồ sơ</a:t>
            </a:r>
          </a:p>
        </p:txBody>
      </p:sp>
      <p:sp>
        <p:nvSpPr>
          <p:cNvPr id="14" name="TextBox 13"/>
          <p:cNvSpPr txBox="1"/>
          <p:nvPr/>
        </p:nvSpPr>
        <p:spPr>
          <a:xfrm>
            <a:off x="4270248" y="4160520"/>
            <a:ext cx="3657600" cy="73152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Cấp độ, XP, tình huống đã hoàn thành</a:t>
            </a:r>
          </a:p>
        </p:txBody>
      </p:sp>
      <p:sp>
        <p:nvSpPr>
          <p:cNvPr id="15" name="TextBox 14"/>
          <p:cNvSpPr txBox="1"/>
          <p:nvPr/>
        </p:nvSpPr>
        <p:spPr>
          <a:xfrm>
            <a:off x="7982712" y="3749039"/>
            <a:ext cx="3657600" cy="365760"/>
          </a:xfrm>
          <a:prstGeom prst="rect">
            <a:avLst/>
          </a:prstGeom>
          <a:noFill/>
        </p:spPr>
        <p:txBody>
          <a:bodyPr wrap="square" lIns="0" rIns="0" tIns="0" bIns="0" anchor="t">
            <a:spAutoFit/>
          </a:bodyPr>
          <a:lstStyle/>
          <a:p>
            <a:pPr algn="l">
              <a:lnSpc>
                <a:spcPct val="110000"/>
              </a:lnSpc>
              <a:spcAft>
                <a:spcPts val="0"/>
              </a:spcAft>
            </a:pPr>
            <a:r>
              <a:rPr sz="1800" b="0" i="0">
                <a:solidFill>
                  <a:srgbClr val="14213D"/>
                </a:solidFill>
                <a:latin typeface="Segoe UI Semibold"/>
                <a:ea typeface="Yu Gothic"/>
              </a:rPr>
              <a:t>Về tôi</a:t>
            </a:r>
          </a:p>
        </p:txBody>
      </p:sp>
      <p:sp>
        <p:nvSpPr>
          <p:cNvPr id="16" name="TextBox 15"/>
          <p:cNvSpPr txBox="1"/>
          <p:nvPr/>
        </p:nvSpPr>
        <p:spPr>
          <a:xfrm>
            <a:off x="7982712" y="4160520"/>
            <a:ext cx="3657600" cy="73152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Tác giả, thư viện ảnh, nguồn tài nguyên</a:t>
            </a:r>
          </a:p>
        </p:txBody>
      </p:sp>
      <p:sp>
        <p:nvSpPr>
          <p:cNvPr id="17" name="TextBox 16"/>
          <p:cNvSpPr txBox="1"/>
          <p:nvPr/>
        </p:nvSpPr>
        <p:spPr>
          <a:xfrm>
            <a:off x="548640" y="5029200"/>
            <a:ext cx="11064240" cy="1097280"/>
          </a:xfrm>
          <a:prstGeom prst="rect">
            <a:avLst/>
          </a:prstGeom>
          <a:noFill/>
        </p:spPr>
        <p:txBody>
          <a:bodyPr wrap="square" lIns="0" rIns="0" tIns="0" bIns="0">
            <a:spAutoFit/>
          </a:bodyPr>
          <a:lstStyle/>
          <a:p>
            <a:pPr marL="256032" indent="-256032">
              <a:lnSpc>
                <a:spcPct val="110000"/>
              </a:lnSpc>
              <a:spcAft>
                <a:spcPts val="800"/>
              </a:spcAft>
              <a:buClr>
                <a:srgbClr val="F2B233"/>
              </a:buClr>
              <a:buFont typeface="Arial"/>
              <a:buChar char="●"/>
            </a:pPr>
            <a:r>
              <a:rPr b="1" sz="1400">
                <a:solidFill>
                  <a:srgbClr val="14213D"/>
                </a:solidFill>
                <a:latin typeface="Segoe UI Semibold"/>
              </a:rPr>
              <a:t>Online:  </a:t>
            </a:r>
            <a:r>
              <a:rPr sz="1400">
                <a:solidFill>
                  <a:srgbClr val="22304A"/>
                </a:solidFill>
                <a:latin typeface="Segoe UI"/>
                <a:ea typeface="Yu Gothic"/>
              </a:rPr>
              <a:t>đăng nhập, bạn bè, xếp hạng, chat và co-op học cùng bạn qua Supabase; game vẫn chơi đầy đủ ở chế độ offline.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logo_dark.png"/>
          <p:cNvPicPr>
            <a:picLocks noChangeAspect="1"/>
          </p:cNvPicPr>
          <p:nvPr/>
        </p:nvPicPr>
        <p:blipFill>
          <a:blip r:embed="rId2"/>
          <a:stretch>
            <a:fillRect/>
          </a:stretch>
        </p:blipFill>
        <p:spPr>
          <a:xfrm>
            <a:off x="640080" y="548640"/>
            <a:ext cx="2040940" cy="566928"/>
          </a:xfrm>
          <a:prstGeom prst="rect">
            <a:avLst/>
          </a:prstGeom>
        </p:spPr>
      </p:pic>
      <p:sp>
        <p:nvSpPr>
          <p:cNvPr id="3" name="TextBox 2"/>
          <p:cNvSpPr txBox="1"/>
          <p:nvPr/>
        </p:nvSpPr>
        <p:spPr>
          <a:xfrm>
            <a:off x="640080" y="2057400"/>
            <a:ext cx="5486400" cy="1463040"/>
          </a:xfrm>
          <a:prstGeom prst="rect">
            <a:avLst/>
          </a:prstGeom>
          <a:noFill/>
        </p:spPr>
        <p:txBody>
          <a:bodyPr wrap="square" lIns="0" rIns="0" tIns="0" bIns="0" anchor="t">
            <a:spAutoFit/>
          </a:bodyPr>
          <a:lstStyle/>
          <a:p>
            <a:pPr algn="l">
              <a:lnSpc>
                <a:spcPct val="110000"/>
              </a:lnSpc>
              <a:spcAft>
                <a:spcPts val="0"/>
              </a:spcAft>
            </a:pPr>
            <a:r>
              <a:rPr sz="11000" b="0" i="0">
                <a:solidFill>
                  <a:srgbClr val="F2B233"/>
                </a:solidFill>
                <a:latin typeface="Segoe UI Semibold"/>
                <a:ea typeface="Yu Gothic"/>
              </a:rPr>
              <a:t>03</a:t>
            </a:r>
          </a:p>
        </p:txBody>
      </p:sp>
      <p:sp>
        <p:nvSpPr>
          <p:cNvPr id="4" name="TextBox 3"/>
          <p:cNvSpPr txBox="1"/>
          <p:nvPr/>
        </p:nvSpPr>
        <p:spPr>
          <a:xfrm>
            <a:off x="640080" y="3611880"/>
            <a:ext cx="5486400" cy="1280160"/>
          </a:xfrm>
          <a:prstGeom prst="rect">
            <a:avLst/>
          </a:prstGeom>
          <a:noFill/>
        </p:spPr>
        <p:txBody>
          <a:bodyPr wrap="square" lIns="0" rIns="0" tIns="0" bIns="0" anchor="t">
            <a:spAutoFit/>
          </a:bodyPr>
          <a:lstStyle/>
          <a:p>
            <a:pPr algn="l">
              <a:lnSpc>
                <a:spcPct val="110000"/>
              </a:lnSpc>
              <a:spcAft>
                <a:spcPts val="0"/>
              </a:spcAft>
            </a:pPr>
            <a:r>
              <a:rPr sz="4000" b="0" i="0">
                <a:solidFill>
                  <a:srgbClr val="FFFFFF"/>
                </a:solidFill>
                <a:latin typeface="Segoe UI Semibold"/>
                <a:ea typeface="Yu Gothic"/>
              </a:rPr>
              <a:t>Công cụ làm game</a:t>
            </a:r>
          </a:p>
        </p:txBody>
      </p:sp>
      <p:sp>
        <p:nvSpPr>
          <p:cNvPr id="5" name="TextBox 4"/>
          <p:cNvSpPr txBox="1"/>
          <p:nvPr/>
        </p:nvSpPr>
        <p:spPr>
          <a:xfrm>
            <a:off x="640080" y="4800600"/>
            <a:ext cx="5303520" cy="914400"/>
          </a:xfrm>
          <a:prstGeom prst="rect">
            <a:avLst/>
          </a:prstGeom>
          <a:noFill/>
        </p:spPr>
        <p:txBody>
          <a:bodyPr wrap="square" lIns="0" rIns="0" tIns="0" bIns="0" anchor="t">
            <a:spAutoFit/>
          </a:bodyPr>
          <a:lstStyle/>
          <a:p>
            <a:pPr algn="l">
              <a:lnSpc>
                <a:spcPct val="110000"/>
              </a:lnSpc>
              <a:spcAft>
                <a:spcPts val="0"/>
              </a:spcAft>
            </a:pPr>
            <a:r>
              <a:rPr sz="1600" b="0" i="0">
                <a:solidFill>
                  <a:srgbClr val="C8D3E6"/>
                </a:solidFill>
                <a:latin typeface="Segoe UI"/>
                <a:ea typeface="Yu Gothic"/>
              </a:rPr>
              <a:t>Engine, ngôn ngữ, dữ liệu và dịch vụ được dùng để xây dựng NihongoLife.</a:t>
            </a:r>
          </a:p>
        </p:txBody>
      </p:sp>
      <p:sp>
        <p:nvSpPr>
          <p:cNvPr id="6" name="TextBox 5"/>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15</a:t>
            </a:r>
          </a:p>
        </p:txBody>
      </p:sp>
      <p:pic>
        <p:nvPicPr>
          <p:cNvPr id="7" name="Picture 6" descr="s02_sushi.png"/>
          <p:cNvPicPr>
            <a:picLocks noChangeAspect="1"/>
          </p:cNvPicPr>
          <p:nvPr/>
        </p:nvPicPr>
        <p:blipFill>
          <a:blip r:embed="rId4"/>
          <a:srcRect l="27500" r="27500"/>
          <a:stretch>
            <a:fillRect/>
          </a:stretch>
        </p:blipFill>
        <p:spPr>
          <a:xfrm>
            <a:off x="6705295" y="0"/>
            <a:ext cx="54864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03 · CÔNG CỤ LÀM GAME</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Công nghệ sử dụng</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16</a:t>
            </a:r>
          </a:p>
        </p:txBody>
      </p:sp>
      <p:sp>
        <p:nvSpPr>
          <p:cNvPr id="8" name="Rounded Rectangle 7"/>
          <p:cNvSpPr/>
          <p:nvPr/>
        </p:nvSpPr>
        <p:spPr>
          <a:xfrm>
            <a:off x="548640" y="160020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59" y="1874519"/>
            <a:ext cx="640080" cy="640080"/>
          </a:xfrm>
          <a:prstGeom prst="roundRect">
            <a:avLst>
              <a:gd name="adj" fmla="val 25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874519"/>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U</a:t>
            </a:r>
          </a:p>
        </p:txBody>
      </p:sp>
      <p:sp>
        <p:nvSpPr>
          <p:cNvPr id="11" name="TextBox 10"/>
          <p:cNvSpPr txBox="1"/>
          <p:nvPr/>
        </p:nvSpPr>
        <p:spPr>
          <a:xfrm>
            <a:off x="822959" y="260604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Unity 6 · URP</a:t>
            </a:r>
          </a:p>
        </p:txBody>
      </p:sp>
      <p:sp>
        <p:nvSpPr>
          <p:cNvPr id="12" name="TextBox 11"/>
          <p:cNvSpPr txBox="1"/>
          <p:nvPr/>
        </p:nvSpPr>
        <p:spPr>
          <a:xfrm>
            <a:off x="822959" y="301752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Engine 3D và render pipeline (6000.3.12f1)</a:t>
            </a:r>
          </a:p>
        </p:txBody>
      </p:sp>
      <p:sp>
        <p:nvSpPr>
          <p:cNvPr id="13" name="Rounded Rectangle 12"/>
          <p:cNvSpPr/>
          <p:nvPr/>
        </p:nvSpPr>
        <p:spPr>
          <a:xfrm>
            <a:off x="3355848" y="160020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30168" y="1874519"/>
            <a:ext cx="640080" cy="640080"/>
          </a:xfrm>
          <a:prstGeom prst="roundRect">
            <a:avLst>
              <a:gd name="adj" fmla="val 25000"/>
            </a:avLst>
          </a:prstGeom>
          <a:solidFill>
            <a:srgbClr val="5B2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0168" y="1874519"/>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C</a:t>
            </a:r>
          </a:p>
        </p:txBody>
      </p:sp>
      <p:sp>
        <p:nvSpPr>
          <p:cNvPr id="16" name="TextBox 15"/>
          <p:cNvSpPr txBox="1"/>
          <p:nvPr/>
        </p:nvSpPr>
        <p:spPr>
          <a:xfrm>
            <a:off x="3630168" y="260604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C# / .NET</a:t>
            </a:r>
          </a:p>
        </p:txBody>
      </p:sp>
      <p:sp>
        <p:nvSpPr>
          <p:cNvPr id="17" name="TextBox 16"/>
          <p:cNvSpPr txBox="1"/>
          <p:nvPr/>
        </p:nvSpPr>
        <p:spPr>
          <a:xfrm>
            <a:off x="3630168" y="301752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Toàn bộ gameplay, UI và dịch vụ</a:t>
            </a:r>
          </a:p>
        </p:txBody>
      </p:sp>
      <p:sp>
        <p:nvSpPr>
          <p:cNvPr id="18" name="Rounded Rectangle 17"/>
          <p:cNvSpPr/>
          <p:nvPr/>
        </p:nvSpPr>
        <p:spPr>
          <a:xfrm>
            <a:off x="6163055" y="160020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37375" y="1874519"/>
            <a:ext cx="640080" cy="640080"/>
          </a:xfrm>
          <a:prstGeom prst="roundRect">
            <a:avLst>
              <a:gd name="adj" fmla="val 25000"/>
            </a:avLst>
          </a:prstGeom>
          <a:solidFill>
            <a:srgbClr val="9869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5" y="1874519"/>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S</a:t>
            </a:r>
          </a:p>
        </p:txBody>
      </p:sp>
      <p:sp>
        <p:nvSpPr>
          <p:cNvPr id="21" name="TextBox 20"/>
          <p:cNvSpPr txBox="1"/>
          <p:nvPr/>
        </p:nvSpPr>
        <p:spPr>
          <a:xfrm>
            <a:off x="6437375" y="260604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ScriptableObject</a:t>
            </a:r>
          </a:p>
        </p:txBody>
      </p:sp>
      <p:sp>
        <p:nvSpPr>
          <p:cNvPr id="22" name="TextBox 21"/>
          <p:cNvSpPr txBox="1"/>
          <p:nvPr/>
        </p:nvSpPr>
        <p:spPr>
          <a:xfrm>
            <a:off x="6437375" y="301752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Kịch bản, đề thi, thực đơn dưới dạng dữ liệu</a:t>
            </a:r>
          </a:p>
        </p:txBody>
      </p:sp>
      <p:sp>
        <p:nvSpPr>
          <p:cNvPr id="23" name="Rounded Rectangle 22"/>
          <p:cNvSpPr/>
          <p:nvPr/>
        </p:nvSpPr>
        <p:spPr>
          <a:xfrm>
            <a:off x="8970263" y="160020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44584" y="1874519"/>
            <a:ext cx="640080" cy="640080"/>
          </a:xfrm>
          <a:prstGeom prst="roundRect">
            <a:avLst>
              <a:gd name="adj" fmla="val 25000"/>
            </a:avLst>
          </a:prstGeom>
          <a:solidFill>
            <a:srgbClr val="1F3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874519"/>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T</a:t>
            </a:r>
          </a:p>
        </p:txBody>
      </p:sp>
      <p:sp>
        <p:nvSpPr>
          <p:cNvPr id="26" name="TextBox 25"/>
          <p:cNvSpPr txBox="1"/>
          <p:nvPr/>
        </p:nvSpPr>
        <p:spPr>
          <a:xfrm>
            <a:off x="9244584" y="260604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TextMeshPro · Noto Sans JP</a:t>
            </a:r>
          </a:p>
        </p:txBody>
      </p:sp>
      <p:sp>
        <p:nvSpPr>
          <p:cNvPr id="27" name="TextBox 26"/>
          <p:cNvSpPr txBox="1"/>
          <p:nvPr/>
        </p:nvSpPr>
        <p:spPr>
          <a:xfrm>
            <a:off x="9244584" y="301752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Chữ Việt, kana và kanji sắc nét</a:t>
            </a:r>
          </a:p>
        </p:txBody>
      </p:sp>
      <p:sp>
        <p:nvSpPr>
          <p:cNvPr id="28" name="Rounded Rectangle 27"/>
          <p:cNvSpPr/>
          <p:nvPr/>
        </p:nvSpPr>
        <p:spPr>
          <a:xfrm>
            <a:off x="548640" y="393192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2959" y="4206240"/>
            <a:ext cx="640080" cy="640080"/>
          </a:xfrm>
          <a:prstGeom prst="roundRect">
            <a:avLst>
              <a:gd name="adj" fmla="val 25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59" y="4206240"/>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S</a:t>
            </a:r>
          </a:p>
        </p:txBody>
      </p:sp>
      <p:sp>
        <p:nvSpPr>
          <p:cNvPr id="31" name="TextBox 30"/>
          <p:cNvSpPr txBox="1"/>
          <p:nvPr/>
        </p:nvSpPr>
        <p:spPr>
          <a:xfrm>
            <a:off x="822959" y="493776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Supabase</a:t>
            </a:r>
          </a:p>
        </p:txBody>
      </p:sp>
      <p:sp>
        <p:nvSpPr>
          <p:cNvPr id="32" name="TextBox 31"/>
          <p:cNvSpPr txBox="1"/>
          <p:nvPr/>
        </p:nvSpPr>
        <p:spPr>
          <a:xfrm>
            <a:off x="822959" y="534924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Đăng nhập, lưu tiến trình cloud, chat, xếp hạng</a:t>
            </a:r>
          </a:p>
        </p:txBody>
      </p:sp>
      <p:sp>
        <p:nvSpPr>
          <p:cNvPr id="33" name="Rounded Rectangle 32"/>
          <p:cNvSpPr/>
          <p:nvPr/>
        </p:nvSpPr>
        <p:spPr>
          <a:xfrm>
            <a:off x="3355848" y="393192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630168" y="4206240"/>
            <a:ext cx="640080" cy="640080"/>
          </a:xfrm>
          <a:prstGeom prst="roundRect">
            <a:avLst>
              <a:gd name="adj" fmla="val 25000"/>
            </a:avLst>
          </a:prstGeom>
          <a:solidFill>
            <a:srgbClr val="3D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30168" y="4206240"/>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G</a:t>
            </a:r>
          </a:p>
        </p:txBody>
      </p:sp>
      <p:sp>
        <p:nvSpPr>
          <p:cNvPr id="36" name="TextBox 35"/>
          <p:cNvSpPr txBox="1"/>
          <p:nvPr/>
        </p:nvSpPr>
        <p:spPr>
          <a:xfrm>
            <a:off x="3630168" y="493776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Gemini API</a:t>
            </a:r>
          </a:p>
        </p:txBody>
      </p:sp>
      <p:sp>
        <p:nvSpPr>
          <p:cNvPr id="37" name="TextBox 36"/>
          <p:cNvSpPr txBox="1"/>
          <p:nvPr/>
        </p:nvSpPr>
        <p:spPr>
          <a:xfrm>
            <a:off x="3630168" y="534924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Chấm Writing / Speaking trong luyện thi</a:t>
            </a:r>
          </a:p>
        </p:txBody>
      </p:sp>
      <p:sp>
        <p:nvSpPr>
          <p:cNvPr id="38" name="Rounded Rectangle 37"/>
          <p:cNvSpPr/>
          <p:nvPr/>
        </p:nvSpPr>
        <p:spPr>
          <a:xfrm>
            <a:off x="6163055" y="393192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37375" y="4206240"/>
            <a:ext cx="640080" cy="640080"/>
          </a:xfrm>
          <a:prstGeom prst="roundRect">
            <a:avLst>
              <a:gd name="adj" fmla="val 2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7375" y="4206240"/>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A</a:t>
            </a:r>
          </a:p>
        </p:txBody>
      </p:sp>
      <p:sp>
        <p:nvSpPr>
          <p:cNvPr id="41" name="TextBox 40"/>
          <p:cNvSpPr txBox="1"/>
          <p:nvPr/>
        </p:nvSpPr>
        <p:spPr>
          <a:xfrm>
            <a:off x="6437375" y="493776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Agora</a:t>
            </a:r>
          </a:p>
        </p:txBody>
      </p:sp>
      <p:sp>
        <p:nvSpPr>
          <p:cNvPr id="42" name="TextBox 41"/>
          <p:cNvSpPr txBox="1"/>
          <p:nvPr/>
        </p:nvSpPr>
        <p:spPr>
          <a:xfrm>
            <a:off x="6437375" y="534924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Voice chat khi học cùng bạn</a:t>
            </a:r>
          </a:p>
        </p:txBody>
      </p:sp>
      <p:sp>
        <p:nvSpPr>
          <p:cNvPr id="43" name="Rounded Rectangle 42"/>
          <p:cNvSpPr/>
          <p:nvPr/>
        </p:nvSpPr>
        <p:spPr>
          <a:xfrm>
            <a:off x="8970263" y="3931920"/>
            <a:ext cx="2606040" cy="2103120"/>
          </a:xfrm>
          <a:prstGeom prst="roundRect">
            <a:avLst>
              <a:gd name="adj" fmla="val 8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244584" y="4206240"/>
            <a:ext cx="640080" cy="640080"/>
          </a:xfrm>
          <a:prstGeom prst="roundRect">
            <a:avLst>
              <a:gd name="adj" fmla="val 25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44584" y="4206240"/>
            <a:ext cx="640080" cy="640080"/>
          </a:xfrm>
          <a:prstGeom prst="rect">
            <a:avLst/>
          </a:prstGeom>
          <a:noFill/>
        </p:spPr>
        <p:txBody>
          <a:bodyPr wrap="square" lIns="0" rIns="0" tIns="0" bIns="0" anchor="ctr">
            <a:spAutoFit/>
          </a:bodyPr>
          <a:lstStyle/>
          <a:p>
            <a:pPr algn="ctr">
              <a:lnSpc>
                <a:spcPct val="110000"/>
              </a:lnSpc>
              <a:spcAft>
                <a:spcPts val="0"/>
              </a:spcAft>
            </a:pPr>
            <a:r>
              <a:rPr sz="2200" b="0" i="0">
                <a:solidFill>
                  <a:srgbClr val="FFFFFF"/>
                </a:solidFill>
                <a:latin typeface="Segoe UI Semibold"/>
                <a:ea typeface="Yu Gothic"/>
              </a:rPr>
              <a:t>G</a:t>
            </a:r>
          </a:p>
        </p:txBody>
      </p:sp>
      <p:sp>
        <p:nvSpPr>
          <p:cNvPr id="46" name="TextBox 45"/>
          <p:cNvSpPr txBox="1"/>
          <p:nvPr/>
        </p:nvSpPr>
        <p:spPr>
          <a:xfrm>
            <a:off x="9244584" y="4937760"/>
            <a:ext cx="2194560" cy="411480"/>
          </a:xfrm>
          <a:prstGeom prst="rect">
            <a:avLst/>
          </a:prstGeom>
          <a:noFill/>
        </p:spPr>
        <p:txBody>
          <a:bodyPr wrap="square" lIns="0" rIns="0" tIns="0" bIns="0" anchor="t">
            <a:spAutoFit/>
          </a:bodyPr>
          <a:lstStyle/>
          <a:p>
            <a:pPr algn="l">
              <a:lnSpc>
                <a:spcPct val="110000"/>
              </a:lnSpc>
              <a:spcAft>
                <a:spcPts val="0"/>
              </a:spcAft>
            </a:pPr>
            <a:r>
              <a:rPr sz="1500" b="0" i="0">
                <a:solidFill>
                  <a:srgbClr val="14213D"/>
                </a:solidFill>
                <a:latin typeface="Segoe UI Semibold"/>
                <a:ea typeface="Yu Gothic"/>
              </a:rPr>
              <a:t>Git · GitHub</a:t>
            </a:r>
          </a:p>
        </p:txBody>
      </p:sp>
      <p:sp>
        <p:nvSpPr>
          <p:cNvPr id="47" name="TextBox 46"/>
          <p:cNvSpPr txBox="1"/>
          <p:nvPr/>
        </p:nvSpPr>
        <p:spPr>
          <a:xfrm>
            <a:off x="9244584" y="5349240"/>
            <a:ext cx="2194560" cy="640080"/>
          </a:xfrm>
          <a:prstGeom prst="rect">
            <a:avLst/>
          </a:prstGeom>
          <a:noFill/>
        </p:spPr>
        <p:txBody>
          <a:bodyPr wrap="square" lIns="0" rIns="0" tIns="0" bIns="0" anchor="t">
            <a:spAutoFit/>
          </a:bodyPr>
          <a:lstStyle/>
          <a:p>
            <a:pPr algn="l">
              <a:lnSpc>
                <a:spcPct val="110000"/>
              </a:lnSpc>
              <a:spcAft>
                <a:spcPts val="0"/>
              </a:spcAft>
            </a:pPr>
            <a:r>
              <a:rPr sz="1200" b="0" i="0">
                <a:solidFill>
                  <a:srgbClr val="5B6B82"/>
                </a:solidFill>
                <a:latin typeface="Segoe UI"/>
                <a:ea typeface="Yu Gothic"/>
              </a:rPr>
              <a:t>Quản lý mã nguồn, làm việc nhóm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logo_dark.png"/>
          <p:cNvPicPr>
            <a:picLocks noChangeAspect="1"/>
          </p:cNvPicPr>
          <p:nvPr/>
        </p:nvPicPr>
        <p:blipFill>
          <a:blip r:embed="rId2"/>
          <a:stretch>
            <a:fillRect/>
          </a:stretch>
        </p:blipFill>
        <p:spPr>
          <a:xfrm>
            <a:off x="640080" y="548640"/>
            <a:ext cx="2040940" cy="566928"/>
          </a:xfrm>
          <a:prstGeom prst="rect">
            <a:avLst/>
          </a:prstGeom>
        </p:spPr>
      </p:pic>
      <p:sp>
        <p:nvSpPr>
          <p:cNvPr id="3" name="TextBox 2"/>
          <p:cNvSpPr txBox="1"/>
          <p:nvPr/>
        </p:nvSpPr>
        <p:spPr>
          <a:xfrm>
            <a:off x="640080" y="2057400"/>
            <a:ext cx="5486400" cy="1463040"/>
          </a:xfrm>
          <a:prstGeom prst="rect">
            <a:avLst/>
          </a:prstGeom>
          <a:noFill/>
        </p:spPr>
        <p:txBody>
          <a:bodyPr wrap="square" lIns="0" rIns="0" tIns="0" bIns="0" anchor="t">
            <a:spAutoFit/>
          </a:bodyPr>
          <a:lstStyle/>
          <a:p>
            <a:pPr algn="l">
              <a:lnSpc>
                <a:spcPct val="110000"/>
              </a:lnSpc>
              <a:spcAft>
                <a:spcPts val="0"/>
              </a:spcAft>
            </a:pPr>
            <a:r>
              <a:rPr sz="11000" b="0" i="0">
                <a:solidFill>
                  <a:srgbClr val="F2B233"/>
                </a:solidFill>
                <a:latin typeface="Segoe UI Semibold"/>
                <a:ea typeface="Yu Gothic"/>
              </a:rPr>
              <a:t>04</a:t>
            </a:r>
          </a:p>
        </p:txBody>
      </p:sp>
      <p:sp>
        <p:nvSpPr>
          <p:cNvPr id="4" name="TextBox 3"/>
          <p:cNvSpPr txBox="1"/>
          <p:nvPr/>
        </p:nvSpPr>
        <p:spPr>
          <a:xfrm>
            <a:off x="640080" y="3611880"/>
            <a:ext cx="5486400" cy="1280160"/>
          </a:xfrm>
          <a:prstGeom prst="rect">
            <a:avLst/>
          </a:prstGeom>
          <a:noFill/>
        </p:spPr>
        <p:txBody>
          <a:bodyPr wrap="square" lIns="0" rIns="0" tIns="0" bIns="0" anchor="t">
            <a:spAutoFit/>
          </a:bodyPr>
          <a:lstStyle/>
          <a:p>
            <a:pPr algn="l">
              <a:lnSpc>
                <a:spcPct val="110000"/>
              </a:lnSpc>
              <a:spcAft>
                <a:spcPts val="0"/>
              </a:spcAft>
            </a:pPr>
            <a:r>
              <a:rPr sz="4000" b="0" i="0">
                <a:solidFill>
                  <a:srgbClr val="FFFFFF"/>
                </a:solidFill>
                <a:latin typeface="Segoe UI Semibold"/>
                <a:ea typeface="Yu Gothic"/>
              </a:rPr>
              <a:t>Phân tích &amp; thiết kế</a:t>
            </a:r>
          </a:p>
        </p:txBody>
      </p:sp>
      <p:sp>
        <p:nvSpPr>
          <p:cNvPr id="5" name="TextBox 4"/>
          <p:cNvSpPr txBox="1"/>
          <p:nvPr/>
        </p:nvSpPr>
        <p:spPr>
          <a:xfrm>
            <a:off x="640080" y="4800600"/>
            <a:ext cx="5303520" cy="914400"/>
          </a:xfrm>
          <a:prstGeom prst="rect">
            <a:avLst/>
          </a:prstGeom>
          <a:noFill/>
        </p:spPr>
        <p:txBody>
          <a:bodyPr wrap="square" lIns="0" rIns="0" tIns="0" bIns="0" anchor="t">
            <a:spAutoFit/>
          </a:bodyPr>
          <a:lstStyle/>
          <a:p>
            <a:pPr algn="l">
              <a:lnSpc>
                <a:spcPct val="110000"/>
              </a:lnSpc>
              <a:spcAft>
                <a:spcPts val="0"/>
              </a:spcAft>
            </a:pPr>
            <a:r>
              <a:rPr sz="1600" b="0" i="0">
                <a:solidFill>
                  <a:srgbClr val="C8D3E6"/>
                </a:solidFill>
                <a:latin typeface="Segoe UI"/>
                <a:ea typeface="Yu Gothic"/>
              </a:rPr>
              <a:t>Use case, activity diagram, kiến trúc phân lớp và kiểm thử.</a:t>
            </a:r>
          </a:p>
        </p:txBody>
      </p:sp>
      <p:sp>
        <p:nvSpPr>
          <p:cNvPr id="6" name="TextBox 5"/>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17</a:t>
            </a:r>
          </a:p>
        </p:txBody>
      </p:sp>
      <p:pic>
        <p:nvPicPr>
          <p:cNvPr id="7" name="Picture 6" descr="s03_classroom.png"/>
          <p:cNvPicPr>
            <a:picLocks noChangeAspect="1"/>
          </p:cNvPicPr>
          <p:nvPr/>
        </p:nvPicPr>
        <p:blipFill>
          <a:blip r:embed="rId4"/>
          <a:srcRect l="27500" r="27500"/>
          <a:stretch>
            <a:fillRect/>
          </a:stretch>
        </p:blipFill>
        <p:spPr>
          <a:xfrm>
            <a:off x="6705295" y="0"/>
            <a:ext cx="54864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Use case chính</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18</a:t>
            </a:r>
          </a:p>
        </p:txBody>
      </p:sp>
      <p:graphicFrame>
        <p:nvGraphicFramePr>
          <p:cNvPr id="8" name="Table 7"/>
          <p:cNvGraphicFramePr>
            <a:graphicFrameLocks noGrp="1"/>
          </p:cNvGraphicFramePr>
          <p:nvPr/>
        </p:nvGraphicFramePr>
        <p:xfrm>
          <a:off x="548640" y="1554480"/>
          <a:ext cx="11091670" cy="4389120"/>
        </p:xfrm>
        <a:graphic>
          <a:graphicData uri="http://schemas.openxmlformats.org/drawingml/2006/table">
            <a:tbl>
              <a:tblPr firstRow="1" bandRow="0"/>
              <a:tblGrid>
                <a:gridCol w="1100000"/>
                <a:gridCol w="4125001"/>
                <a:gridCol w="5866669"/>
              </a:tblGrid>
              <a:tr h="548640">
                <a:tc>
                  <a:txBody>
                    <a:bodyPr wrap="square"/>
                    <a:lstStyle/>
                    <a:p>
                      <a:r>
                        <a:rPr sz="1500">
                          <a:solidFill>
                            <a:srgbClr val="FFFFFF"/>
                          </a:solidFill>
                          <a:latin typeface="Segoe UI Semibold"/>
                        </a:rPr>
                        <a:t>Mã</a:t>
                      </a:r>
                    </a:p>
                  </a:txBody>
                  <a:tcPr marL="109728" marR="109728" marT="45720" marB="45720" anchor="ctr">
                    <a:solidFill>
                      <a:srgbClr val="14213D"/>
                    </a:solidFill>
                  </a:tcPr>
                </a:tc>
                <a:tc>
                  <a:txBody>
                    <a:bodyPr wrap="square"/>
                    <a:lstStyle/>
                    <a:p>
                      <a:r>
                        <a:rPr sz="1500">
                          <a:solidFill>
                            <a:srgbClr val="FFFFFF"/>
                          </a:solidFill>
                          <a:latin typeface="Segoe UI Semibold"/>
                        </a:rPr>
                        <a:t>Use case</a:t>
                      </a:r>
                    </a:p>
                  </a:txBody>
                  <a:tcPr marL="109728" marR="109728" marT="45720" marB="45720" anchor="ctr">
                    <a:solidFill>
                      <a:srgbClr val="14213D"/>
                    </a:solidFill>
                  </a:tcPr>
                </a:tc>
                <a:tc>
                  <a:txBody>
                    <a:bodyPr wrap="square"/>
                    <a:lstStyle/>
                    <a:p>
                      <a:r>
                        <a:rPr sz="1500">
                          <a:solidFill>
                            <a:srgbClr val="FFFFFF"/>
                          </a:solidFill>
                          <a:latin typeface="Segoe UI Semibold"/>
                        </a:rPr>
                        <a:t>Điều kiện kết thúc</a:t>
                      </a:r>
                    </a:p>
                  </a:txBody>
                  <a:tcPr marL="109728" marR="109728" marT="45720" marB="45720" anchor="ctr">
                    <a:solidFill>
                      <a:srgbClr val="14213D"/>
                    </a:solidFill>
                  </a:tcPr>
                </a:tc>
              </a:tr>
              <a:tr h="548640">
                <a:tc>
                  <a:txBody>
                    <a:bodyPr wrap="square"/>
                    <a:lstStyle/>
                    <a:p>
                      <a:r>
                        <a:rPr sz="1500">
                          <a:solidFill>
                            <a:srgbClr val="14213D"/>
                          </a:solidFill>
                          <a:latin typeface="Segoe UI Semibold"/>
                        </a:rPr>
                        <a:t>UC01</a:t>
                      </a:r>
                    </a:p>
                  </a:txBody>
                  <a:tcPr marL="109728" marR="109728" marT="45720" marB="45720" anchor="ctr">
                    <a:solidFill>
                      <a:srgbClr val="FFFFFF"/>
                    </a:solidFill>
                  </a:tcPr>
                </a:tc>
                <a:tc>
                  <a:txBody>
                    <a:bodyPr wrap="square"/>
                    <a:lstStyle/>
                    <a:p>
                      <a:r>
                        <a:rPr sz="1500">
                          <a:solidFill>
                            <a:srgbClr val="22304A"/>
                          </a:solidFill>
                          <a:latin typeface="Segoe UI"/>
                        </a:rPr>
                        <a:t>Bắt đầu / chọn nhân vật</a:t>
                      </a:r>
                    </a:p>
                  </a:txBody>
                  <a:tcPr marL="109728" marR="109728" marT="45720" marB="45720" anchor="ctr">
                    <a:solidFill>
                      <a:srgbClr val="FFFFFF"/>
                    </a:solidFill>
                  </a:tcPr>
                </a:tc>
                <a:tc>
                  <a:txBody>
                    <a:bodyPr wrap="square"/>
                    <a:lstStyle/>
                    <a:p>
                      <a:r>
                        <a:rPr sz="1500">
                          <a:solidFill>
                            <a:srgbClr val="22304A"/>
                          </a:solidFill>
                          <a:latin typeface="Segoe UI"/>
                        </a:rPr>
                        <a:t>Nhân vật hợp lệ đi vào gameplay</a:t>
                      </a:r>
                    </a:p>
                  </a:txBody>
                  <a:tcPr marL="109728" marR="109728" marT="45720" marB="45720" anchor="ctr">
                    <a:solidFill>
                      <a:srgbClr val="FFFFFF"/>
                    </a:solidFill>
                  </a:tcPr>
                </a:tc>
              </a:tr>
              <a:tr h="548640">
                <a:tc>
                  <a:txBody>
                    <a:bodyPr wrap="square"/>
                    <a:lstStyle/>
                    <a:p>
                      <a:r>
                        <a:rPr sz="1500">
                          <a:solidFill>
                            <a:srgbClr val="14213D"/>
                          </a:solidFill>
                          <a:latin typeface="Segoe UI Semibold"/>
                        </a:rPr>
                        <a:t>UC02</a:t>
                      </a:r>
                    </a:p>
                  </a:txBody>
                  <a:tcPr marL="109728" marR="109728" marT="45720" marB="45720" anchor="ctr">
                    <a:solidFill>
                      <a:srgbClr val="F2F5FA"/>
                    </a:solidFill>
                  </a:tcPr>
                </a:tc>
                <a:tc>
                  <a:txBody>
                    <a:bodyPr wrap="square"/>
                    <a:lstStyle/>
                    <a:p>
                      <a:r>
                        <a:rPr sz="1500">
                          <a:solidFill>
                            <a:srgbClr val="22304A"/>
                          </a:solidFill>
                          <a:latin typeface="Segoe UI"/>
                        </a:rPr>
                        <a:t>Thực hiện tình huống (scenario)</a:t>
                      </a:r>
                    </a:p>
                  </a:txBody>
                  <a:tcPr marL="109728" marR="109728" marT="45720" marB="45720" anchor="ctr">
                    <a:solidFill>
                      <a:srgbClr val="F2F5FA"/>
                    </a:solidFill>
                  </a:tcPr>
                </a:tc>
                <a:tc>
                  <a:txBody>
                    <a:bodyPr wrap="square"/>
                    <a:lstStyle/>
                    <a:p>
                      <a:r>
                        <a:rPr sz="1500">
                          <a:solidFill>
                            <a:srgbClr val="22304A"/>
                          </a:solidFill>
                          <a:latin typeface="Segoe UI"/>
                        </a:rPr>
                        <a:t>Mục tiêu và node kết thúc được ghi nhận</a:t>
                      </a:r>
                    </a:p>
                  </a:txBody>
                  <a:tcPr marL="109728" marR="109728" marT="45720" marB="45720" anchor="ctr">
                    <a:solidFill>
                      <a:srgbClr val="F2F5FA"/>
                    </a:solidFill>
                  </a:tcPr>
                </a:tc>
              </a:tr>
              <a:tr h="548640">
                <a:tc>
                  <a:txBody>
                    <a:bodyPr wrap="square"/>
                    <a:lstStyle/>
                    <a:p>
                      <a:r>
                        <a:rPr sz="1500">
                          <a:solidFill>
                            <a:srgbClr val="14213D"/>
                          </a:solidFill>
                          <a:latin typeface="Segoe UI Semibold"/>
                        </a:rPr>
                        <a:t>UC03</a:t>
                      </a:r>
                    </a:p>
                  </a:txBody>
                  <a:tcPr marL="109728" marR="109728" marT="45720" marB="45720" anchor="ctr">
                    <a:solidFill>
                      <a:srgbClr val="FFFFFF"/>
                    </a:solidFill>
                  </a:tcPr>
                </a:tc>
                <a:tc>
                  <a:txBody>
                    <a:bodyPr wrap="square"/>
                    <a:lstStyle/>
                    <a:p>
                      <a:r>
                        <a:rPr sz="1500">
                          <a:solidFill>
                            <a:srgbClr val="22304A"/>
                          </a:solidFill>
                          <a:latin typeface="Segoe UI"/>
                        </a:rPr>
                        <a:t>Mua hoặc dùng vật phẩm</a:t>
                      </a:r>
                    </a:p>
                  </a:txBody>
                  <a:tcPr marL="109728" marR="109728" marT="45720" marB="45720" anchor="ctr">
                    <a:solidFill>
                      <a:srgbClr val="FFFFFF"/>
                    </a:solidFill>
                  </a:tcPr>
                </a:tc>
                <a:tc>
                  <a:txBody>
                    <a:bodyPr wrap="square"/>
                    <a:lstStyle/>
                    <a:p>
                      <a:r>
                        <a:rPr sz="1500">
                          <a:solidFill>
                            <a:srgbClr val="22304A"/>
                          </a:solidFill>
                          <a:latin typeface="Segoe UI"/>
                        </a:rPr>
                        <a:t>Tiền, số lượng và chỉ số luôn nhất quán</a:t>
                      </a:r>
                    </a:p>
                  </a:txBody>
                  <a:tcPr marL="109728" marR="109728" marT="45720" marB="45720" anchor="ctr">
                    <a:solidFill>
                      <a:srgbClr val="FFFFFF"/>
                    </a:solidFill>
                  </a:tcPr>
                </a:tc>
              </a:tr>
              <a:tr h="548640">
                <a:tc>
                  <a:txBody>
                    <a:bodyPr wrap="square"/>
                    <a:lstStyle/>
                    <a:p>
                      <a:r>
                        <a:rPr sz="1500">
                          <a:solidFill>
                            <a:srgbClr val="14213D"/>
                          </a:solidFill>
                          <a:latin typeface="Segoe UI Semibold"/>
                        </a:rPr>
                        <a:t>UC04</a:t>
                      </a:r>
                    </a:p>
                  </a:txBody>
                  <a:tcPr marL="109728" marR="109728" marT="45720" marB="45720" anchor="ctr">
                    <a:solidFill>
                      <a:srgbClr val="F2F5FA"/>
                    </a:solidFill>
                  </a:tcPr>
                </a:tc>
                <a:tc>
                  <a:txBody>
                    <a:bodyPr wrap="square"/>
                    <a:lstStyle/>
                    <a:p>
                      <a:r>
                        <a:rPr sz="1500">
                          <a:solidFill>
                            <a:srgbClr val="22304A"/>
                          </a:solidFill>
                          <a:latin typeface="Segoe UI"/>
                        </a:rPr>
                        <a:t>Xem nhiệm vụ / bản đồ / hồ sơ</a:t>
                      </a:r>
                    </a:p>
                  </a:txBody>
                  <a:tcPr marL="109728" marR="109728" marT="45720" marB="45720" anchor="ctr">
                    <a:solidFill>
                      <a:srgbClr val="F2F5FA"/>
                    </a:solidFill>
                  </a:tcPr>
                </a:tc>
                <a:tc>
                  <a:txBody>
                    <a:bodyPr wrap="square"/>
                    <a:lstStyle/>
                    <a:p>
                      <a:r>
                        <a:rPr sz="1500">
                          <a:solidFill>
                            <a:srgbClr val="22304A"/>
                          </a:solidFill>
                          <a:latin typeface="Segoe UI"/>
                        </a:rPr>
                        <a:t>UI phản ánh đúng tiến độ hiện tại</a:t>
                      </a:r>
                    </a:p>
                  </a:txBody>
                  <a:tcPr marL="109728" marR="109728" marT="45720" marB="45720" anchor="ctr">
                    <a:solidFill>
                      <a:srgbClr val="F2F5FA"/>
                    </a:solidFill>
                  </a:tcPr>
                </a:tc>
              </a:tr>
              <a:tr h="548640">
                <a:tc>
                  <a:txBody>
                    <a:bodyPr wrap="square"/>
                    <a:lstStyle/>
                    <a:p>
                      <a:r>
                        <a:rPr sz="1500">
                          <a:solidFill>
                            <a:srgbClr val="14213D"/>
                          </a:solidFill>
                          <a:latin typeface="Segoe UI Semibold"/>
                        </a:rPr>
                        <a:t>UC05</a:t>
                      </a:r>
                    </a:p>
                  </a:txBody>
                  <a:tcPr marL="109728" marR="109728" marT="45720" marB="45720" anchor="ctr">
                    <a:solidFill>
                      <a:srgbClr val="FFFFFF"/>
                    </a:solidFill>
                  </a:tcPr>
                </a:tc>
                <a:tc>
                  <a:txBody>
                    <a:bodyPr wrap="square"/>
                    <a:lstStyle/>
                    <a:p>
                      <a:r>
                        <a:rPr sz="1500">
                          <a:solidFill>
                            <a:srgbClr val="22304A"/>
                          </a:solidFill>
                          <a:latin typeface="Segoe UI"/>
                        </a:rPr>
                        <a:t>Làm bài luyện thi</a:t>
                      </a:r>
                    </a:p>
                  </a:txBody>
                  <a:tcPr marL="109728" marR="109728" marT="45720" marB="45720" anchor="ctr">
                    <a:solidFill>
                      <a:srgbClr val="FFFFFF"/>
                    </a:solidFill>
                  </a:tcPr>
                </a:tc>
                <a:tc>
                  <a:txBody>
                    <a:bodyPr wrap="square"/>
                    <a:lstStyle/>
                    <a:p>
                      <a:r>
                        <a:rPr sz="1500">
                          <a:solidFill>
                            <a:srgbClr val="22304A"/>
                          </a:solidFill>
                          <a:latin typeface="Segoe UI"/>
                        </a:rPr>
                        <a:t>Lượt làm bài có kết quả và lịch sử</a:t>
                      </a:r>
                    </a:p>
                  </a:txBody>
                  <a:tcPr marL="109728" marR="109728" marT="45720" marB="45720" anchor="ctr">
                    <a:solidFill>
                      <a:srgbClr val="FFFFFF"/>
                    </a:solidFill>
                  </a:tcPr>
                </a:tc>
              </a:tr>
              <a:tr h="548640">
                <a:tc>
                  <a:txBody>
                    <a:bodyPr wrap="square"/>
                    <a:lstStyle/>
                    <a:p>
                      <a:r>
                        <a:rPr sz="1500">
                          <a:solidFill>
                            <a:srgbClr val="14213D"/>
                          </a:solidFill>
                          <a:latin typeface="Segoe UI Semibold"/>
                        </a:rPr>
                        <a:t>UC06</a:t>
                      </a:r>
                    </a:p>
                  </a:txBody>
                  <a:tcPr marL="109728" marR="109728" marT="45720" marB="45720" anchor="ctr">
                    <a:solidFill>
                      <a:srgbClr val="F2F5FA"/>
                    </a:solidFill>
                  </a:tcPr>
                </a:tc>
                <a:tc>
                  <a:txBody>
                    <a:bodyPr wrap="square"/>
                    <a:lstStyle/>
                    <a:p>
                      <a:r>
                        <a:rPr sz="1500">
                          <a:solidFill>
                            <a:srgbClr val="22304A"/>
                          </a:solidFill>
                          <a:latin typeface="Segoe UI"/>
                        </a:rPr>
                        <a:t>Tham gia tính năng online</a:t>
                      </a:r>
                    </a:p>
                  </a:txBody>
                  <a:tcPr marL="109728" marR="109728" marT="45720" marB="45720" anchor="ctr">
                    <a:solidFill>
                      <a:srgbClr val="F2F5FA"/>
                    </a:solidFill>
                  </a:tcPr>
                </a:tc>
                <a:tc>
                  <a:txBody>
                    <a:bodyPr wrap="square"/>
                    <a:lstStyle/>
                    <a:p>
                      <a:r>
                        <a:rPr sz="1500">
                          <a:solidFill>
                            <a:srgbClr val="22304A"/>
                          </a:solidFill>
                          <a:latin typeface="Segoe UI"/>
                        </a:rPr>
                        <a:t>Kết nối được xác thực, trạng thái rõ ràng</a:t>
                      </a:r>
                    </a:p>
                  </a:txBody>
                  <a:tcPr marL="109728" marR="109728" marT="45720" marB="45720" anchor="ctr">
                    <a:solidFill>
                      <a:srgbClr val="F2F5FA"/>
                    </a:solidFill>
                  </a:tcPr>
                </a:tc>
              </a:tr>
              <a:tr h="548640">
                <a:tc>
                  <a:txBody>
                    <a:bodyPr wrap="square"/>
                    <a:lstStyle/>
                    <a:p>
                      <a:r>
                        <a:rPr sz="1500">
                          <a:solidFill>
                            <a:srgbClr val="14213D"/>
                          </a:solidFill>
                          <a:latin typeface="Segoe UI Semibold"/>
                        </a:rPr>
                        <a:t>UC07</a:t>
                      </a:r>
                    </a:p>
                  </a:txBody>
                  <a:tcPr marL="109728" marR="109728" marT="45720" marB="45720" anchor="ctr">
                    <a:solidFill>
                      <a:srgbClr val="FFFFFF"/>
                    </a:solidFill>
                  </a:tcPr>
                </a:tc>
                <a:tc>
                  <a:txBody>
                    <a:bodyPr wrap="square"/>
                    <a:lstStyle/>
                    <a:p>
                      <a:r>
                        <a:rPr sz="1500">
                          <a:solidFill>
                            <a:srgbClr val="22304A"/>
                          </a:solidFill>
                          <a:latin typeface="Segoe UI"/>
                        </a:rPr>
                        <a:t>Thêm nội dung học (tác giả)</a:t>
                      </a:r>
                    </a:p>
                  </a:txBody>
                  <a:tcPr marL="109728" marR="109728" marT="45720" marB="45720" anchor="ctr">
                    <a:solidFill>
                      <a:srgbClr val="FFFFFF"/>
                    </a:solidFill>
                  </a:tcPr>
                </a:tc>
                <a:tc>
                  <a:txBody>
                    <a:bodyPr wrap="square"/>
                    <a:lstStyle/>
                    <a:p>
                      <a:r>
                        <a:rPr sz="1500">
                          <a:solidFill>
                            <a:srgbClr val="22304A"/>
                          </a:solidFill>
                          <a:latin typeface="Segoe UI"/>
                        </a:rPr>
                        <a:t>Asset hợp lệ được repository nạp</a:t>
                      </a:r>
                    </a:p>
                  </a:txBody>
                  <a:tcPr marL="109728" marR="109728" marT="45720" marB="4572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Activity diagram: hội thoại học tập</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19</a:t>
            </a:r>
          </a:p>
        </p:txBody>
      </p:sp>
      <p:pic>
        <p:nvPicPr>
          <p:cNvPr id="8" name="Picture 7" descr="d04_dialogue_flow.png"/>
          <p:cNvPicPr>
            <a:picLocks noChangeAspect="1"/>
          </p:cNvPicPr>
          <p:nvPr/>
        </p:nvPicPr>
        <p:blipFill>
          <a:blip r:embed="rId4"/>
          <a:stretch>
            <a:fillRect/>
          </a:stretch>
        </p:blipFill>
        <p:spPr>
          <a:xfrm>
            <a:off x="649172" y="1417320"/>
            <a:ext cx="10890606" cy="48463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Activity diagram: nhà hàng và luyện thi</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20</a:t>
            </a:r>
          </a:p>
        </p:txBody>
      </p:sp>
      <p:pic>
        <p:nvPicPr>
          <p:cNvPr id="8" name="Picture 7" descr="d06_restaurant_flow.png"/>
          <p:cNvPicPr>
            <a:picLocks noChangeAspect="1"/>
          </p:cNvPicPr>
          <p:nvPr/>
        </p:nvPicPr>
        <p:blipFill>
          <a:blip r:embed="rId4"/>
          <a:stretch>
            <a:fillRect/>
          </a:stretch>
        </p:blipFill>
        <p:spPr>
          <a:xfrm>
            <a:off x="548640" y="2574036"/>
            <a:ext cx="5486400" cy="2441448"/>
          </a:xfrm>
          <a:prstGeom prst="rect">
            <a:avLst/>
          </a:prstGeom>
        </p:spPr>
      </p:pic>
      <p:pic>
        <p:nvPicPr>
          <p:cNvPr id="9" name="Picture 8" descr="d07_exam_flow.png"/>
          <p:cNvPicPr>
            <a:picLocks noChangeAspect="1"/>
          </p:cNvPicPr>
          <p:nvPr/>
        </p:nvPicPr>
        <p:blipFill>
          <a:blip r:embed="rId5"/>
          <a:stretch>
            <a:fillRect/>
          </a:stretch>
        </p:blipFill>
        <p:spPr>
          <a:xfrm>
            <a:off x="6153912" y="2574036"/>
            <a:ext cx="5486400" cy="244144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Kiến trúc phân lớp</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21</a:t>
            </a:r>
          </a:p>
        </p:txBody>
      </p:sp>
      <p:pic>
        <p:nvPicPr>
          <p:cNvPr id="8" name="Picture 7" descr="d08_architecture.png"/>
          <p:cNvPicPr>
            <a:picLocks noChangeAspect="1"/>
          </p:cNvPicPr>
          <p:nvPr/>
        </p:nvPicPr>
        <p:blipFill>
          <a:blip r:embed="rId4"/>
          <a:stretch>
            <a:fillRect/>
          </a:stretch>
        </p:blipFill>
        <p:spPr>
          <a:xfrm>
            <a:off x="548640" y="1645920"/>
            <a:ext cx="6949440" cy="4343400"/>
          </a:xfrm>
          <a:prstGeom prst="rect">
            <a:avLst/>
          </a:prstGeom>
        </p:spPr>
      </p:pic>
      <p:sp>
        <p:nvSpPr>
          <p:cNvPr id="9" name="TextBox 8"/>
          <p:cNvSpPr txBox="1"/>
          <p:nvPr/>
        </p:nvSpPr>
        <p:spPr>
          <a:xfrm>
            <a:off x="7818120" y="1645920"/>
            <a:ext cx="3840480" cy="4480560"/>
          </a:xfrm>
          <a:prstGeom prst="rect">
            <a:avLst/>
          </a:prstGeom>
          <a:noFill/>
        </p:spPr>
        <p:txBody>
          <a:bodyPr wrap="square" lIns="0" rIns="0" tIns="0" bIns="0">
            <a:spAutoFit/>
          </a:bodyPr>
          <a:lstStyle/>
          <a:p>
            <a:pPr marL="256032" indent="-256032">
              <a:lnSpc>
                <a:spcPct val="110000"/>
              </a:lnSpc>
              <a:spcAft>
                <a:spcPts val="1200"/>
              </a:spcAft>
              <a:buClr>
                <a:srgbClr val="F2B233"/>
              </a:buClr>
              <a:buFont typeface="Arial"/>
              <a:buChar char="●"/>
            </a:pPr>
            <a:r>
              <a:rPr b="1" sz="1400">
                <a:solidFill>
                  <a:srgbClr val="14213D"/>
                </a:solidFill>
                <a:latin typeface="Segoe UI Semibold"/>
              </a:rPr>
              <a:t>Bootstrap:  </a:t>
            </a:r>
            <a:r>
              <a:rPr sz="1400">
                <a:solidFill>
                  <a:srgbClr val="22304A"/>
                </a:solidFill>
                <a:latin typeface="Segoe UI"/>
                <a:ea typeface="Yu Gothic"/>
              </a:rPr>
              <a:t>00_Bootstrap tạo AppRoot, đăng ký GameServices sống xuyên scene.</a:t>
            </a:r>
          </a:p>
          <a:p>
            <a:pPr marL="256032" indent="-256032">
              <a:lnSpc>
                <a:spcPct val="110000"/>
              </a:lnSpc>
              <a:spcAft>
                <a:spcPts val="1200"/>
              </a:spcAft>
              <a:buClr>
                <a:srgbClr val="F2B233"/>
              </a:buClr>
              <a:buFont typeface="Arial"/>
              <a:buChar char="●"/>
            </a:pPr>
            <a:r>
              <a:rPr b="1" sz="1400">
                <a:solidFill>
                  <a:srgbClr val="14213D"/>
                </a:solidFill>
                <a:latin typeface="Segoe UI Semibold"/>
              </a:rPr>
              <a:t>Service locator:  </a:t>
            </a:r>
            <a:r>
              <a:rPr sz="1400">
                <a:solidFill>
                  <a:srgbClr val="22304A"/>
                </a:solidFill>
                <a:latin typeface="Segoe UI"/>
                <a:ea typeface="Yu Gothic"/>
              </a:rPr>
              <a:t>gameplay lấy dịch vụ qua interface, dễ thay local ↔ cloud.</a:t>
            </a:r>
          </a:p>
          <a:p>
            <a:pPr marL="256032" indent="-256032">
              <a:lnSpc>
                <a:spcPct val="110000"/>
              </a:lnSpc>
              <a:spcAft>
                <a:spcPts val="1200"/>
              </a:spcAft>
              <a:buClr>
                <a:srgbClr val="F2B233"/>
              </a:buClr>
              <a:buFont typeface="Arial"/>
              <a:buChar char="●"/>
            </a:pPr>
            <a:r>
              <a:rPr b="1" sz="1400">
                <a:solidFill>
                  <a:srgbClr val="14213D"/>
                </a:solidFill>
                <a:latin typeface="Segoe UI Semibold"/>
              </a:rPr>
              <a:t>Data-driven:  </a:t>
            </a:r>
            <a:r>
              <a:rPr sz="1400">
                <a:solidFill>
                  <a:srgbClr val="22304A"/>
                </a:solidFill>
                <a:latin typeface="Segoe UI"/>
                <a:ea typeface="Yu Gothic"/>
              </a:rPr>
              <a:t>kịch bản, đề thi, thực đơn là ScriptableObject.</a:t>
            </a:r>
          </a:p>
          <a:p>
            <a:pPr marL="256032" indent="-256032">
              <a:lnSpc>
                <a:spcPct val="110000"/>
              </a:lnSpc>
              <a:spcAft>
                <a:spcPts val="1200"/>
              </a:spcAft>
              <a:buClr>
                <a:srgbClr val="F2B233"/>
              </a:buClr>
              <a:buFont typeface="Arial"/>
              <a:buChar char="●"/>
            </a:pPr>
            <a:r>
              <a:rPr b="1" sz="1400">
                <a:solidFill>
                  <a:srgbClr val="14213D"/>
                </a:solidFill>
                <a:latin typeface="Segoe UI Semibold"/>
              </a:rPr>
              <a:t>Tách luồng thi:  </a:t>
            </a:r>
            <a:r>
              <a:rPr sz="1400">
                <a:solidFill>
                  <a:srgbClr val="22304A"/>
                </a:solidFill>
                <a:latin typeface="Segoe UI"/>
                <a:ea typeface="Yu Gothic"/>
              </a:rPr>
              <a:t>ExamManager riêng, không lẫn với quest.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Engine kịch bản và cách tính điểm</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22</a:t>
            </a:r>
          </a:p>
        </p:txBody>
      </p:sp>
      <p:pic>
        <p:nvPicPr>
          <p:cNvPr id="8" name="Picture 7" descr="d09_scenario_pipeline.png"/>
          <p:cNvPicPr>
            <a:picLocks noChangeAspect="1"/>
          </p:cNvPicPr>
          <p:nvPr/>
        </p:nvPicPr>
        <p:blipFill>
          <a:blip r:embed="rId4"/>
          <a:stretch>
            <a:fillRect/>
          </a:stretch>
        </p:blipFill>
        <p:spPr>
          <a:xfrm>
            <a:off x="548640" y="1944928"/>
            <a:ext cx="6309360" cy="2145182"/>
          </a:xfrm>
          <a:prstGeom prst="rect">
            <a:avLst/>
          </a:prstGeom>
        </p:spPr>
      </p:pic>
      <p:graphicFrame>
        <p:nvGraphicFramePr>
          <p:cNvPr id="9" name="Table 8"/>
          <p:cNvGraphicFramePr>
            <a:graphicFrameLocks noGrp="1"/>
          </p:cNvGraphicFramePr>
          <p:nvPr/>
        </p:nvGraphicFramePr>
        <p:xfrm>
          <a:off x="7132320" y="1554480"/>
          <a:ext cx="4507991" cy="2743200"/>
        </p:xfrm>
        <a:graphic>
          <a:graphicData uri="http://schemas.openxmlformats.org/drawingml/2006/table">
            <a:tbl>
              <a:tblPr firstRow="1" bandRow="0"/>
              <a:tblGrid>
                <a:gridCol w="2115996"/>
                <a:gridCol w="2391995"/>
              </a:tblGrid>
              <a:tr h="457200">
                <a:tc>
                  <a:txBody>
                    <a:bodyPr wrap="square"/>
                    <a:lstStyle/>
                    <a:p>
                      <a:r>
                        <a:rPr sz="1300">
                          <a:solidFill>
                            <a:srgbClr val="FFFFFF"/>
                          </a:solidFill>
                          <a:latin typeface="Segoe UI Semibold"/>
                        </a:rPr>
                        <a:t>Nhóm điểm</a:t>
                      </a:r>
                    </a:p>
                  </a:txBody>
                  <a:tcPr marL="109728" marR="109728" marT="45720" marB="45720" anchor="ctr">
                    <a:solidFill>
                      <a:srgbClr val="14213D"/>
                    </a:solidFill>
                  </a:tcPr>
                </a:tc>
                <a:tc>
                  <a:txBody>
                    <a:bodyPr wrap="square"/>
                    <a:lstStyle/>
                    <a:p>
                      <a:r>
                        <a:rPr sz="1300">
                          <a:solidFill>
                            <a:srgbClr val="FFFFFF"/>
                          </a:solidFill>
                          <a:latin typeface="Segoe UI Semibold"/>
                        </a:rPr>
                        <a:t>Ghi nhận</a:t>
                      </a:r>
                    </a:p>
                  </a:txBody>
                  <a:tcPr marL="109728" marR="109728" marT="45720" marB="45720" anchor="ctr">
                    <a:solidFill>
                      <a:srgbClr val="14213D"/>
                    </a:solidFill>
                  </a:tcPr>
                </a:tc>
              </a:tr>
              <a:tr h="457200">
                <a:tc>
                  <a:txBody>
                    <a:bodyPr wrap="square"/>
                    <a:lstStyle/>
                    <a:p>
                      <a:r>
                        <a:rPr sz="1300">
                          <a:solidFill>
                            <a:srgbClr val="14213D"/>
                          </a:solidFill>
                          <a:latin typeface="Segoe UI Semibold"/>
                        </a:rPr>
                        <a:t>Vocabulary</a:t>
                      </a:r>
                    </a:p>
                  </a:txBody>
                  <a:tcPr marL="109728" marR="109728" marT="45720" marB="45720" anchor="ctr">
                    <a:solidFill>
                      <a:srgbClr val="FFFFFF"/>
                    </a:solidFill>
                  </a:tcPr>
                </a:tc>
                <a:tc>
                  <a:txBody>
                    <a:bodyPr wrap="square"/>
                    <a:lstStyle/>
                    <a:p>
                      <a:r>
                        <a:rPr sz="1300">
                          <a:solidFill>
                            <a:srgbClr val="22304A"/>
                          </a:solidFill>
                          <a:latin typeface="Segoe UI"/>
                        </a:rPr>
                        <a:t>Dùng đúng từ vựng</a:t>
                      </a:r>
                    </a:p>
                  </a:txBody>
                  <a:tcPr marL="109728" marR="109728" marT="45720" marB="45720" anchor="ctr">
                    <a:solidFill>
                      <a:srgbClr val="FFFFFF"/>
                    </a:solidFill>
                  </a:tcPr>
                </a:tc>
              </a:tr>
              <a:tr h="457200">
                <a:tc>
                  <a:txBody>
                    <a:bodyPr wrap="square"/>
                    <a:lstStyle/>
                    <a:p>
                      <a:r>
                        <a:rPr sz="1300">
                          <a:solidFill>
                            <a:srgbClr val="14213D"/>
                          </a:solidFill>
                          <a:latin typeface="Segoe UI Semibold"/>
                        </a:rPr>
                        <a:t>Grammar</a:t>
                      </a:r>
                    </a:p>
                  </a:txBody>
                  <a:tcPr marL="109728" marR="109728" marT="45720" marB="45720" anchor="ctr">
                    <a:solidFill>
                      <a:srgbClr val="F2F5FA"/>
                    </a:solidFill>
                  </a:tcPr>
                </a:tc>
                <a:tc>
                  <a:txBody>
                    <a:bodyPr wrap="square"/>
                    <a:lstStyle/>
                    <a:p>
                      <a:r>
                        <a:rPr sz="1300">
                          <a:solidFill>
                            <a:srgbClr val="22304A"/>
                          </a:solidFill>
                          <a:latin typeface="Segoe UI"/>
                        </a:rPr>
                        <a:t>Dùng đúng mẫu câu</a:t>
                      </a:r>
                    </a:p>
                  </a:txBody>
                  <a:tcPr marL="109728" marR="109728" marT="45720" marB="45720" anchor="ctr">
                    <a:solidFill>
                      <a:srgbClr val="F2F5FA"/>
                    </a:solidFill>
                  </a:tcPr>
                </a:tc>
              </a:tr>
              <a:tr h="457200">
                <a:tc>
                  <a:txBody>
                    <a:bodyPr wrap="square"/>
                    <a:lstStyle/>
                    <a:p>
                      <a:r>
                        <a:rPr sz="1300">
                          <a:solidFill>
                            <a:srgbClr val="14213D"/>
                          </a:solidFill>
                          <a:latin typeface="Segoe UI Semibold"/>
                        </a:rPr>
                        <a:t>Listening</a:t>
                      </a:r>
                    </a:p>
                  </a:txBody>
                  <a:tcPr marL="109728" marR="109728" marT="45720" marB="45720" anchor="ctr">
                    <a:solidFill>
                      <a:srgbClr val="FFFFFF"/>
                    </a:solidFill>
                  </a:tcPr>
                </a:tc>
                <a:tc>
                  <a:txBody>
                    <a:bodyPr wrap="square"/>
                    <a:lstStyle/>
                    <a:p>
                      <a:r>
                        <a:rPr sz="1300">
                          <a:solidFill>
                            <a:srgbClr val="22304A"/>
                          </a:solidFill>
                          <a:latin typeface="Segoe UI"/>
                        </a:rPr>
                        <a:t>Nghe hiểu câu NPC</a:t>
                      </a:r>
                    </a:p>
                  </a:txBody>
                  <a:tcPr marL="109728" marR="109728" marT="45720" marB="45720" anchor="ctr">
                    <a:solidFill>
                      <a:srgbClr val="FFFFFF"/>
                    </a:solidFill>
                  </a:tcPr>
                </a:tc>
              </a:tr>
              <a:tr h="457200">
                <a:tc>
                  <a:txBody>
                    <a:bodyPr wrap="square"/>
                    <a:lstStyle/>
                    <a:p>
                      <a:r>
                        <a:rPr sz="1300">
                          <a:solidFill>
                            <a:srgbClr val="14213D"/>
                          </a:solidFill>
                          <a:latin typeface="Segoe UI Semibold"/>
                        </a:rPr>
                        <a:t>ResponseAccuracy</a:t>
                      </a:r>
                    </a:p>
                  </a:txBody>
                  <a:tcPr marL="109728" marR="109728" marT="45720" marB="45720" anchor="ctr">
                    <a:solidFill>
                      <a:srgbClr val="F2F5FA"/>
                    </a:solidFill>
                  </a:tcPr>
                </a:tc>
                <a:tc>
                  <a:txBody>
                    <a:bodyPr wrap="square"/>
                    <a:lstStyle/>
                    <a:p>
                      <a:r>
                        <a:rPr sz="1300">
                          <a:solidFill>
                            <a:srgbClr val="22304A"/>
                          </a:solidFill>
                          <a:latin typeface="Segoe UI"/>
                        </a:rPr>
                        <a:t>Đúng ngữ cảnh, lịch sự</a:t>
                      </a:r>
                    </a:p>
                  </a:txBody>
                  <a:tcPr marL="109728" marR="109728" marT="45720" marB="45720" anchor="ctr">
                    <a:solidFill>
                      <a:srgbClr val="F2F5FA"/>
                    </a:solidFill>
                  </a:tcPr>
                </a:tc>
              </a:tr>
              <a:tr h="457200">
                <a:tc>
                  <a:txBody>
                    <a:bodyPr wrap="square"/>
                    <a:lstStyle/>
                    <a:p>
                      <a:r>
                        <a:rPr sz="1300">
                          <a:solidFill>
                            <a:srgbClr val="14213D"/>
                          </a:solidFill>
                          <a:latin typeface="Segoe UI Semibold"/>
                        </a:rPr>
                        <a:t>TaskCompletion</a:t>
                      </a:r>
                    </a:p>
                  </a:txBody>
                  <a:tcPr marL="109728" marR="109728" marT="45720" marB="45720" anchor="ctr">
                    <a:solidFill>
                      <a:srgbClr val="FFFFFF"/>
                    </a:solidFill>
                  </a:tcPr>
                </a:tc>
                <a:tc>
                  <a:txBody>
                    <a:bodyPr wrap="square"/>
                    <a:lstStyle/>
                    <a:p>
                      <a:r>
                        <a:rPr sz="1300">
                          <a:solidFill>
                            <a:srgbClr val="22304A"/>
                          </a:solidFill>
                          <a:latin typeface="Segoe UI"/>
                        </a:rPr>
                        <a:t>Hoàn thành mục tiêu</a:t>
                      </a:r>
                    </a:p>
                  </a:txBody>
                  <a:tcPr marL="109728" marR="109728" marT="45720" marB="45720" anchor="ctr">
                    <a:solidFill>
                      <a:srgbClr val="FFFFFF"/>
                    </a:solidFill>
                  </a:tcPr>
                </a:tc>
              </a:tr>
            </a:tbl>
          </a:graphicData>
        </a:graphic>
      </p:graphicFrame>
      <p:sp>
        <p:nvSpPr>
          <p:cNvPr id="10" name="Rounded Rectangle 9"/>
          <p:cNvSpPr/>
          <p:nvPr/>
        </p:nvSpPr>
        <p:spPr>
          <a:xfrm>
            <a:off x="548640" y="4892040"/>
            <a:ext cx="11091672" cy="1234440"/>
          </a:xfrm>
          <a:prstGeom prst="roundRect">
            <a:avLst>
              <a:gd name="adj" fmla="val 10000"/>
            </a:avLst>
          </a:prstGeom>
          <a:solidFill>
            <a:srgbClr val="FFF8E6"/>
          </a:solidFill>
          <a:ln w="12700">
            <a:solidFill>
              <a:srgbClr val="F2D4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92040"/>
            <a:ext cx="10607040" cy="1234440"/>
          </a:xfrm>
          <a:prstGeom prst="rect">
            <a:avLst/>
          </a:prstGeom>
          <a:noFill/>
        </p:spPr>
        <p:txBody>
          <a:bodyPr wrap="square" lIns="0" rIns="0" tIns="0" bIns="0" anchor="ctr">
            <a:spAutoFit/>
          </a:bodyPr>
          <a:lstStyle/>
          <a:p>
            <a:pPr algn="l">
              <a:lnSpc>
                <a:spcPct val="110000"/>
              </a:lnSpc>
              <a:spcAft>
                <a:spcPts val="0"/>
              </a:spcAft>
            </a:pPr>
            <a:r>
              <a:rPr sz="1500" b="1" i="0">
                <a:solidFill>
                  <a:srgbClr val="B07D12"/>
                </a:solidFill>
                <a:latin typeface="Segoe UI Semibold"/>
                <a:ea typeface="Yu Gothic"/>
              </a:rPr>
              <a:t>Không có trạng thái thua.  </a:t>
            </a:r>
            <a:r>
              <a:rPr sz="1500" b="0" i="0">
                <a:solidFill>
                  <a:srgbClr val="22304A"/>
                </a:solidFill>
                <a:latin typeface="Segoe UI"/>
                <a:ea typeface="Yu Gothic"/>
              </a:rPr>
              <a:t>Mỗi nhóm điểm trong khoảng 0–100, điểm tổng là trung bình 5 nhóm. Chọn sai chỉ trừ điểm nhóm tương ứng và mở nhánh giải thích — người chơi luôn có thể thử lại.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04 · PHÂN TÍCH &amp; THIẾT KẾ</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Kiểm thử và lỗi đã sửa</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23</a:t>
            </a:r>
          </a:p>
        </p:txBody>
      </p:sp>
      <p:graphicFrame>
        <p:nvGraphicFramePr>
          <p:cNvPr id="8" name="Table 7"/>
          <p:cNvGraphicFramePr>
            <a:graphicFrameLocks noGrp="1"/>
          </p:cNvGraphicFramePr>
          <p:nvPr/>
        </p:nvGraphicFramePr>
        <p:xfrm>
          <a:off x="548640" y="1554480"/>
          <a:ext cx="11091672" cy="2743200"/>
        </p:xfrm>
        <a:graphic>
          <a:graphicData uri="http://schemas.openxmlformats.org/drawingml/2006/table">
            <a:tbl>
              <a:tblPr firstRow="1" bandRow="0"/>
              <a:tblGrid>
                <a:gridCol w="2743200"/>
                <a:gridCol w="4572000"/>
                <a:gridCol w="3776472"/>
              </a:tblGrid>
              <a:tr h="685800">
                <a:tc>
                  <a:txBody>
                    <a:bodyPr wrap="square"/>
                    <a:lstStyle/>
                    <a:p>
                      <a:r>
                        <a:rPr sz="1400">
                          <a:solidFill>
                            <a:srgbClr val="FFFFFF"/>
                          </a:solidFill>
                          <a:latin typeface="Segoe UI Semibold"/>
                        </a:rPr>
                        <a:t>Lỗi phát hiện</a:t>
                      </a:r>
                    </a:p>
                  </a:txBody>
                  <a:tcPr marL="109728" marR="109728" marT="45720" marB="45720" anchor="ctr">
                    <a:solidFill>
                      <a:srgbClr val="14213D"/>
                    </a:solidFill>
                  </a:tcPr>
                </a:tc>
                <a:tc>
                  <a:txBody>
                    <a:bodyPr wrap="square"/>
                    <a:lstStyle/>
                    <a:p>
                      <a:r>
                        <a:rPr sz="1400">
                          <a:solidFill>
                            <a:srgbClr val="FFFFFF"/>
                          </a:solidFill>
                          <a:latin typeface="Segoe UI Semibold"/>
                        </a:rPr>
                        <a:t>Nguyên nhân</a:t>
                      </a:r>
                    </a:p>
                  </a:txBody>
                  <a:tcPr marL="109728" marR="109728" marT="45720" marB="45720" anchor="ctr">
                    <a:solidFill>
                      <a:srgbClr val="14213D"/>
                    </a:solidFill>
                  </a:tcPr>
                </a:tc>
                <a:tc>
                  <a:txBody>
                    <a:bodyPr wrap="square"/>
                    <a:lstStyle/>
                    <a:p>
                      <a:r>
                        <a:rPr sz="1400">
                          <a:solidFill>
                            <a:srgbClr val="FFFFFF"/>
                          </a:solidFill>
                          <a:latin typeface="Segoe UI Semibold"/>
                        </a:rPr>
                        <a:t>Cách sửa</a:t>
                      </a:r>
                    </a:p>
                  </a:txBody>
                  <a:tcPr marL="109728" marR="109728" marT="45720" marB="45720" anchor="ctr">
                    <a:solidFill>
                      <a:srgbClr val="14213D"/>
                    </a:solidFill>
                  </a:tcPr>
                </a:tc>
              </a:tr>
              <a:tr h="685800">
                <a:tc>
                  <a:txBody>
                    <a:bodyPr wrap="square"/>
                    <a:lstStyle/>
                    <a:p>
                      <a:r>
                        <a:rPr sz="1400">
                          <a:solidFill>
                            <a:srgbClr val="14213D"/>
                          </a:solidFill>
                          <a:latin typeface="Segoe UI Semibold"/>
                        </a:rPr>
                        <a:t>Trung tâm luyện thi trống</a:t>
                      </a:r>
                    </a:p>
                  </a:txBody>
                  <a:tcPr marL="109728" marR="109728" marT="45720" marB="45720" anchor="ctr">
                    <a:solidFill>
                      <a:srgbClr val="FFFFFF"/>
                    </a:solidFill>
                  </a:tcPr>
                </a:tc>
                <a:tc>
                  <a:txBody>
                    <a:bodyPr wrap="square"/>
                    <a:lstStyle/>
                    <a:p>
                      <a:r>
                        <a:rPr sz="1400">
                          <a:solidFill>
                            <a:srgbClr val="22304A"/>
                          </a:solidFill>
                          <a:latin typeface="Segoe UI"/>
                        </a:rPr>
                        <a:t>ExamDefinition nằm trong ExamModels.cs → Unity không gắn script cho asset</a:t>
                      </a:r>
                    </a:p>
                  </a:txBody>
                  <a:tcPr marL="109728" marR="109728" marT="45720" marB="45720" anchor="ctr">
                    <a:solidFill>
                      <a:srgbClr val="FFFFFF"/>
                    </a:solidFill>
                  </a:tcPr>
                </a:tc>
                <a:tc>
                  <a:txBody>
                    <a:bodyPr wrap="square"/>
                    <a:lstStyle/>
                    <a:p>
                      <a:r>
                        <a:rPr sz="1400">
                          <a:solidFill>
                            <a:srgbClr val="22304A"/>
                          </a:solidFill>
                          <a:latin typeface="Segoe UI"/>
                        </a:rPr>
                        <a:t>Tách file ExamDefinition.cs, giữ GUID — 2 đề đã nạp</a:t>
                      </a:r>
                    </a:p>
                  </a:txBody>
                  <a:tcPr marL="109728" marR="109728" marT="45720" marB="45720" anchor="ctr">
                    <a:solidFill>
                      <a:srgbClr val="FFFFFF"/>
                    </a:solidFill>
                  </a:tcPr>
                </a:tc>
              </a:tr>
              <a:tr h="685800">
                <a:tc>
                  <a:txBody>
                    <a:bodyPr wrap="square"/>
                    <a:lstStyle/>
                    <a:p>
                      <a:r>
                        <a:rPr sz="1400">
                          <a:solidFill>
                            <a:srgbClr val="14213D"/>
                          </a:solidFill>
                          <a:latin typeface="Segoe UI Semibold"/>
                        </a:rPr>
                        <a:t>Bấm “Bắt đầu” bài thi lỗi</a:t>
                      </a:r>
                    </a:p>
                  </a:txBody>
                  <a:tcPr marL="109728" marR="109728" marT="45720" marB="45720" anchor="ctr">
                    <a:solidFill>
                      <a:srgbClr val="F2F5FA"/>
                    </a:solidFill>
                  </a:tcPr>
                </a:tc>
                <a:tc>
                  <a:txBody>
                    <a:bodyPr wrap="square"/>
                    <a:lstStyle/>
                    <a:p>
                      <a:r>
                        <a:rPr sz="1400">
                          <a:solidFill>
                            <a:srgbClr val="22304A"/>
                          </a:solidFill>
                          <a:latin typeface="Segoe UI"/>
                        </a:rPr>
                        <a:t>Toán tử ?? với GetComponent bị “fake null” của Unity</a:t>
                      </a:r>
                    </a:p>
                  </a:txBody>
                  <a:tcPr marL="109728" marR="109728" marT="45720" marB="45720" anchor="ctr">
                    <a:solidFill>
                      <a:srgbClr val="F2F5FA"/>
                    </a:solidFill>
                  </a:tcPr>
                </a:tc>
                <a:tc>
                  <a:txBody>
                    <a:bodyPr wrap="square"/>
                    <a:lstStyle/>
                    <a:p>
                      <a:r>
                        <a:rPr sz="1400">
                          <a:solidFill>
                            <a:srgbClr val="22304A"/>
                          </a:solidFill>
                          <a:latin typeface="Segoe UI"/>
                        </a:rPr>
                        <a:t>So sánh == null tường minh ở 5 script</a:t>
                      </a:r>
                    </a:p>
                  </a:txBody>
                  <a:tcPr marL="109728" marR="109728" marT="45720" marB="45720" anchor="ctr">
                    <a:solidFill>
                      <a:srgbClr val="F2F5FA"/>
                    </a:solidFill>
                  </a:tcPr>
                </a:tc>
              </a:tr>
              <a:tr h="685800">
                <a:tc>
                  <a:txBody>
                    <a:bodyPr wrap="square"/>
                    <a:lstStyle/>
                    <a:p>
                      <a:r>
                        <a:rPr sz="1400">
                          <a:solidFill>
                            <a:srgbClr val="14213D"/>
                          </a:solidFill>
                          <a:latin typeface="Segoe UI Semibold"/>
                        </a:rPr>
                        <a:t>Lỗi biên dịch CS0234</a:t>
                      </a:r>
                    </a:p>
                  </a:txBody>
                  <a:tcPr marL="109728" marR="109728" marT="45720" marB="45720" anchor="ctr">
                    <a:solidFill>
                      <a:srgbClr val="FFFFFF"/>
                    </a:solidFill>
                  </a:tcPr>
                </a:tc>
                <a:tc>
                  <a:txBody>
                    <a:bodyPr wrap="square"/>
                    <a:lstStyle/>
                    <a:p>
                      <a:r>
                        <a:rPr sz="1400">
                          <a:solidFill>
                            <a:srgbClr val="22304A"/>
                          </a:solidFill>
                          <a:latin typeface="Segoe UI"/>
                        </a:rPr>
                        <a:t>Sai namespace PlayerController</a:t>
                      </a:r>
                    </a:p>
                  </a:txBody>
                  <a:tcPr marL="109728" marR="109728" marT="45720" marB="45720" anchor="ctr">
                    <a:solidFill>
                      <a:srgbClr val="FFFFFF"/>
                    </a:solidFill>
                  </a:tcPr>
                </a:tc>
                <a:tc>
                  <a:txBody>
                    <a:bodyPr wrap="square"/>
                    <a:lstStyle/>
                    <a:p>
                      <a:r>
                        <a:rPr sz="1400">
                          <a:solidFill>
                            <a:srgbClr val="22304A"/>
                          </a:solidFill>
                          <a:latin typeface="Segoe UI"/>
                        </a:rPr>
                        <a:t>Sửa thành NihongoLife.Player</a:t>
                      </a:r>
                    </a:p>
                  </a:txBody>
                  <a:tcPr marL="109728" marR="109728" marT="45720" marB="45720" anchor="ctr">
                    <a:solidFill>
                      <a:srgbClr val="FFFFFF"/>
                    </a:solidFill>
                  </a:tcPr>
                </a:tc>
              </a:tr>
            </a:tbl>
          </a:graphicData>
        </a:graphic>
      </p:graphicFrame>
      <p:sp>
        <p:nvSpPr>
          <p:cNvPr id="9" name="TextBox 8"/>
          <p:cNvSpPr txBox="1"/>
          <p:nvPr/>
        </p:nvSpPr>
        <p:spPr>
          <a:xfrm>
            <a:off x="548640" y="4754880"/>
            <a:ext cx="3474720" cy="822960"/>
          </a:xfrm>
          <a:prstGeom prst="rect">
            <a:avLst/>
          </a:prstGeom>
          <a:noFill/>
        </p:spPr>
        <p:txBody>
          <a:bodyPr wrap="square" lIns="0" rIns="0" tIns="0" bIns="0" anchor="t">
            <a:spAutoFit/>
          </a:bodyPr>
          <a:lstStyle/>
          <a:p>
            <a:pPr algn="l">
              <a:lnSpc>
                <a:spcPct val="110000"/>
              </a:lnSpc>
              <a:spcAft>
                <a:spcPts val="0"/>
              </a:spcAft>
            </a:pPr>
            <a:r>
              <a:rPr sz="4400" b="0" i="0">
                <a:solidFill>
                  <a:srgbClr val="C8463D"/>
                </a:solidFill>
                <a:latin typeface="Segoe UI Semibold"/>
                <a:ea typeface="Yu Gothic"/>
              </a:rPr>
              <a:t>7/7</a:t>
            </a:r>
          </a:p>
        </p:txBody>
      </p:sp>
      <p:sp>
        <p:nvSpPr>
          <p:cNvPr id="10" name="TextBox 9"/>
          <p:cNvSpPr txBox="1"/>
          <p:nvPr/>
        </p:nvSpPr>
        <p:spPr>
          <a:xfrm>
            <a:off x="548640" y="5532120"/>
            <a:ext cx="3474720" cy="45720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EditMode tests passed</a:t>
            </a:r>
          </a:p>
        </p:txBody>
      </p:sp>
      <p:sp>
        <p:nvSpPr>
          <p:cNvPr id="11" name="TextBox 10"/>
          <p:cNvSpPr txBox="1"/>
          <p:nvPr/>
        </p:nvSpPr>
        <p:spPr>
          <a:xfrm>
            <a:off x="4297679" y="4754880"/>
            <a:ext cx="3474720" cy="822960"/>
          </a:xfrm>
          <a:prstGeom prst="rect">
            <a:avLst/>
          </a:prstGeom>
          <a:noFill/>
        </p:spPr>
        <p:txBody>
          <a:bodyPr wrap="square" lIns="0" rIns="0" tIns="0" bIns="0" anchor="t">
            <a:spAutoFit/>
          </a:bodyPr>
          <a:lstStyle/>
          <a:p>
            <a:pPr algn="l">
              <a:lnSpc>
                <a:spcPct val="110000"/>
              </a:lnSpc>
              <a:spcAft>
                <a:spcPts val="0"/>
              </a:spcAft>
            </a:pPr>
            <a:r>
              <a:rPr sz="4400" b="0" i="0">
                <a:solidFill>
                  <a:srgbClr val="C8463D"/>
                </a:solidFill>
                <a:latin typeface="Segoe UI Semibold"/>
                <a:ea typeface="Yu Gothic"/>
              </a:rPr>
              <a:t>20</a:t>
            </a:r>
          </a:p>
        </p:txBody>
      </p:sp>
      <p:sp>
        <p:nvSpPr>
          <p:cNvPr id="12" name="TextBox 11"/>
          <p:cNvSpPr txBox="1"/>
          <p:nvPr/>
        </p:nvSpPr>
        <p:spPr>
          <a:xfrm>
            <a:off x="4297679" y="5532120"/>
            <a:ext cx="3474720" cy="45720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màn hình chụp Play Mode</a:t>
            </a:r>
          </a:p>
        </p:txBody>
      </p:sp>
      <p:sp>
        <p:nvSpPr>
          <p:cNvPr id="13" name="TextBox 12"/>
          <p:cNvSpPr txBox="1"/>
          <p:nvPr/>
        </p:nvSpPr>
        <p:spPr>
          <a:xfrm>
            <a:off x="8046719" y="4754880"/>
            <a:ext cx="3474720" cy="822960"/>
          </a:xfrm>
          <a:prstGeom prst="rect">
            <a:avLst/>
          </a:prstGeom>
          <a:noFill/>
        </p:spPr>
        <p:txBody>
          <a:bodyPr wrap="square" lIns="0" rIns="0" tIns="0" bIns="0" anchor="t">
            <a:spAutoFit/>
          </a:bodyPr>
          <a:lstStyle/>
          <a:p>
            <a:pPr algn="l">
              <a:lnSpc>
                <a:spcPct val="110000"/>
              </a:lnSpc>
              <a:spcAft>
                <a:spcPts val="0"/>
              </a:spcAft>
            </a:pPr>
            <a:r>
              <a:rPr sz="4400" b="0" i="0">
                <a:solidFill>
                  <a:srgbClr val="C8463D"/>
                </a:solidFill>
                <a:latin typeface="Segoe UI Semibold"/>
                <a:ea typeface="Yu Gothic"/>
              </a:rPr>
              <a:t>4</a:t>
            </a:r>
          </a:p>
        </p:txBody>
      </p:sp>
      <p:sp>
        <p:nvSpPr>
          <p:cNvPr id="14" name="TextBox 13"/>
          <p:cNvSpPr txBox="1"/>
          <p:nvPr/>
        </p:nvSpPr>
        <p:spPr>
          <a:xfrm>
            <a:off x="8046719" y="5532120"/>
            <a:ext cx="3474720" cy="457200"/>
          </a:xfrm>
          <a:prstGeom prst="rect">
            <a:avLst/>
          </a:prstGeom>
          <a:noFill/>
        </p:spPr>
        <p:txBody>
          <a:bodyPr wrap="square" lIns="0" rIns="0" tIns="0" bIns="0" anchor="t">
            <a:spAutoFit/>
          </a:bodyPr>
          <a:lstStyle/>
          <a:p>
            <a:pPr algn="l">
              <a:lnSpc>
                <a:spcPct val="110000"/>
              </a:lnSpc>
              <a:spcAft>
                <a:spcPts val="0"/>
              </a:spcAft>
            </a:pPr>
            <a:r>
              <a:rPr sz="1400" b="0" i="0">
                <a:solidFill>
                  <a:srgbClr val="5B6B82"/>
                </a:solidFill>
                <a:latin typeface="Segoe UI"/>
                <a:ea typeface="Yu Gothic"/>
              </a:rPr>
              <a:t>scene khu vực tải thành công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logo_dark.png"/>
          <p:cNvPicPr>
            <a:picLocks noChangeAspect="1"/>
          </p:cNvPicPr>
          <p:nvPr/>
        </p:nvPicPr>
        <p:blipFill>
          <a:blip r:embed="rId2"/>
          <a:stretch>
            <a:fillRect/>
          </a:stretch>
        </p:blipFill>
        <p:spPr>
          <a:xfrm>
            <a:off x="640080" y="548640"/>
            <a:ext cx="2040940" cy="566928"/>
          </a:xfrm>
          <a:prstGeom prst="rect">
            <a:avLst/>
          </a:prstGeom>
        </p:spPr>
      </p:pic>
      <p:sp>
        <p:nvSpPr>
          <p:cNvPr id="3" name="TextBox 2"/>
          <p:cNvSpPr txBox="1"/>
          <p:nvPr/>
        </p:nvSpPr>
        <p:spPr>
          <a:xfrm>
            <a:off x="640080" y="2057400"/>
            <a:ext cx="5486400" cy="1463040"/>
          </a:xfrm>
          <a:prstGeom prst="rect">
            <a:avLst/>
          </a:prstGeom>
          <a:noFill/>
        </p:spPr>
        <p:txBody>
          <a:bodyPr wrap="square" lIns="0" rIns="0" tIns="0" bIns="0" anchor="t">
            <a:spAutoFit/>
          </a:bodyPr>
          <a:lstStyle/>
          <a:p>
            <a:pPr algn="l">
              <a:lnSpc>
                <a:spcPct val="110000"/>
              </a:lnSpc>
              <a:spcAft>
                <a:spcPts val="0"/>
              </a:spcAft>
            </a:pPr>
            <a:r>
              <a:rPr sz="11000" b="0" i="0">
                <a:solidFill>
                  <a:srgbClr val="F2B233"/>
                </a:solidFill>
                <a:latin typeface="Segoe UI Semibold"/>
                <a:ea typeface="Yu Gothic"/>
              </a:rPr>
              <a:t>05</a:t>
            </a:r>
          </a:p>
        </p:txBody>
      </p:sp>
      <p:sp>
        <p:nvSpPr>
          <p:cNvPr id="4" name="TextBox 3"/>
          <p:cNvSpPr txBox="1"/>
          <p:nvPr/>
        </p:nvSpPr>
        <p:spPr>
          <a:xfrm>
            <a:off x="640080" y="3611880"/>
            <a:ext cx="5486400" cy="1280160"/>
          </a:xfrm>
          <a:prstGeom prst="rect">
            <a:avLst/>
          </a:prstGeom>
          <a:noFill/>
        </p:spPr>
        <p:txBody>
          <a:bodyPr wrap="square" lIns="0" rIns="0" tIns="0" bIns="0" anchor="t">
            <a:spAutoFit/>
          </a:bodyPr>
          <a:lstStyle/>
          <a:p>
            <a:pPr algn="l">
              <a:lnSpc>
                <a:spcPct val="110000"/>
              </a:lnSpc>
              <a:spcAft>
                <a:spcPts val="0"/>
              </a:spcAft>
            </a:pPr>
            <a:r>
              <a:rPr sz="4000" b="0" i="0">
                <a:solidFill>
                  <a:srgbClr val="FFFFFF"/>
                </a:solidFill>
                <a:latin typeface="Segoe UI Semibold"/>
                <a:ea typeface="Yu Gothic"/>
              </a:rPr>
              <a:t>Hướng phát triển</a:t>
            </a:r>
          </a:p>
        </p:txBody>
      </p:sp>
      <p:sp>
        <p:nvSpPr>
          <p:cNvPr id="5" name="TextBox 4"/>
          <p:cNvSpPr txBox="1"/>
          <p:nvPr/>
        </p:nvSpPr>
        <p:spPr>
          <a:xfrm>
            <a:off x="640080" y="4800600"/>
            <a:ext cx="5303520" cy="914400"/>
          </a:xfrm>
          <a:prstGeom prst="rect">
            <a:avLst/>
          </a:prstGeom>
          <a:noFill/>
        </p:spPr>
        <p:txBody>
          <a:bodyPr wrap="square" lIns="0" rIns="0" tIns="0" bIns="0" anchor="t">
            <a:spAutoFit/>
          </a:bodyPr>
          <a:lstStyle/>
          <a:p>
            <a:pPr algn="l">
              <a:lnSpc>
                <a:spcPct val="110000"/>
              </a:lnSpc>
              <a:spcAft>
                <a:spcPts val="0"/>
              </a:spcAft>
            </a:pPr>
            <a:r>
              <a:rPr sz="1600" b="0" i="0">
                <a:solidFill>
                  <a:srgbClr val="C8D3E6"/>
                </a:solidFill>
                <a:latin typeface="Segoe UI"/>
                <a:ea typeface="Yu Gothic"/>
              </a:rPr>
              <a:t>Từ một khu phố N5 tới nền tảng học tiếng Nhật trong ngữ cảnh.</a:t>
            </a:r>
          </a:p>
        </p:txBody>
      </p:sp>
      <p:sp>
        <p:nvSpPr>
          <p:cNvPr id="6" name="TextBox 5"/>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24</a:t>
            </a:r>
          </a:p>
        </p:txBody>
      </p:sp>
      <p:pic>
        <p:nvPicPr>
          <p:cNvPr id="7" name="Picture 6" descr="05_quests.png"/>
          <p:cNvPicPr>
            <a:picLocks noChangeAspect="1"/>
          </p:cNvPicPr>
          <p:nvPr/>
        </p:nvPicPr>
        <p:blipFill>
          <a:blip r:embed="rId4"/>
          <a:srcRect l="27500" r="27500"/>
          <a:stretch>
            <a:fillRect/>
          </a:stretch>
        </p:blipFill>
        <p:spPr>
          <a:xfrm>
            <a:off x="6705295" y="0"/>
            <a:ext cx="54864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05 · HƯỚNG PHÁT TRIỂN</a:t>
            </a:r>
          </a:p>
        </p:txBody>
      </p:sp>
      <p:sp>
        <p:nvSpPr>
          <p:cNvPr id="3" name="TextBox 2"/>
          <p:cNvSpPr txBox="1"/>
          <p:nvPr/>
        </p:nvSpPr>
        <p:spPr>
          <a:xfrm>
            <a:off x="548640" y="603504"/>
            <a:ext cx="7863840" cy="731520"/>
          </a:xfrm>
          <a:prstGeom prst="rect">
            <a:avLst/>
          </a:prstGeom>
          <a:noFill/>
        </p:spPr>
        <p:txBody>
          <a:bodyPr wrap="square" lIns="0" rIns="0" tIns="0" bIns="0" anchor="t">
            <a:spAutoFit/>
          </a:bodyPr>
          <a:lstStyle/>
          <a:p>
            <a:pPr algn="l">
              <a:lnSpc>
                <a:spcPct val="110000"/>
              </a:lnSpc>
              <a:spcAft>
                <a:spcPts val="0"/>
              </a:spcAft>
            </a:pPr>
            <a:r>
              <a:rPr sz="3000" b="0" i="0">
                <a:solidFill>
                  <a:srgbClr val="14213D"/>
                </a:solidFill>
                <a:latin typeface="Segoe UI Semibold"/>
                <a:ea typeface="Yu Gothic"/>
              </a:rPr>
              <a:t>Lộ trình mở rộng</a:t>
            </a:r>
          </a:p>
        </p:txBody>
      </p:sp>
      <p:pic>
        <p:nvPicPr>
          <p:cNvPr id="4" name="Picture 3" descr="vtc-logo.png"/>
          <p:cNvPicPr>
            <a:picLocks noChangeAspect="1"/>
          </p:cNvPicPr>
          <p:nvPr/>
        </p:nvPicPr>
        <p:blipFill>
          <a:blip r:embed="rId2"/>
          <a:stretch>
            <a:fillRect/>
          </a:stretch>
        </p:blipFill>
        <p:spPr>
          <a:xfrm>
            <a:off x="8577072" y="429768"/>
            <a:ext cx="1834286" cy="310896"/>
          </a:xfrm>
          <a:prstGeom prst="rect">
            <a:avLst/>
          </a:prstGeom>
        </p:spPr>
      </p:pic>
      <p:pic>
        <p:nvPicPr>
          <p:cNvPr id="5" name="Picture 4" descr="logo_mark.png"/>
          <p:cNvPicPr>
            <a:picLocks noChangeAspect="1"/>
          </p:cNvPicPr>
          <p:nvPr/>
        </p:nvPicPr>
        <p:blipFill>
          <a:blip r:embed="rId3"/>
          <a:stretch>
            <a:fillRect/>
          </a:stretch>
        </p:blipFill>
        <p:spPr>
          <a:xfrm>
            <a:off x="11201400" y="365760"/>
            <a:ext cx="438912" cy="438912"/>
          </a:xfrm>
          <a:prstGeom prst="rect">
            <a:avLst/>
          </a:prstGeom>
        </p:spPr>
      </p:pic>
      <p:sp>
        <p:nvSpPr>
          <p:cNvPr id="6" name="TextBox 5"/>
          <p:cNvSpPr txBox="1"/>
          <p:nvPr/>
        </p:nvSpPr>
        <p:spPr>
          <a:xfrm>
            <a:off x="548640" y="6400800"/>
            <a:ext cx="5486400" cy="228600"/>
          </a:xfrm>
          <a:prstGeom prst="rect">
            <a:avLst/>
          </a:prstGeom>
          <a:noFill/>
        </p:spPr>
        <p:txBody>
          <a:bodyPr wrap="square" lIns="0" rIns="0" tIns="0" bIns="0" anchor="t">
            <a:spAutoFit/>
          </a:bodyPr>
          <a:lstStyle/>
          <a:p>
            <a:pPr algn="l">
              <a:lnSpc>
                <a:spcPct val="110000"/>
              </a:lnSpc>
              <a:spcAft>
                <a:spcPts val="0"/>
              </a:spcAft>
            </a:pPr>
            <a:r>
              <a:rPr sz="1000" b="0" i="0">
                <a:solidFill>
                  <a:srgbClr val="5B6B82"/>
                </a:solidFill>
                <a:latin typeface="Segoe UI"/>
                <a:ea typeface="Yu Gothic"/>
              </a:rPr>
              <a:t>NihongoLife  ·  Project 3 Capstone  ·  VTC Academy</a:t>
            </a:r>
          </a:p>
        </p:txBody>
      </p:sp>
      <p:sp>
        <p:nvSpPr>
          <p:cNvPr id="7" name="TextBox 6"/>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5B6B82"/>
                </a:solidFill>
                <a:latin typeface="Segoe UI Semibold"/>
                <a:ea typeface="Yu Gothic"/>
              </a:rPr>
              <a:t>25</a:t>
            </a:r>
          </a:p>
        </p:txBody>
      </p:sp>
      <p:sp>
        <p:nvSpPr>
          <p:cNvPr id="8" name="Rounded Rectangle 7"/>
          <p:cNvSpPr/>
          <p:nvPr/>
        </p:nvSpPr>
        <p:spPr>
          <a:xfrm>
            <a:off x="548640" y="1600200"/>
            <a:ext cx="3474720" cy="4480560"/>
          </a:xfrm>
          <a:prstGeom prst="roundRect">
            <a:avLst>
              <a:gd name="adj" fmla="val 6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28800"/>
            <a:ext cx="2926080" cy="36576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GIAI ĐOẠN 1</a:t>
            </a:r>
          </a:p>
        </p:txBody>
      </p:sp>
      <p:sp>
        <p:nvSpPr>
          <p:cNvPr id="10" name="TextBox 9"/>
          <p:cNvSpPr txBox="1"/>
          <p:nvPr/>
        </p:nvSpPr>
        <p:spPr>
          <a:xfrm>
            <a:off x="868680" y="2194560"/>
            <a:ext cx="2926080" cy="548640"/>
          </a:xfrm>
          <a:prstGeom prst="rect">
            <a:avLst/>
          </a:prstGeom>
          <a:noFill/>
        </p:spPr>
        <p:txBody>
          <a:bodyPr wrap="square" lIns="0" rIns="0" tIns="0" bIns="0" anchor="t">
            <a:spAutoFit/>
          </a:bodyPr>
          <a:lstStyle/>
          <a:p>
            <a:pPr algn="l">
              <a:lnSpc>
                <a:spcPct val="110000"/>
              </a:lnSpc>
              <a:spcAft>
                <a:spcPts val="0"/>
              </a:spcAft>
            </a:pPr>
            <a:r>
              <a:rPr sz="2600" b="0" i="0">
                <a:solidFill>
                  <a:srgbClr val="14213D"/>
                </a:solidFill>
                <a:latin typeface="Segoe UI Semibold"/>
                <a:ea typeface="Yu Gothic"/>
              </a:rPr>
              <a:t>Ngắn hạn</a:t>
            </a:r>
          </a:p>
        </p:txBody>
      </p:sp>
      <p:sp>
        <p:nvSpPr>
          <p:cNvPr id="11" name="TextBox 10"/>
          <p:cNvSpPr txBox="1"/>
          <p:nvPr/>
        </p:nvSpPr>
        <p:spPr>
          <a:xfrm>
            <a:off x="868680" y="3063240"/>
            <a:ext cx="2880360" cy="2926080"/>
          </a:xfrm>
          <a:prstGeom prst="rect">
            <a:avLst/>
          </a:prstGeom>
          <a:noFill/>
        </p:spPr>
        <p:txBody>
          <a:bodyPr wrap="square" lIns="0" rIns="0" tIns="0" bIns="0">
            <a:spAutoFit/>
          </a:bodyPr>
          <a:lstStyle/>
          <a:p>
            <a:pPr marL="256032" indent="-256032">
              <a:lnSpc>
                <a:spcPct val="110000"/>
              </a:lnSpc>
              <a:spcAft>
                <a:spcPts val="1400"/>
              </a:spcAft>
              <a:buClr>
                <a:srgbClr val="F2B233"/>
              </a:buClr>
              <a:buFont typeface="Arial"/>
              <a:buChar char="●"/>
            </a:pPr>
            <a:r>
              <a:rPr sz="1500">
                <a:solidFill>
                  <a:srgbClr val="22304A"/>
                </a:solidFill>
                <a:latin typeface="Segoe UI"/>
                <a:ea typeface="Yu Gothic"/>
              </a:rPr>
              <a:t>Kiểm thử trọn campaign 14 tình huống</a:t>
            </a:r>
          </a:p>
          <a:p>
            <a:pPr marL="256032" indent="-256032">
              <a:lnSpc>
                <a:spcPct val="110000"/>
              </a:lnSpc>
              <a:spcAft>
                <a:spcPts val="1400"/>
              </a:spcAft>
              <a:buClr>
                <a:srgbClr val="F2B233"/>
              </a:buClr>
              <a:buFont typeface="Arial"/>
              <a:buChar char="●"/>
            </a:pPr>
            <a:r>
              <a:rPr sz="1500">
                <a:solidFill>
                  <a:srgbClr val="22304A"/>
                </a:solidFill>
                <a:latin typeface="Segoe UI"/>
                <a:ea typeface="Yu Gothic"/>
              </a:rPr>
              <a:t>Lồng tiếng Nhật thật cho NPC</a:t>
            </a:r>
          </a:p>
          <a:p>
            <a:pPr marL="256032" indent="-256032">
              <a:lnSpc>
                <a:spcPct val="110000"/>
              </a:lnSpc>
              <a:spcAft>
                <a:spcPts val="1400"/>
              </a:spcAft>
              <a:buClr>
                <a:srgbClr val="F2B233"/>
              </a:buClr>
              <a:buFont typeface="Arial"/>
              <a:buChar char="●"/>
            </a:pPr>
            <a:r>
              <a:rPr sz="1500">
                <a:solidFill>
                  <a:srgbClr val="22304A"/>
                </a:solidFill>
                <a:latin typeface="Segoe UI"/>
                <a:ea typeface="Yu Gothic"/>
              </a:rPr>
              <a:t>Giáo viên bản ngữ duyệt nội dung</a:t>
            </a:r>
          </a:p>
        </p:txBody>
      </p:sp>
      <p:sp>
        <p:nvSpPr>
          <p:cNvPr id="12" name="Rounded Rectangle 11"/>
          <p:cNvSpPr/>
          <p:nvPr/>
        </p:nvSpPr>
        <p:spPr>
          <a:xfrm>
            <a:off x="4297679" y="1600200"/>
            <a:ext cx="3474720" cy="4480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19" y="1828800"/>
            <a:ext cx="2926080" cy="365760"/>
          </a:xfrm>
          <a:prstGeom prst="rect">
            <a:avLst/>
          </a:prstGeom>
          <a:noFill/>
        </p:spPr>
        <p:txBody>
          <a:bodyPr wrap="square" lIns="0" rIns="0" tIns="0" bIns="0" anchor="t">
            <a:spAutoFit/>
          </a:bodyPr>
          <a:lstStyle/>
          <a:p>
            <a:pPr algn="l">
              <a:lnSpc>
                <a:spcPct val="110000"/>
              </a:lnSpc>
              <a:spcAft>
                <a:spcPts val="0"/>
              </a:spcAft>
            </a:pPr>
            <a:r>
              <a:rPr sz="1200" b="0" i="0">
                <a:solidFill>
                  <a:srgbClr val="F2B233"/>
                </a:solidFill>
                <a:latin typeface="Segoe UI Semibold"/>
                <a:ea typeface="Yu Gothic"/>
              </a:rPr>
              <a:t>GIAI ĐOẠN 2</a:t>
            </a:r>
          </a:p>
        </p:txBody>
      </p:sp>
      <p:sp>
        <p:nvSpPr>
          <p:cNvPr id="14" name="TextBox 13"/>
          <p:cNvSpPr txBox="1"/>
          <p:nvPr/>
        </p:nvSpPr>
        <p:spPr>
          <a:xfrm>
            <a:off x="4617719" y="2194560"/>
            <a:ext cx="2926080" cy="548640"/>
          </a:xfrm>
          <a:prstGeom prst="rect">
            <a:avLst/>
          </a:prstGeom>
          <a:noFill/>
        </p:spPr>
        <p:txBody>
          <a:bodyPr wrap="square" lIns="0" rIns="0" tIns="0" bIns="0" anchor="t">
            <a:spAutoFit/>
          </a:bodyPr>
          <a:lstStyle/>
          <a:p>
            <a:pPr algn="l">
              <a:lnSpc>
                <a:spcPct val="110000"/>
              </a:lnSpc>
              <a:spcAft>
                <a:spcPts val="0"/>
              </a:spcAft>
            </a:pPr>
            <a:r>
              <a:rPr sz="2600" b="0" i="0">
                <a:solidFill>
                  <a:srgbClr val="FFFFFF"/>
                </a:solidFill>
                <a:latin typeface="Segoe UI Semibold"/>
                <a:ea typeface="Yu Gothic"/>
              </a:rPr>
              <a:t>Trung hạn</a:t>
            </a:r>
          </a:p>
        </p:txBody>
      </p:sp>
      <p:sp>
        <p:nvSpPr>
          <p:cNvPr id="15" name="TextBox 14"/>
          <p:cNvSpPr txBox="1"/>
          <p:nvPr/>
        </p:nvSpPr>
        <p:spPr>
          <a:xfrm>
            <a:off x="4617719" y="3063240"/>
            <a:ext cx="2880360" cy="2926080"/>
          </a:xfrm>
          <a:prstGeom prst="rect">
            <a:avLst/>
          </a:prstGeom>
          <a:noFill/>
        </p:spPr>
        <p:txBody>
          <a:bodyPr wrap="square" lIns="0" rIns="0" tIns="0" bIns="0">
            <a:spAutoFit/>
          </a:bodyPr>
          <a:lstStyle/>
          <a:p>
            <a:pPr marL="256032" indent="-256032">
              <a:lnSpc>
                <a:spcPct val="110000"/>
              </a:lnSpc>
              <a:spcAft>
                <a:spcPts val="1400"/>
              </a:spcAft>
              <a:buClr>
                <a:srgbClr val="F2B233"/>
              </a:buClr>
              <a:buFont typeface="Arial"/>
              <a:buChar char="●"/>
            </a:pPr>
            <a:r>
              <a:rPr sz="1500">
                <a:solidFill>
                  <a:srgbClr val="E3E9F3"/>
                </a:solidFill>
                <a:latin typeface="Segoe UI"/>
                <a:ea typeface="Yu Gothic"/>
              </a:rPr>
              <a:t>Bản WebGL và mobile</a:t>
            </a:r>
          </a:p>
          <a:p>
            <a:pPr marL="256032" indent="-256032">
              <a:lnSpc>
                <a:spcPct val="110000"/>
              </a:lnSpc>
              <a:spcAft>
                <a:spcPts val="1400"/>
              </a:spcAft>
              <a:buClr>
                <a:srgbClr val="F2B233"/>
              </a:buClr>
              <a:buFont typeface="Arial"/>
              <a:buChar char="●"/>
            </a:pPr>
            <a:r>
              <a:rPr sz="1500">
                <a:solidFill>
                  <a:srgbClr val="E3E9F3"/>
                </a:solidFill>
                <a:latin typeface="Segoe UI"/>
                <a:ea typeface="Yu Gothic"/>
              </a:rPr>
              <a:t>Backend xác thực điểm thi, xếp hạng</a:t>
            </a:r>
          </a:p>
          <a:p>
            <a:pPr marL="256032" indent="-256032">
              <a:lnSpc>
                <a:spcPct val="110000"/>
              </a:lnSpc>
              <a:spcAft>
                <a:spcPts val="1400"/>
              </a:spcAft>
              <a:buClr>
                <a:srgbClr val="F2B233"/>
              </a:buClr>
              <a:buFont typeface="Arial"/>
              <a:buChar char="●"/>
            </a:pPr>
            <a:r>
              <a:rPr sz="1500">
                <a:solidFill>
                  <a:srgbClr val="E3E9F3"/>
                </a:solidFill>
                <a:latin typeface="Segoe UI"/>
                <a:ea typeface="Yu Gothic"/>
              </a:rPr>
              <a:t>Co-op học cùng bạn hoàn chỉnh</a:t>
            </a:r>
          </a:p>
        </p:txBody>
      </p:sp>
      <p:sp>
        <p:nvSpPr>
          <p:cNvPr id="16" name="Rounded Rectangle 15"/>
          <p:cNvSpPr/>
          <p:nvPr/>
        </p:nvSpPr>
        <p:spPr>
          <a:xfrm>
            <a:off x="8046719" y="1600200"/>
            <a:ext cx="3474720" cy="4480560"/>
          </a:xfrm>
          <a:prstGeom prst="roundRect">
            <a:avLst>
              <a:gd name="adj" fmla="val 6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9" y="1828800"/>
            <a:ext cx="2926080" cy="365760"/>
          </a:xfrm>
          <a:prstGeom prst="rect">
            <a:avLst/>
          </a:prstGeom>
          <a:noFill/>
        </p:spPr>
        <p:txBody>
          <a:bodyPr wrap="square" lIns="0" rIns="0" tIns="0" bIns="0" anchor="t">
            <a:spAutoFit/>
          </a:bodyPr>
          <a:lstStyle/>
          <a:p>
            <a:pPr algn="l">
              <a:lnSpc>
                <a:spcPct val="110000"/>
              </a:lnSpc>
              <a:spcAft>
                <a:spcPts val="0"/>
              </a:spcAft>
            </a:pPr>
            <a:r>
              <a:rPr sz="1200" b="0" i="0">
                <a:solidFill>
                  <a:srgbClr val="B07D12"/>
                </a:solidFill>
                <a:latin typeface="Segoe UI Semibold"/>
                <a:ea typeface="Yu Gothic"/>
              </a:rPr>
              <a:t>GIAI ĐOẠN 3</a:t>
            </a:r>
          </a:p>
        </p:txBody>
      </p:sp>
      <p:sp>
        <p:nvSpPr>
          <p:cNvPr id="18" name="TextBox 17"/>
          <p:cNvSpPr txBox="1"/>
          <p:nvPr/>
        </p:nvSpPr>
        <p:spPr>
          <a:xfrm>
            <a:off x="8366759" y="2194560"/>
            <a:ext cx="2926080" cy="548640"/>
          </a:xfrm>
          <a:prstGeom prst="rect">
            <a:avLst/>
          </a:prstGeom>
          <a:noFill/>
        </p:spPr>
        <p:txBody>
          <a:bodyPr wrap="square" lIns="0" rIns="0" tIns="0" bIns="0" anchor="t">
            <a:spAutoFit/>
          </a:bodyPr>
          <a:lstStyle/>
          <a:p>
            <a:pPr algn="l">
              <a:lnSpc>
                <a:spcPct val="110000"/>
              </a:lnSpc>
              <a:spcAft>
                <a:spcPts val="0"/>
              </a:spcAft>
            </a:pPr>
            <a:r>
              <a:rPr sz="2600" b="0" i="0">
                <a:solidFill>
                  <a:srgbClr val="14213D"/>
                </a:solidFill>
                <a:latin typeface="Segoe UI Semibold"/>
                <a:ea typeface="Yu Gothic"/>
              </a:rPr>
              <a:t>Dài hạn</a:t>
            </a:r>
          </a:p>
        </p:txBody>
      </p:sp>
      <p:sp>
        <p:nvSpPr>
          <p:cNvPr id="19" name="TextBox 18"/>
          <p:cNvSpPr txBox="1"/>
          <p:nvPr/>
        </p:nvSpPr>
        <p:spPr>
          <a:xfrm>
            <a:off x="8366759" y="3063240"/>
            <a:ext cx="2880360" cy="2926080"/>
          </a:xfrm>
          <a:prstGeom prst="rect">
            <a:avLst/>
          </a:prstGeom>
          <a:noFill/>
        </p:spPr>
        <p:txBody>
          <a:bodyPr wrap="square" lIns="0" rIns="0" tIns="0" bIns="0">
            <a:spAutoFit/>
          </a:bodyPr>
          <a:lstStyle/>
          <a:p>
            <a:pPr marL="256032" indent="-256032">
              <a:lnSpc>
                <a:spcPct val="110000"/>
              </a:lnSpc>
              <a:spcAft>
                <a:spcPts val="1400"/>
              </a:spcAft>
              <a:buClr>
                <a:srgbClr val="F2B233"/>
              </a:buClr>
              <a:buFont typeface="Arial"/>
              <a:buChar char="●"/>
            </a:pPr>
            <a:r>
              <a:rPr sz="1500">
                <a:solidFill>
                  <a:srgbClr val="22304A"/>
                </a:solidFill>
                <a:latin typeface="Segoe UI"/>
                <a:ea typeface="Yu Gothic"/>
              </a:rPr>
              <a:t>Nội dung N4, N3 và khu vực mới</a:t>
            </a:r>
          </a:p>
          <a:p>
            <a:pPr marL="256032" indent="-256032">
              <a:lnSpc>
                <a:spcPct val="110000"/>
              </a:lnSpc>
              <a:spcAft>
                <a:spcPts val="1400"/>
              </a:spcAft>
              <a:buClr>
                <a:srgbClr val="F2B233"/>
              </a:buClr>
              <a:buFont typeface="Arial"/>
              <a:buChar char="●"/>
            </a:pPr>
            <a:r>
              <a:rPr sz="1500">
                <a:solidFill>
                  <a:srgbClr val="22304A"/>
                </a:solidFill>
                <a:latin typeface="Segoe UI"/>
                <a:ea typeface="Yu Gothic"/>
              </a:rPr>
              <a:t>Lộ trình học cá nhân hóa</a:t>
            </a:r>
          </a:p>
          <a:p>
            <a:pPr marL="256032" indent="-256032">
              <a:lnSpc>
                <a:spcPct val="110000"/>
              </a:lnSpc>
              <a:spcAft>
                <a:spcPts val="1400"/>
              </a:spcAft>
              <a:buClr>
                <a:srgbClr val="F2B233"/>
              </a:buClr>
              <a:buFont typeface="Arial"/>
              <a:buChar char="●"/>
            </a:pPr>
            <a:r>
              <a:rPr sz="1500">
                <a:solidFill>
                  <a:srgbClr val="22304A"/>
                </a:solidFill>
                <a:latin typeface="Segoe UI"/>
                <a:ea typeface="Yu Gothic"/>
              </a:rPr>
              <a:t>Kết nối LMS cho trường học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pic>
        <p:nvPicPr>
          <p:cNvPr id="2" name="Picture 1" descr="01_menu.png"/>
          <p:cNvPicPr>
            <a:picLocks noChangeAspect="1"/>
          </p:cNvPicPr>
          <p:nvPr/>
        </p:nvPicPr>
        <p:blipFill>
          <a:blip r:embed="rId2"/>
          <a:srcRect l="27500" r="27500"/>
          <a:stretch>
            <a:fillRect/>
          </a:stretch>
        </p:blipFill>
        <p:spPr>
          <a:xfrm>
            <a:off x="6705295" y="0"/>
            <a:ext cx="5486400" cy="6858000"/>
          </a:xfrm>
          <a:prstGeom prst="rect">
            <a:avLst/>
          </a:prstGeom>
        </p:spPr>
      </p:pic>
      <p:pic>
        <p:nvPicPr>
          <p:cNvPr id="3" name="Picture 2" descr="logo_dark.png"/>
          <p:cNvPicPr>
            <a:picLocks noChangeAspect="1"/>
          </p:cNvPicPr>
          <p:nvPr/>
        </p:nvPicPr>
        <p:blipFill>
          <a:blip r:embed="rId3"/>
          <a:stretch>
            <a:fillRect/>
          </a:stretch>
        </p:blipFill>
        <p:spPr>
          <a:xfrm>
            <a:off x="640080" y="594360"/>
            <a:ext cx="2633472" cy="731520"/>
          </a:xfrm>
          <a:prstGeom prst="rect">
            <a:avLst/>
          </a:prstGeom>
        </p:spPr>
      </p:pic>
      <p:sp>
        <p:nvSpPr>
          <p:cNvPr id="4" name="TextBox 3"/>
          <p:cNvSpPr txBox="1"/>
          <p:nvPr/>
        </p:nvSpPr>
        <p:spPr>
          <a:xfrm>
            <a:off x="640080" y="2011680"/>
            <a:ext cx="5852160" cy="914400"/>
          </a:xfrm>
          <a:prstGeom prst="rect">
            <a:avLst/>
          </a:prstGeom>
          <a:noFill/>
        </p:spPr>
        <p:txBody>
          <a:bodyPr wrap="square" lIns="0" rIns="0" tIns="0" bIns="0" anchor="t">
            <a:spAutoFit/>
          </a:bodyPr>
          <a:lstStyle/>
          <a:p>
            <a:pPr algn="l">
              <a:lnSpc>
                <a:spcPct val="110000"/>
              </a:lnSpc>
              <a:spcAft>
                <a:spcPts val="0"/>
              </a:spcAft>
            </a:pPr>
            <a:r>
              <a:rPr sz="3400" b="1" i="0">
                <a:solidFill>
                  <a:srgbClr val="F2B233"/>
                </a:solidFill>
                <a:latin typeface="Yu Gothic"/>
                <a:ea typeface="Yu Gothic"/>
              </a:rPr>
              <a:t>ありがとうございました</a:t>
            </a:r>
          </a:p>
        </p:txBody>
      </p:sp>
      <p:sp>
        <p:nvSpPr>
          <p:cNvPr id="5" name="TextBox 4"/>
          <p:cNvSpPr txBox="1"/>
          <p:nvPr/>
        </p:nvSpPr>
        <p:spPr>
          <a:xfrm>
            <a:off x="640080" y="2834640"/>
            <a:ext cx="5852160" cy="1463040"/>
          </a:xfrm>
          <a:prstGeom prst="rect">
            <a:avLst/>
          </a:prstGeom>
          <a:noFill/>
        </p:spPr>
        <p:txBody>
          <a:bodyPr wrap="square" lIns="0" rIns="0" tIns="0" bIns="0" anchor="t">
            <a:spAutoFit/>
          </a:bodyPr>
          <a:lstStyle/>
          <a:p>
            <a:pPr algn="l">
              <a:lnSpc>
                <a:spcPct val="100000"/>
              </a:lnSpc>
              <a:spcAft>
                <a:spcPts val="0"/>
              </a:spcAft>
            </a:pPr>
            <a:r>
              <a:rPr sz="3400" b="0" i="0">
                <a:solidFill>
                  <a:srgbClr val="FFFFFF"/>
                </a:solidFill>
                <a:latin typeface="Segoe UI Semibold"/>
                <a:ea typeface="Yu Gothic"/>
              </a:rPr>
              <a:t>Cảm ơn quý thầy cô và các bạn đã lắng nghe!</a:t>
            </a:r>
          </a:p>
        </p:txBody>
      </p:sp>
      <p:sp>
        <p:nvSpPr>
          <p:cNvPr id="6" name="TextBox 5"/>
          <p:cNvSpPr txBox="1"/>
          <p:nvPr/>
        </p:nvSpPr>
        <p:spPr>
          <a:xfrm>
            <a:off x="640080" y="4434840"/>
            <a:ext cx="5852160" cy="457200"/>
          </a:xfrm>
          <a:prstGeom prst="rect">
            <a:avLst/>
          </a:prstGeom>
          <a:noFill/>
        </p:spPr>
        <p:txBody>
          <a:bodyPr wrap="square" lIns="0" rIns="0" tIns="0" bIns="0" anchor="t">
            <a:spAutoFit/>
          </a:bodyPr>
          <a:lstStyle/>
          <a:p>
            <a:pPr algn="l">
              <a:lnSpc>
                <a:spcPct val="110000"/>
              </a:lnSpc>
              <a:spcAft>
                <a:spcPts val="0"/>
              </a:spcAft>
            </a:pPr>
            <a:r>
              <a:rPr sz="2000" b="0" i="0">
                <a:solidFill>
                  <a:srgbClr val="C8D3E6"/>
                </a:solidFill>
                <a:latin typeface="Segoe UI Semibold"/>
                <a:ea typeface="Yu Gothic"/>
              </a:rPr>
              <a:t>Hỏi &amp; đáp</a:t>
            </a:r>
          </a:p>
        </p:txBody>
      </p:sp>
      <p:sp>
        <p:nvSpPr>
          <p:cNvPr id="7" name="Rounded Rectangle 6"/>
          <p:cNvSpPr/>
          <p:nvPr/>
        </p:nvSpPr>
        <p:spPr>
          <a:xfrm>
            <a:off x="548640" y="5349240"/>
            <a:ext cx="3611880" cy="694944"/>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tc-logo.png"/>
          <p:cNvPicPr>
            <a:picLocks noChangeAspect="1"/>
          </p:cNvPicPr>
          <p:nvPr/>
        </p:nvPicPr>
        <p:blipFill>
          <a:blip r:embed="rId4"/>
          <a:stretch>
            <a:fillRect/>
          </a:stretch>
        </p:blipFill>
        <p:spPr>
          <a:xfrm>
            <a:off x="658368" y="5468112"/>
            <a:ext cx="2697480" cy="457200"/>
          </a:xfrm>
          <a:prstGeom prst="rect">
            <a:avLst/>
          </a:prstGeom>
        </p:spPr>
      </p:pic>
      <p:sp>
        <p:nvSpPr>
          <p:cNvPr id="9" name="TextBox 8"/>
          <p:cNvSpPr txBox="1"/>
          <p:nvPr/>
        </p:nvSpPr>
        <p:spPr>
          <a:xfrm>
            <a:off x="11091672" y="6400800"/>
            <a:ext cx="548640" cy="228600"/>
          </a:xfrm>
          <a:prstGeom prst="rect">
            <a:avLst/>
          </a:prstGeom>
          <a:noFill/>
        </p:spPr>
        <p:txBody>
          <a:bodyPr wrap="square" lIns="0" rIns="0" tIns="0" bIns="0" anchor="t">
            <a:spAutoFit/>
          </a:bodyPr>
          <a:lstStyle/>
          <a:p>
            <a:pPr algn="r">
              <a:lnSpc>
                <a:spcPct val="110000"/>
              </a:lnSpc>
              <a:spcAft>
                <a:spcPts val="0"/>
              </a:spcAft>
            </a:pPr>
            <a:r>
              <a:rPr sz="1000" b="0" i="0">
                <a:solidFill>
                  <a:srgbClr val="8FA0BC"/>
                </a:solidFill>
                <a:latin typeface="Segoe UI Semibold"/>
                <a:ea typeface="Yu Gothic"/>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NihongoLife — Thuyết trình Project 3 Capstone</dc:title>
  <dc:subject/>
  <dc:creator>Quách Thành Long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