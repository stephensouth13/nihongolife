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cô và các bạn. Em là Quách Thành Long, lớp K24GD03. Đồ án của em là NihongoLife — game 3D mô phỏng cuộc sống tại khu phố Hibari-chō, nơi người chơi học tiếng Nhật N5 bằng cách thực sự sống và giao tiếp.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trình bày gồm 6 phần. Trọng tâm là phần 2: em sẽ đi qua từng scene của game với ảnh chụp thật trong Play Mode.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1: ý tưởng game — xuất phát từ khó khăn thật của người mới học tiếng Nhật.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mới học thường nhớ từ nhưng không phản xạ được khi gặp tình huống thật. NihongoLife đặt kiến thức N5 vào những việc cụ thể và biến lỗi sai thành cơ hội học.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Mọi hoạt động trong game đều đi qua vòng lặp 6 bước. Bước 5 quan trọng nhất: lỗi sai không làm thua mà mở ra giải thích và cơ hội thử lại.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ngày của người chơi đi qua đủ các khu vực, mỗi nơi gắn với một nhóm câu tiếng Nhật: từ chào buổi sáng tới chúc ngủ ngon.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2: thế giới game và từng scene.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Thế giới được tổ chức kiểu trung tâm và nhánh. Thành phố Hibari-chō là trung tâm; ga, quán sushi, trường và phòng trọ là các scene riêng, nạp thêm khi bước qua cửa. Bản đồ dùng tọa độ thật nên vị trí 'Bạn đang ở đây' luôn đúng.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khởi động tạo các dịch vụ dùng chung rồi chuyển sang menu. Menu cho đổi ngôn ngữ tức thì và có hướng dẫn 4 bước.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Thành phố được làm lại: dọn 61 object bị nhân bản, thêm cột chỉ đường và mặt tiền cho từng nơi để người chơi biết đi đâu.</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đây siêu thị chỉ là kệ hàng lộ thiên trên đường và thiếu NPC thu ngân nên nhiệm vụ bị kẹt. Giờ là tòa nhà hoàn chỉnh với chị Ito đứng quầy.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Phòng trọ được làm lại hoàn toàn: trước đây chỉ là các khối hộp và nhấn F không ngủ được. Giờ mọi đồ vật đều tương tác được và có test tự động.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 tàu là nơi luyện hỏi đường và mua vé. Từ thành phố, người chơi đi theo biển chỉ đường tới cổng ga.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Nhà hàng là một vòng đời sống trọn vẹn với nhiều câu lịch sự gắn với văn hóa ăn uống Nhật.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Trường học gắn với tình huống tự giới thiệu trước lớp và trung tâm luyện thi.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3: các hệ thống gameplay và giao diện dùng chung trong mọi scene.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trái tim của game. Câu lịch sự được cộng điểm; câu thân mật hoặc sai thời điểm sẽ được NPC giải thích và cho chọn lại.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chơi luôn biết cần làm gì và đi đâu: nhật ký nhiệm vụ liệt kê mục tiêu, bản đồ khớp đúng vị trí thật trong thành phố.</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Ngoài campaign, game có trung tâm luyện thi độc lập. Kết quả chỉ để tự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màn hình hỗ trợ: cài đặt, hồ sơ và popup giới thiệu. Tính năng online xây trên Supabase và có chế độ offline dự phòng.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scene chơi được, 14 tình huống học tập, 3 ngôn ngữ, chấm 5 nhóm kỹ năng, 2 đề luyện thi, và bộ test Play Mode tự động đạt 5/5.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4: công cụ làm game.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Game xây trên Unity 6 với URP, viết bằng C#. Nội dung học là ScriptableObject. Các scene được dựng bằng editor builder chạy batchmode và được kiểm thử bằng Unity Test Framework.</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5: phân tích, thiết kế và kiểm thử.</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Tác nhân chính là người học. 7 use case chính bao phủ từ vào game, chơi tình huống, mua sắm, di chuyển giữa các khu, sinh hoạt ở phòng trọ, luyện thi đến online.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diagram cho hội thoại: tiếp cận NPC, mở hội thoại, hỗ trợ theo chế độ học, chọn câu, chấm điểm, rẽ nhánh. Nhánh sai đi tới giải thích và thử lại.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luồng đời sống và luyện thi, mỗi luồng có điểm bắt đầu, kết thúc và một nhánh ngoại lệ.</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5 lớp. Các khu vực là scene riêng nạp additive; nội dung là dữ liệu; scene được dựng bằng builder chạy lại an toàn.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đi từ ScenarioDefinition qua ScenarioManager, DialogueManager tới ScoringManager và lưu tiến trình.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scene có test Play Mode tự động: đi vào bằng cửa thật, va chạm tường, tương tác từng đồ vật, chụp ảnh. Nhờ đó em tìm và sửa các lỗi trong bảng.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6: khả năng mở rộng trong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Lộ trình 3 giai đoạn: hoàn thiện âm thanh và nhân vật, mở rộng nền tảng web/mobile và online, rồi nâng lên N4, N3.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cảm ơn thầy cô và các bạn đã lắng nghe. Em rất mong nhận được câu hỏi và góp 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21.png"/><Relationship Id="rId6" Type="http://schemas.openxmlformats.org/officeDocument/2006/relationships/image" Target="../media/image7.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12.png"/><Relationship Id="rId6" Type="http://schemas.openxmlformats.org/officeDocument/2006/relationships/image" Target="../media/image25.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11.png"/><Relationship Id="rId6" Type="http://schemas.openxmlformats.org/officeDocument/2006/relationships/image" Target="../media/image27.png"/><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28.png"/><Relationship Id="rId5" Type="http://schemas.openxmlformats.org/officeDocument/2006/relationships/image" Target="../media/image10.png"/><Relationship Id="rId6" Type="http://schemas.openxmlformats.org/officeDocument/2006/relationships/image" Target="../media/image29.png"/><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image" Target="../media/image15.png"/><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18.png"/><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6.png"/><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39.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40.png"/><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4" name="Rounded Rectangle 3"/>
          <p:cNvSpPr/>
          <p:nvPr/>
        </p:nvSpPr>
        <p:spPr>
          <a:xfrm>
            <a:off x="548640" y="384048"/>
            <a:ext cx="3611880" cy="69494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 name="Picture 1" descr="02_konbini_front.png"/>
          <p:cNvPicPr>
            <a:picLocks noChangeAspect="1"/>
          </p:cNvPicPr>
          <p:nvPr/>
        </p:nvPicPr>
        <p:blipFill>
          <a:blip r:embed="rId2"/>
          <a:srcRect l="27500" r="27500"/>
          <a:stretch>
            <a:fillRect/>
          </a:stretch>
        </p:blipFill>
        <p:spPr>
          <a:xfrm>
            <a:off x="6705295" y="0"/>
            <a:ext cx="5486400" cy="6858000"/>
          </a:xfrm>
          <a:prstGeom prst="rect">
            <a:avLst/>
          </a:prstGeom>
        </p:spPr>
      </p:pic>
      <p:pic>
        <p:nvPicPr>
          <p:cNvPr id="3" name="Picture 2" descr="vtc-logo.png"/>
          <p:cNvPicPr>
            <a:picLocks noChangeAspect="1"/>
          </p:cNvPicPr>
          <p:nvPr/>
        </p:nvPicPr>
        <p:blipFill>
          <a:blip r:embed="rId3"/>
          <a:stretch>
            <a:fillRect/>
          </a:stretch>
        </p:blipFill>
        <p:spPr>
          <a:xfrm>
            <a:off x="640080" y="502920"/>
            <a:ext cx="2697480" cy="457200"/>
          </a:xfrm>
          <a:prstGeom prst="rect">
            <a:avLst/>
          </a:prstGeom>
        </p:spPr>
      </p:pic>
      <p:pic>
        <p:nvPicPr>
          <p:cNvPr id="5" name="Picture 4" descr="logo_dark.png"/>
          <p:cNvPicPr>
            <a:picLocks noChangeAspect="1"/>
          </p:cNvPicPr>
          <p:nvPr/>
        </p:nvPicPr>
        <p:blipFill>
          <a:blip r:embed="rId4"/>
          <a:stretch>
            <a:fillRect/>
          </a:stretch>
        </p:blipFill>
        <p:spPr>
          <a:xfrm>
            <a:off x="640080" y="1828800"/>
            <a:ext cx="3456432" cy="960120"/>
          </a:xfrm>
          <a:prstGeom prst="rect">
            <a:avLst/>
          </a:prstGeom>
        </p:spPr>
      </p:pic>
      <p:sp>
        <p:nvSpPr>
          <p:cNvPr id="6" name="TextBox 5"/>
          <p:cNvSpPr txBox="1"/>
          <p:nvPr/>
        </p:nvSpPr>
        <p:spPr>
          <a:xfrm>
            <a:off x="640080" y="3063240"/>
            <a:ext cx="5852160" cy="365760"/>
          </a:xfrm>
          <a:prstGeom prst="rect">
            <a:avLst/>
          </a:prstGeom>
          <a:noFill/>
        </p:spPr>
        <p:txBody>
          <a:bodyPr wrap="square" lIns="0" rIns="0" tIns="0" bIns="0" anchor="t">
            <a:spAutoFit/>
          </a:bodyPr>
          <a:lstStyle/>
          <a:p>
            <a:pPr algn="l">
              <a:lnSpc>
                <a:spcPct val="110000"/>
              </a:lnSpc>
              <a:spcAft>
                <a:spcPts val="0"/>
              </a:spcAft>
            </a:pPr>
            <a:r>
              <a:rPr sz="1400" b="0" i="0">
                <a:solidFill>
                  <a:srgbClr val="F2B233"/>
                </a:solidFill>
                <a:latin typeface="Segoe UI Semibold"/>
                <a:ea typeface="Yu Gothic"/>
              </a:rPr>
              <a:t>PROJECT 3 · CAPSTONE  —  BÁO CÁO ĐỒ ÁN</a:t>
            </a:r>
          </a:p>
        </p:txBody>
      </p:sp>
      <p:sp>
        <p:nvSpPr>
          <p:cNvPr id="7" name="TextBox 6"/>
          <p:cNvSpPr txBox="1"/>
          <p:nvPr/>
        </p:nvSpPr>
        <p:spPr>
          <a:xfrm>
            <a:off x="640080" y="3474720"/>
            <a:ext cx="5852160" cy="1188720"/>
          </a:xfrm>
          <a:prstGeom prst="rect">
            <a:avLst/>
          </a:prstGeom>
          <a:noFill/>
        </p:spPr>
        <p:txBody>
          <a:bodyPr wrap="square" lIns="0" rIns="0" tIns="0" bIns="0" anchor="t">
            <a:spAutoFit/>
          </a:bodyPr>
          <a:lstStyle/>
          <a:p>
            <a:pPr algn="l">
              <a:lnSpc>
                <a:spcPct val="100000"/>
              </a:lnSpc>
              <a:spcAft>
                <a:spcPts val="0"/>
              </a:spcAft>
            </a:pPr>
            <a:r>
              <a:rPr sz="3000" b="0" i="0">
                <a:solidFill>
                  <a:srgbClr val="FFFFFF"/>
                </a:solidFill>
                <a:latin typeface="Segoe UI Semibold"/>
                <a:ea typeface="Yu Gothic"/>
              </a:rPr>
              <a:t>Game mô phỏng cuộc sống 3D kết hợp học tiếng Nhật N5</a:t>
            </a:r>
          </a:p>
        </p:txBody>
      </p:sp>
      <p:sp>
        <p:nvSpPr>
          <p:cNvPr id="8" name="TextBox 7"/>
          <p:cNvSpPr txBox="1"/>
          <p:nvPr/>
        </p:nvSpPr>
        <p:spPr>
          <a:xfrm>
            <a:off x="640080" y="4663440"/>
            <a:ext cx="5852160" cy="365760"/>
          </a:xfrm>
          <a:prstGeom prst="rect">
            <a:avLst/>
          </a:prstGeom>
          <a:noFill/>
        </p:spPr>
        <p:txBody>
          <a:bodyPr wrap="square" lIns="0" rIns="0" tIns="0" bIns="0" anchor="t">
            <a:spAutoFit/>
          </a:bodyPr>
          <a:lstStyle/>
          <a:p>
            <a:pPr algn="l">
              <a:lnSpc>
                <a:spcPct val="110000"/>
              </a:lnSpc>
              <a:spcAft>
                <a:spcPts val="0"/>
              </a:spcAft>
            </a:pPr>
            <a:r>
              <a:rPr sz="1800" b="0" i="0">
                <a:solidFill>
                  <a:srgbClr val="C8D3E6"/>
                </a:solidFill>
                <a:latin typeface="Yu Gothic"/>
                <a:ea typeface="Yu Gothic"/>
              </a:rPr>
              <a:t>ひばり町で、日本語と暮らそう</a:t>
            </a:r>
          </a:p>
        </p:txBody>
      </p:sp>
      <p:sp>
        <p:nvSpPr>
          <p:cNvPr id="9" name="TextBox 8"/>
          <p:cNvSpPr txBox="1"/>
          <p:nvPr/>
        </p:nvSpPr>
        <p:spPr>
          <a:xfrm>
            <a:off x="640080" y="5349240"/>
            <a:ext cx="5852160" cy="914400"/>
          </a:xfrm>
          <a:prstGeom prst="rect">
            <a:avLst/>
          </a:prstGeom>
          <a:noFill/>
        </p:spPr>
        <p:txBody>
          <a:bodyPr wrap="square" lIns="0" rIns="0" tIns="0" bIns="0" anchor="t">
            <a:spAutoFit/>
          </a:bodyPr>
          <a:lstStyle/>
          <a:p>
            <a:pPr algn="l">
              <a:lnSpc>
                <a:spcPct val="110000"/>
              </a:lnSpc>
              <a:spcAft>
                <a:spcPts val="400"/>
              </a:spcAft>
            </a:pPr>
            <a:r>
              <a:rPr sz="1400" b="0" i="0">
                <a:solidFill>
                  <a:srgbClr val="8FA0BC"/>
                </a:solidFill>
                <a:latin typeface="Segoe UI"/>
                <a:ea typeface="Yu Gothic"/>
              </a:rPr>
              <a:t>Học viên: </a:t>
            </a:r>
            <a:r>
              <a:rPr sz="1400" b="1" i="0">
                <a:solidFill>
                  <a:srgbClr val="FFFFFF"/>
                </a:solidFill>
                <a:latin typeface="Segoe UI"/>
                <a:ea typeface="Yu Gothic"/>
              </a:rPr>
              <a:t>Quách Thành Long</a:t>
            </a:r>
            <a:r>
              <a:rPr sz="1400" b="0" i="0">
                <a:solidFill>
                  <a:srgbClr val="8FA0BC"/>
                </a:solidFill>
                <a:latin typeface="Segoe UI"/>
                <a:ea typeface="Yu Gothic"/>
              </a:rPr>
              <a:t>   ·   MSSV 124010124034</a:t>
            </a:r>
          </a:p>
          <a:p>
            <a:pPr algn="l">
              <a:lnSpc>
                <a:spcPct val="110000"/>
              </a:lnSpc>
              <a:spcAft>
                <a:spcPts val="400"/>
              </a:spcAft>
            </a:pPr>
            <a:r>
              <a:rPr sz="1400" b="0" i="0">
                <a:solidFill>
                  <a:srgbClr val="8FA0BC"/>
                </a:solidFill>
                <a:latin typeface="Segoe UI"/>
                <a:ea typeface="Yu Gothic"/>
              </a:rPr>
              <a:t>Lớp: </a:t>
            </a:r>
            <a:r>
              <a:rPr sz="1400" b="1" i="0">
                <a:solidFill>
                  <a:srgbClr val="FFFFFF"/>
                </a:solidFill>
                <a:latin typeface="Segoe UI"/>
                <a:ea typeface="Yu Gothic"/>
              </a:rPr>
              <a:t>K24GD03</a:t>
            </a:r>
            <a:r>
              <a:rPr sz="1400" b="0" i="0">
                <a:solidFill>
                  <a:srgbClr val="8FA0BC"/>
                </a:solidFill>
                <a:latin typeface="Segoe UI"/>
                <a:ea typeface="Yu Gothic"/>
              </a:rPr>
              <a:t>   ·   GVHD: </a:t>
            </a:r>
            <a:r>
              <a:rPr sz="1400" b="1" i="0">
                <a:solidFill>
                  <a:srgbClr val="FFFFFF"/>
                </a:solidFill>
                <a:latin typeface="Segoe UI"/>
                <a:ea typeface="Yu Gothic"/>
              </a:rPr>
              <a:t>Nguyễn Ngọc Chấn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NỘI DUNG</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Lộ trình thuyết trình</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02</a:t>
            </a:r>
          </a:p>
        </p:txBody>
      </p:sp>
      <p:sp>
        <p:nvSpPr>
          <p:cNvPr id="8" name="TextBox 7"/>
          <p:cNvSpPr txBox="1"/>
          <p:nvPr/>
        </p:nvSpPr>
        <p:spPr>
          <a:xfrm>
            <a:off x="731520" y="1463040"/>
            <a:ext cx="1097280" cy="640080"/>
          </a:xfrm>
          <a:prstGeom prst="rect">
            <a:avLst/>
          </a:prstGeom>
          <a:noFill/>
        </p:spPr>
        <p:txBody>
          <a:bodyPr wrap="square" lIns="0" rIns="0" tIns="0" bIns="0" anchor="ctr">
            <a:spAutoFit/>
          </a:bodyPr>
          <a:lstStyle/>
          <a:p>
            <a:pPr algn="l">
              <a:lnSpc>
                <a:spcPct val="110000"/>
              </a:lnSpc>
              <a:spcAft>
                <a:spcPts val="0"/>
              </a:spcAft>
            </a:pPr>
            <a:r>
              <a:rPr sz="3400" b="0" i="0">
                <a:solidFill>
                  <a:srgbClr val="F2B233"/>
                </a:solidFill>
                <a:latin typeface="Segoe UI Semibold"/>
                <a:ea typeface="Yu Gothic"/>
              </a:rPr>
              <a:t>01</a:t>
            </a:r>
          </a:p>
        </p:txBody>
      </p:sp>
      <p:sp>
        <p:nvSpPr>
          <p:cNvPr id="9" name="TextBox 8"/>
          <p:cNvSpPr txBox="1"/>
          <p:nvPr/>
        </p:nvSpPr>
        <p:spPr>
          <a:xfrm>
            <a:off x="1828800" y="1481328"/>
            <a:ext cx="4389120" cy="365760"/>
          </a:xfrm>
          <a:prstGeom prst="rect">
            <a:avLst/>
          </a:prstGeom>
          <a:noFill/>
        </p:spPr>
        <p:txBody>
          <a:bodyPr wrap="square" lIns="0" rIns="0" tIns="0" bIns="0" anchor="t">
            <a:spAutoFit/>
          </a:bodyPr>
          <a:lstStyle/>
          <a:p>
            <a:pPr algn="l">
              <a:lnSpc>
                <a:spcPct val="110000"/>
              </a:lnSpc>
              <a:spcAft>
                <a:spcPts val="0"/>
              </a:spcAft>
            </a:pPr>
            <a:r>
              <a:rPr sz="2000" b="0" i="0">
                <a:solidFill>
                  <a:srgbClr val="14213D"/>
                </a:solidFill>
                <a:latin typeface="Segoe UI Semibold"/>
                <a:ea typeface="Yu Gothic"/>
              </a:rPr>
              <a:t>Ý tưởng game</a:t>
            </a:r>
          </a:p>
        </p:txBody>
      </p:sp>
      <p:sp>
        <p:nvSpPr>
          <p:cNvPr id="10" name="TextBox 9"/>
          <p:cNvSpPr txBox="1"/>
          <p:nvPr/>
        </p:nvSpPr>
        <p:spPr>
          <a:xfrm>
            <a:off x="1828800" y="1847088"/>
            <a:ext cx="4754880" cy="32004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Vấn đề người học và giải pháp “học bằng cách sống”</a:t>
            </a:r>
          </a:p>
        </p:txBody>
      </p:sp>
      <p:sp>
        <p:nvSpPr>
          <p:cNvPr id="11" name="TextBox 10"/>
          <p:cNvSpPr txBox="1"/>
          <p:nvPr/>
        </p:nvSpPr>
        <p:spPr>
          <a:xfrm>
            <a:off x="731520" y="2249424"/>
            <a:ext cx="1097280" cy="640080"/>
          </a:xfrm>
          <a:prstGeom prst="rect">
            <a:avLst/>
          </a:prstGeom>
          <a:noFill/>
        </p:spPr>
        <p:txBody>
          <a:bodyPr wrap="square" lIns="0" rIns="0" tIns="0" bIns="0" anchor="ctr">
            <a:spAutoFit/>
          </a:bodyPr>
          <a:lstStyle/>
          <a:p>
            <a:pPr algn="l">
              <a:lnSpc>
                <a:spcPct val="110000"/>
              </a:lnSpc>
              <a:spcAft>
                <a:spcPts val="0"/>
              </a:spcAft>
            </a:pPr>
            <a:r>
              <a:rPr sz="3400" b="0" i="0">
                <a:solidFill>
                  <a:srgbClr val="F2B233"/>
                </a:solidFill>
                <a:latin typeface="Segoe UI Semibold"/>
                <a:ea typeface="Yu Gothic"/>
              </a:rPr>
              <a:t>02</a:t>
            </a:r>
          </a:p>
        </p:txBody>
      </p:sp>
      <p:sp>
        <p:nvSpPr>
          <p:cNvPr id="12" name="TextBox 11"/>
          <p:cNvSpPr txBox="1"/>
          <p:nvPr/>
        </p:nvSpPr>
        <p:spPr>
          <a:xfrm>
            <a:off x="1828800" y="2267712"/>
            <a:ext cx="4389120" cy="365760"/>
          </a:xfrm>
          <a:prstGeom prst="rect">
            <a:avLst/>
          </a:prstGeom>
          <a:noFill/>
        </p:spPr>
        <p:txBody>
          <a:bodyPr wrap="square" lIns="0" rIns="0" tIns="0" bIns="0" anchor="t">
            <a:spAutoFit/>
          </a:bodyPr>
          <a:lstStyle/>
          <a:p>
            <a:pPr algn="l">
              <a:lnSpc>
                <a:spcPct val="110000"/>
              </a:lnSpc>
              <a:spcAft>
                <a:spcPts val="0"/>
              </a:spcAft>
            </a:pPr>
            <a:r>
              <a:rPr sz="2000" b="0" i="0">
                <a:solidFill>
                  <a:srgbClr val="14213D"/>
                </a:solidFill>
                <a:latin typeface="Segoe UI Semibold"/>
                <a:ea typeface="Yu Gothic"/>
              </a:rPr>
              <a:t>Thế giới &amp; các scene</a:t>
            </a:r>
          </a:p>
        </p:txBody>
      </p:sp>
      <p:sp>
        <p:nvSpPr>
          <p:cNvPr id="13" name="TextBox 12"/>
          <p:cNvSpPr txBox="1"/>
          <p:nvPr/>
        </p:nvSpPr>
        <p:spPr>
          <a:xfrm>
            <a:off x="1828800" y="2633472"/>
            <a:ext cx="4754880" cy="32004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Thành phố Hibari-chō và 6 khu vực chơi được</a:t>
            </a:r>
          </a:p>
        </p:txBody>
      </p:sp>
      <p:sp>
        <p:nvSpPr>
          <p:cNvPr id="14" name="TextBox 13"/>
          <p:cNvSpPr txBox="1"/>
          <p:nvPr/>
        </p:nvSpPr>
        <p:spPr>
          <a:xfrm>
            <a:off x="731520" y="3035808"/>
            <a:ext cx="1097280" cy="640080"/>
          </a:xfrm>
          <a:prstGeom prst="rect">
            <a:avLst/>
          </a:prstGeom>
          <a:noFill/>
        </p:spPr>
        <p:txBody>
          <a:bodyPr wrap="square" lIns="0" rIns="0" tIns="0" bIns="0" anchor="ctr">
            <a:spAutoFit/>
          </a:bodyPr>
          <a:lstStyle/>
          <a:p>
            <a:pPr algn="l">
              <a:lnSpc>
                <a:spcPct val="110000"/>
              </a:lnSpc>
              <a:spcAft>
                <a:spcPts val="0"/>
              </a:spcAft>
            </a:pPr>
            <a:r>
              <a:rPr sz="3400" b="0" i="0">
                <a:solidFill>
                  <a:srgbClr val="F2B233"/>
                </a:solidFill>
                <a:latin typeface="Segoe UI Semibold"/>
                <a:ea typeface="Yu Gothic"/>
              </a:rPr>
              <a:t>03</a:t>
            </a:r>
          </a:p>
        </p:txBody>
      </p:sp>
      <p:sp>
        <p:nvSpPr>
          <p:cNvPr id="15" name="TextBox 14"/>
          <p:cNvSpPr txBox="1"/>
          <p:nvPr/>
        </p:nvSpPr>
        <p:spPr>
          <a:xfrm>
            <a:off x="1828800" y="3054096"/>
            <a:ext cx="4389120" cy="365760"/>
          </a:xfrm>
          <a:prstGeom prst="rect">
            <a:avLst/>
          </a:prstGeom>
          <a:noFill/>
        </p:spPr>
        <p:txBody>
          <a:bodyPr wrap="square" lIns="0" rIns="0" tIns="0" bIns="0" anchor="t">
            <a:spAutoFit/>
          </a:bodyPr>
          <a:lstStyle/>
          <a:p>
            <a:pPr algn="l">
              <a:lnSpc>
                <a:spcPct val="110000"/>
              </a:lnSpc>
              <a:spcAft>
                <a:spcPts val="0"/>
              </a:spcAft>
            </a:pPr>
            <a:r>
              <a:rPr sz="2000" b="0" i="0">
                <a:solidFill>
                  <a:srgbClr val="14213D"/>
                </a:solidFill>
                <a:latin typeface="Segoe UI Semibold"/>
                <a:ea typeface="Yu Gothic"/>
              </a:rPr>
              <a:t>Hệ thống gameplay &amp; UI</a:t>
            </a:r>
          </a:p>
        </p:txBody>
      </p:sp>
      <p:sp>
        <p:nvSpPr>
          <p:cNvPr id="16" name="TextBox 15"/>
          <p:cNvSpPr txBox="1"/>
          <p:nvPr/>
        </p:nvSpPr>
        <p:spPr>
          <a:xfrm>
            <a:off x="1828800" y="3419856"/>
            <a:ext cx="4754880" cy="32004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Hội thoại N5, nhiệm vụ, bản đồ, luyện thi</a:t>
            </a:r>
          </a:p>
        </p:txBody>
      </p:sp>
      <p:sp>
        <p:nvSpPr>
          <p:cNvPr id="17" name="TextBox 16"/>
          <p:cNvSpPr txBox="1"/>
          <p:nvPr/>
        </p:nvSpPr>
        <p:spPr>
          <a:xfrm>
            <a:off x="731520" y="3822191"/>
            <a:ext cx="1097280" cy="640080"/>
          </a:xfrm>
          <a:prstGeom prst="rect">
            <a:avLst/>
          </a:prstGeom>
          <a:noFill/>
        </p:spPr>
        <p:txBody>
          <a:bodyPr wrap="square" lIns="0" rIns="0" tIns="0" bIns="0" anchor="ctr">
            <a:spAutoFit/>
          </a:bodyPr>
          <a:lstStyle/>
          <a:p>
            <a:pPr algn="l">
              <a:lnSpc>
                <a:spcPct val="110000"/>
              </a:lnSpc>
              <a:spcAft>
                <a:spcPts val="0"/>
              </a:spcAft>
            </a:pPr>
            <a:r>
              <a:rPr sz="3400" b="0" i="0">
                <a:solidFill>
                  <a:srgbClr val="F2B233"/>
                </a:solidFill>
                <a:latin typeface="Segoe UI Semibold"/>
                <a:ea typeface="Yu Gothic"/>
              </a:rPr>
              <a:t>04</a:t>
            </a:r>
          </a:p>
        </p:txBody>
      </p:sp>
      <p:sp>
        <p:nvSpPr>
          <p:cNvPr id="18" name="TextBox 17"/>
          <p:cNvSpPr txBox="1"/>
          <p:nvPr/>
        </p:nvSpPr>
        <p:spPr>
          <a:xfrm>
            <a:off x="1828800" y="3840479"/>
            <a:ext cx="4389120" cy="365760"/>
          </a:xfrm>
          <a:prstGeom prst="rect">
            <a:avLst/>
          </a:prstGeom>
          <a:noFill/>
        </p:spPr>
        <p:txBody>
          <a:bodyPr wrap="square" lIns="0" rIns="0" tIns="0" bIns="0" anchor="t">
            <a:spAutoFit/>
          </a:bodyPr>
          <a:lstStyle/>
          <a:p>
            <a:pPr algn="l">
              <a:lnSpc>
                <a:spcPct val="110000"/>
              </a:lnSpc>
              <a:spcAft>
                <a:spcPts val="0"/>
              </a:spcAft>
            </a:pPr>
            <a:r>
              <a:rPr sz="2000" b="0" i="0">
                <a:solidFill>
                  <a:srgbClr val="14213D"/>
                </a:solidFill>
                <a:latin typeface="Segoe UI Semibold"/>
                <a:ea typeface="Yu Gothic"/>
              </a:rPr>
              <a:t>Công cụ làm game</a:t>
            </a:r>
          </a:p>
        </p:txBody>
      </p:sp>
      <p:sp>
        <p:nvSpPr>
          <p:cNvPr id="19" name="TextBox 18"/>
          <p:cNvSpPr txBox="1"/>
          <p:nvPr/>
        </p:nvSpPr>
        <p:spPr>
          <a:xfrm>
            <a:off x="1828800" y="4206240"/>
            <a:ext cx="4754880" cy="32004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Unity 6, C#, ScriptableObject, dịch vụ online</a:t>
            </a:r>
          </a:p>
        </p:txBody>
      </p:sp>
      <p:sp>
        <p:nvSpPr>
          <p:cNvPr id="20" name="TextBox 19"/>
          <p:cNvSpPr txBox="1"/>
          <p:nvPr/>
        </p:nvSpPr>
        <p:spPr>
          <a:xfrm>
            <a:off x="731520" y="4608576"/>
            <a:ext cx="1097280" cy="640080"/>
          </a:xfrm>
          <a:prstGeom prst="rect">
            <a:avLst/>
          </a:prstGeom>
          <a:noFill/>
        </p:spPr>
        <p:txBody>
          <a:bodyPr wrap="square" lIns="0" rIns="0" tIns="0" bIns="0" anchor="ctr">
            <a:spAutoFit/>
          </a:bodyPr>
          <a:lstStyle/>
          <a:p>
            <a:pPr algn="l">
              <a:lnSpc>
                <a:spcPct val="110000"/>
              </a:lnSpc>
              <a:spcAft>
                <a:spcPts val="0"/>
              </a:spcAft>
            </a:pPr>
            <a:r>
              <a:rPr sz="3400" b="0" i="0">
                <a:solidFill>
                  <a:srgbClr val="F2B233"/>
                </a:solidFill>
                <a:latin typeface="Segoe UI Semibold"/>
                <a:ea typeface="Yu Gothic"/>
              </a:rPr>
              <a:t>05</a:t>
            </a:r>
          </a:p>
        </p:txBody>
      </p:sp>
      <p:sp>
        <p:nvSpPr>
          <p:cNvPr id="21" name="TextBox 20"/>
          <p:cNvSpPr txBox="1"/>
          <p:nvPr/>
        </p:nvSpPr>
        <p:spPr>
          <a:xfrm>
            <a:off x="1828800" y="4626864"/>
            <a:ext cx="4389120" cy="365760"/>
          </a:xfrm>
          <a:prstGeom prst="rect">
            <a:avLst/>
          </a:prstGeom>
          <a:noFill/>
        </p:spPr>
        <p:txBody>
          <a:bodyPr wrap="square" lIns="0" rIns="0" tIns="0" bIns="0" anchor="t">
            <a:spAutoFit/>
          </a:bodyPr>
          <a:lstStyle/>
          <a:p>
            <a:pPr algn="l">
              <a:lnSpc>
                <a:spcPct val="110000"/>
              </a:lnSpc>
              <a:spcAft>
                <a:spcPts val="0"/>
              </a:spcAft>
            </a:pPr>
            <a:r>
              <a:rPr sz="2000" b="0" i="0">
                <a:solidFill>
                  <a:srgbClr val="14213D"/>
                </a:solidFill>
                <a:latin typeface="Segoe UI Semibold"/>
                <a:ea typeface="Yu Gothic"/>
              </a:rPr>
              <a:t>Phân tích, thiết kế &amp; kiểm thử</a:t>
            </a:r>
          </a:p>
        </p:txBody>
      </p:sp>
      <p:sp>
        <p:nvSpPr>
          <p:cNvPr id="22" name="TextBox 21"/>
          <p:cNvSpPr txBox="1"/>
          <p:nvPr/>
        </p:nvSpPr>
        <p:spPr>
          <a:xfrm>
            <a:off x="1828800" y="4992624"/>
            <a:ext cx="4754880" cy="32004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Use case, activity, kiến trúc, Play Mode test</a:t>
            </a:r>
          </a:p>
        </p:txBody>
      </p:sp>
      <p:sp>
        <p:nvSpPr>
          <p:cNvPr id="23" name="TextBox 22"/>
          <p:cNvSpPr txBox="1"/>
          <p:nvPr/>
        </p:nvSpPr>
        <p:spPr>
          <a:xfrm>
            <a:off x="731520" y="5394960"/>
            <a:ext cx="1097280" cy="640080"/>
          </a:xfrm>
          <a:prstGeom prst="rect">
            <a:avLst/>
          </a:prstGeom>
          <a:noFill/>
        </p:spPr>
        <p:txBody>
          <a:bodyPr wrap="square" lIns="0" rIns="0" tIns="0" bIns="0" anchor="ctr">
            <a:spAutoFit/>
          </a:bodyPr>
          <a:lstStyle/>
          <a:p>
            <a:pPr algn="l">
              <a:lnSpc>
                <a:spcPct val="110000"/>
              </a:lnSpc>
              <a:spcAft>
                <a:spcPts val="0"/>
              </a:spcAft>
            </a:pPr>
            <a:r>
              <a:rPr sz="3400" b="0" i="0">
                <a:solidFill>
                  <a:srgbClr val="F2B233"/>
                </a:solidFill>
                <a:latin typeface="Segoe UI Semibold"/>
                <a:ea typeface="Yu Gothic"/>
              </a:rPr>
              <a:t>06</a:t>
            </a:r>
          </a:p>
        </p:txBody>
      </p:sp>
      <p:sp>
        <p:nvSpPr>
          <p:cNvPr id="24" name="TextBox 23"/>
          <p:cNvSpPr txBox="1"/>
          <p:nvPr/>
        </p:nvSpPr>
        <p:spPr>
          <a:xfrm>
            <a:off x="1828800" y="5413248"/>
            <a:ext cx="4389120" cy="365760"/>
          </a:xfrm>
          <a:prstGeom prst="rect">
            <a:avLst/>
          </a:prstGeom>
          <a:noFill/>
        </p:spPr>
        <p:txBody>
          <a:bodyPr wrap="square" lIns="0" rIns="0" tIns="0" bIns="0" anchor="t">
            <a:spAutoFit/>
          </a:bodyPr>
          <a:lstStyle/>
          <a:p>
            <a:pPr algn="l">
              <a:lnSpc>
                <a:spcPct val="110000"/>
              </a:lnSpc>
              <a:spcAft>
                <a:spcPts val="0"/>
              </a:spcAft>
            </a:pPr>
            <a:r>
              <a:rPr sz="2000" b="0" i="0">
                <a:solidFill>
                  <a:srgbClr val="14213D"/>
                </a:solidFill>
                <a:latin typeface="Segoe UI Semibold"/>
                <a:ea typeface="Yu Gothic"/>
              </a:rPr>
              <a:t>Hướng phát triển</a:t>
            </a:r>
          </a:p>
        </p:txBody>
      </p:sp>
      <p:sp>
        <p:nvSpPr>
          <p:cNvPr id="25" name="TextBox 24"/>
          <p:cNvSpPr txBox="1"/>
          <p:nvPr/>
        </p:nvSpPr>
        <p:spPr>
          <a:xfrm>
            <a:off x="1828800" y="5779008"/>
            <a:ext cx="4754880" cy="32004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Lộ trình mở rộng nội dung và nền tảng</a:t>
            </a:r>
          </a:p>
        </p:txBody>
      </p:sp>
      <p:pic>
        <p:nvPicPr>
          <p:cNvPr id="26" name="Picture 25" descr="01_spawn.png"/>
          <p:cNvPicPr>
            <a:picLocks noChangeAspect="1"/>
          </p:cNvPicPr>
          <p:nvPr/>
        </p:nvPicPr>
        <p:blipFill>
          <a:blip r:embed="rId4"/>
          <a:stretch>
            <a:fillRect/>
          </a:stretch>
        </p:blipFill>
        <p:spPr>
          <a:xfrm>
            <a:off x="6949440" y="1463040"/>
            <a:ext cx="4690872" cy="2638615"/>
          </a:xfrm>
          <a:prstGeom prst="rect">
            <a:avLst/>
          </a:prstGeom>
          <a:ln w="9525">
            <a:solidFill>
              <a:srgbClr val="D5DCE8"/>
            </a:solidFill>
          </a:ln>
        </p:spPr>
      </p:pic>
      <p:pic>
        <p:nvPicPr>
          <p:cNvPr id="27" name="Picture 26" descr="bed_02_room_overview.png"/>
          <p:cNvPicPr>
            <a:picLocks noChangeAspect="1"/>
          </p:cNvPicPr>
          <p:nvPr/>
        </p:nvPicPr>
        <p:blipFill>
          <a:blip r:embed="rId5"/>
          <a:stretch>
            <a:fillRect/>
          </a:stretch>
        </p:blipFill>
        <p:spPr>
          <a:xfrm>
            <a:off x="6949440" y="4224528"/>
            <a:ext cx="2258568" cy="1270444"/>
          </a:xfrm>
          <a:prstGeom prst="rect">
            <a:avLst/>
          </a:prstGeom>
          <a:ln w="9525">
            <a:solidFill>
              <a:srgbClr val="D5DCE8"/>
            </a:solidFill>
          </a:ln>
        </p:spPr>
      </p:pic>
      <p:pic>
        <p:nvPicPr>
          <p:cNvPr id="28" name="Picture 27" descr="05_konbini_cashier.png"/>
          <p:cNvPicPr>
            <a:picLocks noChangeAspect="1"/>
          </p:cNvPicPr>
          <p:nvPr/>
        </p:nvPicPr>
        <p:blipFill>
          <a:blip r:embed="rId6"/>
          <a:stretch>
            <a:fillRect/>
          </a:stretch>
        </p:blipFill>
        <p:spPr>
          <a:xfrm>
            <a:off x="9381744" y="4224528"/>
            <a:ext cx="2258568" cy="1270444"/>
          </a:xfrm>
          <a:prstGeom prst="rect">
            <a:avLst/>
          </a:prstGeom>
          <a:ln w="9525">
            <a:solidFill>
              <a:srgbClr val="D5DCE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pic>
        <p:nvPicPr>
          <p:cNvPr id="2" name="Picture 1" descr="logo_dark.png"/>
          <p:cNvPicPr>
            <a:picLocks noChangeAspect="1"/>
          </p:cNvPicPr>
          <p:nvPr/>
        </p:nvPicPr>
        <p:blipFill>
          <a:blip r:embed="rId2"/>
          <a:stretch>
            <a:fillRect/>
          </a:stretch>
        </p:blipFill>
        <p:spPr>
          <a:xfrm>
            <a:off x="640080" y="548640"/>
            <a:ext cx="2040940" cy="566928"/>
          </a:xfrm>
          <a:prstGeom prst="rect">
            <a:avLst/>
          </a:prstGeom>
        </p:spPr>
      </p:pic>
      <p:sp>
        <p:nvSpPr>
          <p:cNvPr id="3" name="TextBox 2"/>
          <p:cNvSpPr txBox="1"/>
          <p:nvPr/>
        </p:nvSpPr>
        <p:spPr>
          <a:xfrm>
            <a:off x="640080" y="2057400"/>
            <a:ext cx="5486400" cy="1463040"/>
          </a:xfrm>
          <a:prstGeom prst="rect">
            <a:avLst/>
          </a:prstGeom>
          <a:noFill/>
        </p:spPr>
        <p:txBody>
          <a:bodyPr wrap="square" lIns="0" rIns="0" tIns="0" bIns="0" anchor="t">
            <a:spAutoFit/>
          </a:bodyPr>
          <a:lstStyle/>
          <a:p>
            <a:pPr algn="l">
              <a:lnSpc>
                <a:spcPct val="110000"/>
              </a:lnSpc>
              <a:spcAft>
                <a:spcPts val="0"/>
              </a:spcAft>
            </a:pPr>
            <a:r>
              <a:rPr sz="11000" b="0" i="0">
                <a:solidFill>
                  <a:srgbClr val="F2B233"/>
                </a:solidFill>
                <a:latin typeface="Segoe UI Semibold"/>
                <a:ea typeface="Yu Gothic"/>
              </a:rPr>
              <a:t>01</a:t>
            </a:r>
          </a:p>
        </p:txBody>
      </p:sp>
      <p:sp>
        <p:nvSpPr>
          <p:cNvPr id="4" name="TextBox 3"/>
          <p:cNvSpPr txBox="1"/>
          <p:nvPr/>
        </p:nvSpPr>
        <p:spPr>
          <a:xfrm>
            <a:off x="640080" y="3611880"/>
            <a:ext cx="5486400" cy="1280160"/>
          </a:xfrm>
          <a:prstGeom prst="rect">
            <a:avLst/>
          </a:prstGeom>
          <a:noFill/>
        </p:spPr>
        <p:txBody>
          <a:bodyPr wrap="square" lIns="0" rIns="0" tIns="0" bIns="0" anchor="t">
            <a:spAutoFit/>
          </a:bodyPr>
          <a:lstStyle/>
          <a:p>
            <a:pPr algn="l">
              <a:lnSpc>
                <a:spcPct val="110000"/>
              </a:lnSpc>
              <a:spcAft>
                <a:spcPts val="0"/>
              </a:spcAft>
            </a:pPr>
            <a:r>
              <a:rPr sz="4000" b="0" i="0">
                <a:solidFill>
                  <a:srgbClr val="FFFFFF"/>
                </a:solidFill>
                <a:latin typeface="Segoe UI Semibold"/>
                <a:ea typeface="Yu Gothic"/>
              </a:rPr>
              <a:t>Ý tưởng game</a:t>
            </a:r>
          </a:p>
        </p:txBody>
      </p:sp>
      <p:sp>
        <p:nvSpPr>
          <p:cNvPr id="5" name="TextBox 4"/>
          <p:cNvSpPr txBox="1"/>
          <p:nvPr/>
        </p:nvSpPr>
        <p:spPr>
          <a:xfrm>
            <a:off x="640080" y="4800600"/>
            <a:ext cx="5303520" cy="914400"/>
          </a:xfrm>
          <a:prstGeom prst="rect">
            <a:avLst/>
          </a:prstGeom>
          <a:noFill/>
        </p:spPr>
        <p:txBody>
          <a:bodyPr wrap="square" lIns="0" rIns="0" tIns="0" bIns="0" anchor="t">
            <a:spAutoFit/>
          </a:bodyPr>
          <a:lstStyle/>
          <a:p>
            <a:pPr algn="l">
              <a:lnSpc>
                <a:spcPct val="110000"/>
              </a:lnSpc>
              <a:spcAft>
                <a:spcPts val="0"/>
              </a:spcAft>
            </a:pPr>
            <a:r>
              <a:rPr sz="1600" b="0" i="0">
                <a:solidFill>
                  <a:srgbClr val="C8D3E6"/>
                </a:solidFill>
                <a:latin typeface="Segoe UI"/>
                <a:ea typeface="Yu Gothic"/>
              </a:rPr>
              <a:t>Biến kiến thức N5 trên sách thành phản xạ giao tiếp trong ngữ cảnh đời sống.</a:t>
            </a:r>
          </a:p>
        </p:txBody>
      </p:sp>
      <p:sp>
        <p:nvSpPr>
          <p:cNvPr id="6" name="TextBox 5"/>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8FA0BC"/>
                </a:solidFill>
                <a:latin typeface="Segoe UI Semibold"/>
                <a:ea typeface="Yu Gothic"/>
              </a:rPr>
              <a:t>03</a:t>
            </a:r>
          </a:p>
        </p:txBody>
      </p:sp>
      <p:pic>
        <p:nvPicPr>
          <p:cNvPr id="7" name="Picture 6" descr="01_spawn.png"/>
          <p:cNvPicPr>
            <a:picLocks noChangeAspect="1"/>
          </p:cNvPicPr>
          <p:nvPr/>
        </p:nvPicPr>
        <p:blipFill>
          <a:blip r:embed="rId4"/>
          <a:srcRect l="27500" r="27500"/>
          <a:stretch>
            <a:fillRect/>
          </a:stretch>
        </p:blipFill>
        <p:spPr>
          <a:xfrm>
            <a:off x="6705295" y="0"/>
            <a:ext cx="54864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01 · Ý TƯỞNG GAME</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Vấn đề và giải pháp</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04</a:t>
            </a:r>
          </a:p>
        </p:txBody>
      </p:sp>
      <p:sp>
        <p:nvSpPr>
          <p:cNvPr id="8" name="Rounded Rectangle 7"/>
          <p:cNvSpPr/>
          <p:nvPr/>
        </p:nvSpPr>
        <p:spPr>
          <a:xfrm>
            <a:off x="548640" y="1554480"/>
            <a:ext cx="5394960" cy="448056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1828800"/>
            <a:ext cx="4892040" cy="457200"/>
          </a:xfrm>
          <a:prstGeom prst="rect">
            <a:avLst/>
          </a:prstGeom>
          <a:noFill/>
        </p:spPr>
        <p:txBody>
          <a:bodyPr wrap="square" lIns="0" rIns="0" tIns="0" bIns="0" anchor="ctr">
            <a:spAutoFit/>
          </a:bodyPr>
          <a:lstStyle/>
          <a:p>
            <a:pPr algn="l">
              <a:lnSpc>
                <a:spcPct val="110000"/>
              </a:lnSpc>
              <a:spcAft>
                <a:spcPts val="0"/>
              </a:spcAft>
            </a:pPr>
            <a:r>
              <a:rPr sz="1700" b="0" i="0">
                <a:solidFill>
                  <a:srgbClr val="14213D"/>
                </a:solidFill>
                <a:latin typeface="Segoe UI Semibold"/>
                <a:ea typeface="Yu Gothic"/>
              </a:rPr>
              <a:t>Vấn đề</a:t>
            </a:r>
          </a:p>
        </p:txBody>
      </p:sp>
      <p:sp>
        <p:nvSpPr>
          <p:cNvPr id="10" name="TextBox 9"/>
          <p:cNvSpPr txBox="1"/>
          <p:nvPr/>
        </p:nvSpPr>
        <p:spPr>
          <a:xfrm>
            <a:off x="822959" y="2423160"/>
            <a:ext cx="4892040" cy="3474720"/>
          </a:xfrm>
          <a:prstGeom prst="rect">
            <a:avLst/>
          </a:prstGeom>
          <a:noFill/>
        </p:spPr>
        <p:txBody>
          <a:bodyPr wrap="square" lIns="0" rIns="0" tIns="0" bIns="0" anchor="t">
            <a:spAutoFit/>
          </a:bodyPr>
          <a:lstStyle/>
          <a:p>
            <a:pPr algn="l">
              <a:lnSpc>
                <a:spcPct val="115000"/>
              </a:lnSpc>
              <a:spcAft>
                <a:spcPts val="0"/>
              </a:spcAft>
            </a:pPr>
            <a:r>
              <a:rPr sz="1400" b="0" i="0">
                <a:solidFill>
                  <a:srgbClr val="22304A"/>
                </a:solidFill>
                <a:latin typeface="Segoe UI"/>
                <a:ea typeface="Yu Gothic"/>
              </a:rPr>
              <a:t/>
            </a:r>
          </a:p>
        </p:txBody>
      </p:sp>
      <p:sp>
        <p:nvSpPr>
          <p:cNvPr id="11" name="TextBox 10"/>
          <p:cNvSpPr txBox="1"/>
          <p:nvPr/>
        </p:nvSpPr>
        <p:spPr>
          <a:xfrm>
            <a:off x="822960" y="2240280"/>
            <a:ext cx="4846320" cy="3657600"/>
          </a:xfrm>
          <a:prstGeom prst="rect">
            <a:avLst/>
          </a:prstGeom>
          <a:noFill/>
        </p:spPr>
        <p:txBody>
          <a:bodyPr wrap="square" lIns="0" rIns="0" tIns="0" bIns="0">
            <a:spAutoFit/>
          </a:bodyPr>
          <a:lstStyle/>
          <a:p>
            <a:pPr marL="256032" indent="-256032">
              <a:lnSpc>
                <a:spcPct val="110000"/>
              </a:lnSpc>
              <a:spcAft>
                <a:spcPts val="800"/>
              </a:spcAft>
              <a:buClr>
                <a:srgbClr val="F2B233"/>
              </a:buClr>
              <a:buFont typeface="Arial"/>
              <a:buChar char="●"/>
            </a:pPr>
            <a:r>
              <a:rPr b="1" sz="1500">
                <a:solidFill>
                  <a:srgbClr val="14213D"/>
                </a:solidFill>
                <a:latin typeface="Segoe UI Semibold"/>
              </a:rPr>
              <a:t>Học rời rạc:  </a:t>
            </a:r>
            <a:r>
              <a:rPr sz="1500">
                <a:solidFill>
                  <a:srgbClr val="22304A"/>
                </a:solidFill>
                <a:latin typeface="Segoe UI"/>
                <a:ea typeface="Yu Gothic"/>
              </a:rPr>
              <a:t>nhớ từ vựng nhưng không biết dùng khi gặp tình huống thật.</a:t>
            </a:r>
          </a:p>
          <a:p>
            <a:pPr marL="256032" indent="-256032">
              <a:lnSpc>
                <a:spcPct val="110000"/>
              </a:lnSpc>
              <a:spcAft>
                <a:spcPts val="800"/>
              </a:spcAft>
              <a:buClr>
                <a:srgbClr val="F2B233"/>
              </a:buClr>
              <a:buFont typeface="Arial"/>
              <a:buChar char="●"/>
            </a:pPr>
            <a:r>
              <a:rPr b="1" sz="1500">
                <a:solidFill>
                  <a:srgbClr val="14213D"/>
                </a:solidFill>
                <a:latin typeface="Segoe UI Semibold"/>
              </a:rPr>
              <a:t>Thiếu ngữ cảnh:  </a:t>
            </a:r>
            <a:r>
              <a:rPr sz="1500">
                <a:solidFill>
                  <a:srgbClr val="22304A"/>
                </a:solidFill>
                <a:latin typeface="Segoe UI"/>
                <a:ea typeface="Yu Gothic"/>
              </a:rPr>
              <a:t>bài học không gắn với địa điểm, đối tượng và mức độ lịch sự.</a:t>
            </a:r>
          </a:p>
          <a:p>
            <a:pPr marL="256032" indent="-256032">
              <a:lnSpc>
                <a:spcPct val="110000"/>
              </a:lnSpc>
              <a:spcAft>
                <a:spcPts val="800"/>
              </a:spcAft>
              <a:buClr>
                <a:srgbClr val="F2B233"/>
              </a:buClr>
              <a:buFont typeface="Arial"/>
              <a:buChar char="●"/>
            </a:pPr>
            <a:r>
              <a:rPr b="1" sz="1500">
                <a:solidFill>
                  <a:srgbClr val="14213D"/>
                </a:solidFill>
                <a:latin typeface="Segoe UI Semibold"/>
              </a:rPr>
              <a:t>Sợ nói sai:  </a:t>
            </a:r>
            <a:r>
              <a:rPr sz="1500">
                <a:solidFill>
                  <a:srgbClr val="22304A"/>
                </a:solidFill>
                <a:latin typeface="Segoe UI"/>
                <a:ea typeface="Yu Gothic"/>
              </a:rPr>
              <a:t>người học ngại thử vì không có môi trường an toàn để sai và sửa.</a:t>
            </a:r>
          </a:p>
          <a:p>
            <a:pPr marL="256032" indent="-256032">
              <a:lnSpc>
                <a:spcPct val="110000"/>
              </a:lnSpc>
              <a:spcAft>
                <a:spcPts val="800"/>
              </a:spcAft>
              <a:buClr>
                <a:srgbClr val="F2B233"/>
              </a:buClr>
              <a:buFont typeface="Arial"/>
              <a:buChar char="●"/>
            </a:pPr>
            <a:r>
              <a:rPr b="1" sz="1500">
                <a:solidFill>
                  <a:srgbClr val="14213D"/>
                </a:solidFill>
                <a:latin typeface="Segoe UI Semibold"/>
              </a:rPr>
              <a:t>Nhàm chán:  </a:t>
            </a:r>
            <a:r>
              <a:rPr sz="1500">
                <a:solidFill>
                  <a:srgbClr val="22304A"/>
                </a:solidFill>
                <a:latin typeface="Segoe UI"/>
                <a:ea typeface="Yu Gothic"/>
              </a:rPr>
              <a:t>flashcard và bài tập trắc nghiệm khó tạo động lực lâu dài.</a:t>
            </a:r>
          </a:p>
        </p:txBody>
      </p:sp>
      <p:sp>
        <p:nvSpPr>
          <p:cNvPr id="12" name="Rounded Rectangle 11"/>
          <p:cNvSpPr/>
          <p:nvPr/>
        </p:nvSpPr>
        <p:spPr>
          <a:xfrm>
            <a:off x="6245352" y="1554480"/>
            <a:ext cx="5394960" cy="448056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19672" y="1828800"/>
            <a:ext cx="4892040" cy="457200"/>
          </a:xfrm>
          <a:prstGeom prst="rect">
            <a:avLst/>
          </a:prstGeom>
          <a:noFill/>
        </p:spPr>
        <p:txBody>
          <a:bodyPr wrap="square" lIns="0" rIns="0" tIns="0" bIns="0" anchor="ctr">
            <a:spAutoFit/>
          </a:bodyPr>
          <a:lstStyle/>
          <a:p>
            <a:pPr algn="l">
              <a:lnSpc>
                <a:spcPct val="110000"/>
              </a:lnSpc>
              <a:spcAft>
                <a:spcPts val="0"/>
              </a:spcAft>
            </a:pPr>
            <a:r>
              <a:rPr sz="1700" b="0" i="0">
                <a:solidFill>
                  <a:srgbClr val="FFFFFF"/>
                </a:solidFill>
                <a:latin typeface="Segoe UI Semibold"/>
                <a:ea typeface="Yu Gothic"/>
              </a:rPr>
              <a:t>Giải pháp: NihongoLife</a:t>
            </a:r>
          </a:p>
        </p:txBody>
      </p:sp>
      <p:sp>
        <p:nvSpPr>
          <p:cNvPr id="14" name="TextBox 13"/>
          <p:cNvSpPr txBox="1"/>
          <p:nvPr/>
        </p:nvSpPr>
        <p:spPr>
          <a:xfrm>
            <a:off x="6519672" y="2423160"/>
            <a:ext cx="4892040" cy="3474720"/>
          </a:xfrm>
          <a:prstGeom prst="rect">
            <a:avLst/>
          </a:prstGeom>
          <a:noFill/>
        </p:spPr>
        <p:txBody>
          <a:bodyPr wrap="square" lIns="0" rIns="0" tIns="0" bIns="0" anchor="t">
            <a:spAutoFit/>
          </a:bodyPr>
          <a:lstStyle/>
          <a:p>
            <a:pPr algn="l">
              <a:lnSpc>
                <a:spcPct val="115000"/>
              </a:lnSpc>
              <a:spcAft>
                <a:spcPts val="0"/>
              </a:spcAft>
            </a:pPr>
            <a:r>
              <a:rPr sz="1400" b="0" i="0">
                <a:solidFill>
                  <a:srgbClr val="C8D3E6"/>
                </a:solidFill>
                <a:latin typeface="Segoe UI"/>
                <a:ea typeface="Yu Gothic"/>
              </a:rPr>
              <a:t/>
            </a:r>
          </a:p>
        </p:txBody>
      </p:sp>
      <p:sp>
        <p:nvSpPr>
          <p:cNvPr id="15" name="TextBox 14"/>
          <p:cNvSpPr txBox="1"/>
          <p:nvPr/>
        </p:nvSpPr>
        <p:spPr>
          <a:xfrm>
            <a:off x="6519672" y="2240280"/>
            <a:ext cx="4846320" cy="3657600"/>
          </a:xfrm>
          <a:prstGeom prst="rect">
            <a:avLst/>
          </a:prstGeom>
          <a:noFill/>
        </p:spPr>
        <p:txBody>
          <a:bodyPr wrap="square" lIns="0" rIns="0" tIns="0" bIns="0">
            <a:spAutoFit/>
          </a:bodyPr>
          <a:lstStyle/>
          <a:p>
            <a:pPr marL="256032" indent="-256032">
              <a:lnSpc>
                <a:spcPct val="110000"/>
              </a:lnSpc>
              <a:spcAft>
                <a:spcPts val="800"/>
              </a:spcAft>
              <a:buClr>
                <a:srgbClr val="F2B233"/>
              </a:buClr>
              <a:buFont typeface="Arial"/>
              <a:buChar char="●"/>
            </a:pPr>
            <a:r>
              <a:rPr b="1" sz="1500">
                <a:solidFill>
                  <a:srgbClr val="E3E9F3"/>
                </a:solidFill>
                <a:latin typeface="Segoe UI Semibold"/>
              </a:rPr>
              <a:t>Sống trong khu phố:  </a:t>
            </a:r>
            <a:r>
              <a:rPr sz="1500">
                <a:solidFill>
                  <a:srgbClr val="E3E9F3"/>
                </a:solidFill>
                <a:latin typeface="Segoe UI"/>
                <a:ea typeface="Yu Gothic"/>
              </a:rPr>
              <a:t>đi học, mua đồ, gọi món, đi tàu, về phòng ngủ.</a:t>
            </a:r>
          </a:p>
          <a:p>
            <a:pPr marL="256032" indent="-256032">
              <a:lnSpc>
                <a:spcPct val="110000"/>
              </a:lnSpc>
              <a:spcAft>
                <a:spcPts val="800"/>
              </a:spcAft>
              <a:buClr>
                <a:srgbClr val="F2B233"/>
              </a:buClr>
              <a:buFont typeface="Arial"/>
              <a:buChar char="●"/>
            </a:pPr>
            <a:r>
              <a:rPr b="1" sz="1500">
                <a:solidFill>
                  <a:srgbClr val="E3E9F3"/>
                </a:solidFill>
                <a:latin typeface="Segoe UI Semibold"/>
              </a:rPr>
              <a:t>Hội thoại rẽ nhánh:  </a:t>
            </a:r>
            <a:r>
              <a:rPr sz="1500">
                <a:solidFill>
                  <a:srgbClr val="E3E9F3"/>
                </a:solidFill>
                <a:latin typeface="Segoe UI"/>
                <a:ea typeface="Yu Gothic"/>
              </a:rPr>
              <a:t>chọn câu tiếng Nhật phù hợp; NPC phản ứng theo lựa chọn.</a:t>
            </a:r>
          </a:p>
          <a:p>
            <a:pPr marL="256032" indent="-256032">
              <a:lnSpc>
                <a:spcPct val="110000"/>
              </a:lnSpc>
              <a:spcAft>
                <a:spcPts val="800"/>
              </a:spcAft>
              <a:buClr>
                <a:srgbClr val="F2B233"/>
              </a:buClr>
              <a:buFont typeface="Arial"/>
              <a:buChar char="●"/>
            </a:pPr>
            <a:r>
              <a:rPr b="1" sz="1500">
                <a:solidFill>
                  <a:srgbClr val="E3E9F3"/>
                </a:solidFill>
                <a:latin typeface="Segoe UI Semibold"/>
              </a:rPr>
              <a:t>Sai cũng không sao:  </a:t>
            </a:r>
            <a:r>
              <a:rPr sz="1500">
                <a:solidFill>
                  <a:srgbClr val="E3E9F3"/>
                </a:solidFill>
                <a:latin typeface="Segoe UI"/>
                <a:ea typeface="Yu Gothic"/>
              </a:rPr>
              <a:t>nhánh sai có giải thích và cho thử lại.</a:t>
            </a:r>
          </a:p>
          <a:p>
            <a:pPr marL="256032" indent="-256032">
              <a:lnSpc>
                <a:spcPct val="110000"/>
              </a:lnSpc>
              <a:spcAft>
                <a:spcPts val="800"/>
              </a:spcAft>
              <a:buClr>
                <a:srgbClr val="F2B233"/>
              </a:buClr>
              <a:buFont typeface="Arial"/>
              <a:buChar char="●"/>
            </a:pPr>
            <a:r>
              <a:rPr b="1" sz="1500">
                <a:solidFill>
                  <a:srgbClr val="E3E9F3"/>
                </a:solidFill>
                <a:latin typeface="Segoe UI Semibold"/>
              </a:rPr>
              <a:t>Tiến bộ đo được:  </a:t>
            </a:r>
            <a:r>
              <a:rPr sz="1500">
                <a:solidFill>
                  <a:srgbClr val="E3E9F3"/>
                </a:solidFill>
                <a:latin typeface="Segoe UI"/>
                <a:ea typeface="Yu Gothic"/>
              </a:rPr>
              <a:t>điểm theo 5 nhóm kỹ năng, XP, Kiến thức, mở khóa.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01 · Ý TƯỞNG GAME</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Học bằng cách sống: vòng lặp cốt lõi</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05</a:t>
            </a:r>
          </a:p>
        </p:txBody>
      </p:sp>
      <p:pic>
        <p:nvPicPr>
          <p:cNvPr id="8" name="Picture 7" descr="d01_core_loop.png"/>
          <p:cNvPicPr>
            <a:picLocks noChangeAspect="1"/>
          </p:cNvPicPr>
          <p:nvPr/>
        </p:nvPicPr>
        <p:blipFill>
          <a:blip r:embed="rId4"/>
          <a:stretch>
            <a:fillRect/>
          </a:stretch>
        </p:blipFill>
        <p:spPr>
          <a:xfrm>
            <a:off x="457200" y="1680210"/>
            <a:ext cx="6766560" cy="4229100"/>
          </a:xfrm>
          <a:prstGeom prst="rect">
            <a:avLst/>
          </a:prstGeom>
        </p:spPr>
      </p:pic>
      <p:sp>
        <p:nvSpPr>
          <p:cNvPr id="9" name="TextBox 8"/>
          <p:cNvSpPr txBox="1"/>
          <p:nvPr/>
        </p:nvSpPr>
        <p:spPr>
          <a:xfrm>
            <a:off x="7498079" y="1737360"/>
            <a:ext cx="4114800" cy="4389120"/>
          </a:xfrm>
          <a:prstGeom prst="rect">
            <a:avLst/>
          </a:prstGeom>
          <a:noFill/>
        </p:spPr>
        <p:txBody>
          <a:bodyPr wrap="square" lIns="0" rIns="0" tIns="0" bIns="0">
            <a:spAutoFit/>
          </a:bodyPr>
          <a:lstStyle/>
          <a:p>
            <a:pPr marL="256032" indent="-256032">
              <a:lnSpc>
                <a:spcPct val="110000"/>
              </a:lnSpc>
              <a:spcAft>
                <a:spcPts val="1200"/>
              </a:spcAft>
              <a:buClr>
                <a:srgbClr val="F2B233"/>
              </a:buClr>
              <a:buFont typeface="Arial"/>
              <a:buChar char="●"/>
            </a:pPr>
            <a:r>
              <a:rPr b="1" sz="1600">
                <a:solidFill>
                  <a:srgbClr val="14213D"/>
                </a:solidFill>
                <a:latin typeface="Segoe UI Semibold"/>
              </a:rPr>
              <a:t>Khám phá  </a:t>
            </a:r>
            <a:r>
              <a:rPr sz="1600">
                <a:solidFill>
                  <a:srgbClr val="22304A"/>
                </a:solidFill>
                <a:latin typeface="Segoe UI"/>
                <a:ea typeface="Yu Gothic"/>
              </a:rPr>
              <a:t>khu phố, tìm NPC và địa điểm.</a:t>
            </a:r>
          </a:p>
          <a:p>
            <a:pPr marL="256032" indent="-256032">
              <a:lnSpc>
                <a:spcPct val="110000"/>
              </a:lnSpc>
              <a:spcAft>
                <a:spcPts val="1200"/>
              </a:spcAft>
              <a:buClr>
                <a:srgbClr val="F2B233"/>
              </a:buClr>
              <a:buFont typeface="Arial"/>
              <a:buChar char="●"/>
            </a:pPr>
            <a:r>
              <a:rPr b="1" sz="1600">
                <a:solidFill>
                  <a:srgbClr val="14213D"/>
                </a:solidFill>
                <a:latin typeface="Segoe UI Semibold"/>
              </a:rPr>
              <a:t>Nhận mục tiêu  </a:t>
            </a:r>
            <a:r>
              <a:rPr sz="1600">
                <a:solidFill>
                  <a:srgbClr val="22304A"/>
                </a:solidFill>
                <a:latin typeface="Segoe UI"/>
                <a:ea typeface="Yu Gothic"/>
              </a:rPr>
              <a:t>qua Nhật ký nhiệm vụ.</a:t>
            </a:r>
          </a:p>
          <a:p>
            <a:pPr marL="256032" indent="-256032">
              <a:lnSpc>
                <a:spcPct val="110000"/>
              </a:lnSpc>
              <a:spcAft>
                <a:spcPts val="1200"/>
              </a:spcAft>
              <a:buClr>
                <a:srgbClr val="F2B233"/>
              </a:buClr>
              <a:buFont typeface="Arial"/>
              <a:buChar char="●"/>
            </a:pPr>
            <a:r>
              <a:rPr b="1" sz="1600">
                <a:solidFill>
                  <a:srgbClr val="14213D"/>
                </a:solidFill>
                <a:latin typeface="Segoe UI Semibold"/>
              </a:rPr>
              <a:t>Tương tác  </a:t>
            </a:r>
            <a:r>
              <a:rPr sz="1600">
                <a:solidFill>
                  <a:srgbClr val="22304A"/>
                </a:solidFill>
                <a:latin typeface="Segoe UI"/>
                <a:ea typeface="Yu Gothic"/>
              </a:rPr>
              <a:t>với NPC, đồ vật, cửa vào các khu.</a:t>
            </a:r>
          </a:p>
          <a:p>
            <a:pPr marL="256032" indent="-256032">
              <a:lnSpc>
                <a:spcPct val="110000"/>
              </a:lnSpc>
              <a:spcAft>
                <a:spcPts val="1200"/>
              </a:spcAft>
              <a:buClr>
                <a:srgbClr val="F2B233"/>
              </a:buClr>
              <a:buFont typeface="Arial"/>
              <a:buChar char="●"/>
            </a:pPr>
            <a:r>
              <a:rPr b="1" sz="1600">
                <a:solidFill>
                  <a:srgbClr val="14213D"/>
                </a:solidFill>
                <a:latin typeface="Segoe UI Semibold"/>
              </a:rPr>
              <a:t>Chọn câu  </a:t>
            </a:r>
            <a:r>
              <a:rPr sz="1600">
                <a:solidFill>
                  <a:srgbClr val="22304A"/>
                </a:solidFill>
                <a:latin typeface="Segoe UI"/>
                <a:ea typeface="Yu Gothic"/>
              </a:rPr>
              <a:t>tiếng Nhật N5 phù hợp.</a:t>
            </a:r>
          </a:p>
          <a:p>
            <a:pPr marL="256032" indent="-256032">
              <a:lnSpc>
                <a:spcPct val="110000"/>
              </a:lnSpc>
              <a:spcAft>
                <a:spcPts val="1200"/>
              </a:spcAft>
              <a:buClr>
                <a:srgbClr val="F2B233"/>
              </a:buClr>
              <a:buFont typeface="Arial"/>
              <a:buChar char="●"/>
            </a:pPr>
            <a:r>
              <a:rPr b="1" sz="1600">
                <a:solidFill>
                  <a:srgbClr val="14213D"/>
                </a:solidFill>
                <a:latin typeface="Segoe UI Semibold"/>
              </a:rPr>
              <a:t>Sửa lỗi  </a:t>
            </a:r>
            <a:r>
              <a:rPr sz="1600">
                <a:solidFill>
                  <a:srgbClr val="22304A"/>
                </a:solidFill>
                <a:latin typeface="Segoe UI"/>
                <a:ea typeface="Yu Gothic"/>
              </a:rPr>
              <a:t>theo giải thích của NPC.</a:t>
            </a:r>
          </a:p>
          <a:p>
            <a:pPr marL="256032" indent="-256032">
              <a:lnSpc>
                <a:spcPct val="110000"/>
              </a:lnSpc>
              <a:spcAft>
                <a:spcPts val="1200"/>
              </a:spcAft>
              <a:buClr>
                <a:srgbClr val="F2B233"/>
              </a:buClr>
              <a:buFont typeface="Arial"/>
              <a:buChar char="●"/>
            </a:pPr>
            <a:r>
              <a:rPr b="1" sz="1600">
                <a:solidFill>
                  <a:srgbClr val="14213D"/>
                </a:solidFill>
                <a:latin typeface="Segoe UI Semibold"/>
              </a:rPr>
              <a:t>Tiến bộ  </a:t>
            </a:r>
            <a:r>
              <a:rPr sz="1600">
                <a:solidFill>
                  <a:srgbClr val="22304A"/>
                </a:solidFill>
                <a:latin typeface="Segoe UI"/>
                <a:ea typeface="Yu Gothic"/>
              </a:rPr>
              <a:t>XP, Kiến thức, mở khóa.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01 · Ý TƯỞNG GAME</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Một ngày ở Hibari-chō</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06</a:t>
            </a:r>
          </a:p>
        </p:txBody>
      </p:sp>
      <p:pic>
        <p:nvPicPr>
          <p:cNvPr id="8" name="Picture 7" descr="bed_12_awake.png"/>
          <p:cNvPicPr>
            <a:picLocks noChangeAspect="1"/>
          </p:cNvPicPr>
          <p:nvPr/>
        </p:nvPicPr>
        <p:blipFill>
          <a:blip r:embed="rId4"/>
          <a:stretch>
            <a:fillRect/>
          </a:stretch>
        </p:blipFill>
        <p:spPr>
          <a:xfrm>
            <a:off x="548640" y="1417320"/>
            <a:ext cx="3520440" cy="1980247"/>
          </a:xfrm>
          <a:prstGeom prst="rect">
            <a:avLst/>
          </a:prstGeom>
          <a:ln w="9525">
            <a:solidFill>
              <a:srgbClr val="D5DCE8"/>
            </a:solidFill>
          </a:ln>
        </p:spPr>
      </p:pic>
      <p:sp>
        <p:nvSpPr>
          <p:cNvPr id="9" name="Rectangle 8"/>
          <p:cNvSpPr/>
          <p:nvPr/>
        </p:nvSpPr>
        <p:spPr>
          <a:xfrm>
            <a:off x="548640" y="3401568"/>
            <a:ext cx="3520440" cy="438912"/>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3401568"/>
            <a:ext cx="822960" cy="438912"/>
          </a:xfrm>
          <a:prstGeom prst="rect">
            <a:avLst/>
          </a:prstGeom>
          <a:noFill/>
        </p:spPr>
        <p:txBody>
          <a:bodyPr wrap="square" lIns="0" rIns="0" tIns="0" bIns="0" anchor="ctr">
            <a:spAutoFit/>
          </a:bodyPr>
          <a:lstStyle/>
          <a:p>
            <a:pPr algn="l">
              <a:lnSpc>
                <a:spcPct val="110000"/>
              </a:lnSpc>
              <a:spcAft>
                <a:spcPts val="0"/>
              </a:spcAft>
            </a:pPr>
            <a:r>
              <a:rPr sz="1400" b="0" i="0">
                <a:solidFill>
                  <a:srgbClr val="F2B233"/>
                </a:solidFill>
                <a:latin typeface="Segoe UI Semibold"/>
                <a:ea typeface="Yu Gothic"/>
              </a:rPr>
              <a:t>07:00</a:t>
            </a:r>
          </a:p>
        </p:txBody>
      </p:sp>
      <p:sp>
        <p:nvSpPr>
          <p:cNvPr id="11" name="TextBox 10"/>
          <p:cNvSpPr txBox="1"/>
          <p:nvPr/>
        </p:nvSpPr>
        <p:spPr>
          <a:xfrm>
            <a:off x="1463040" y="3401568"/>
            <a:ext cx="2560320" cy="438912"/>
          </a:xfrm>
          <a:prstGeom prst="rect">
            <a:avLst/>
          </a:prstGeom>
          <a:noFill/>
        </p:spPr>
        <p:txBody>
          <a:bodyPr wrap="square" lIns="0" rIns="0" tIns="0" bIns="0" anchor="ctr">
            <a:spAutoFit/>
          </a:bodyPr>
          <a:lstStyle/>
          <a:p>
            <a:pPr algn="l">
              <a:lnSpc>
                <a:spcPct val="110000"/>
              </a:lnSpc>
              <a:spcAft>
                <a:spcPts val="0"/>
              </a:spcAft>
            </a:pPr>
            <a:r>
              <a:rPr sz="1300" b="0" i="0">
                <a:solidFill>
                  <a:srgbClr val="FFFFFF"/>
                </a:solidFill>
                <a:latin typeface="Segoe UI"/>
                <a:ea typeface="Yu Gothic"/>
              </a:rPr>
              <a:t>Thức dậy ở phòng trọ  </a:t>
            </a:r>
            <a:r>
              <a:rPr sz="1100" b="0" i="0">
                <a:solidFill>
                  <a:srgbClr val="C8D3E6"/>
                </a:solidFill>
                <a:latin typeface="Yu Gothic"/>
                <a:ea typeface="Yu Gothic"/>
              </a:rPr>
              <a:t>おはようございます</a:t>
            </a:r>
          </a:p>
        </p:txBody>
      </p:sp>
      <p:pic>
        <p:nvPicPr>
          <p:cNvPr id="12" name="Picture 11" descr="07_entrance_school.png"/>
          <p:cNvPicPr>
            <a:picLocks noChangeAspect="1"/>
          </p:cNvPicPr>
          <p:nvPr/>
        </p:nvPicPr>
        <p:blipFill>
          <a:blip r:embed="rId5"/>
          <a:stretch>
            <a:fillRect/>
          </a:stretch>
        </p:blipFill>
        <p:spPr>
          <a:xfrm>
            <a:off x="4297679" y="1417320"/>
            <a:ext cx="3520440" cy="1980247"/>
          </a:xfrm>
          <a:prstGeom prst="rect">
            <a:avLst/>
          </a:prstGeom>
          <a:ln w="9525">
            <a:solidFill>
              <a:srgbClr val="D5DCE8"/>
            </a:solidFill>
          </a:ln>
        </p:spPr>
      </p:pic>
      <p:sp>
        <p:nvSpPr>
          <p:cNvPr id="13" name="Rectangle 12"/>
          <p:cNvSpPr/>
          <p:nvPr/>
        </p:nvSpPr>
        <p:spPr>
          <a:xfrm>
            <a:off x="4297679" y="3401568"/>
            <a:ext cx="3520440" cy="438912"/>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3401568"/>
            <a:ext cx="822960" cy="438912"/>
          </a:xfrm>
          <a:prstGeom prst="rect">
            <a:avLst/>
          </a:prstGeom>
          <a:noFill/>
        </p:spPr>
        <p:txBody>
          <a:bodyPr wrap="square" lIns="0" rIns="0" tIns="0" bIns="0" anchor="ctr">
            <a:spAutoFit/>
          </a:bodyPr>
          <a:lstStyle/>
          <a:p>
            <a:pPr algn="l">
              <a:lnSpc>
                <a:spcPct val="110000"/>
              </a:lnSpc>
              <a:spcAft>
                <a:spcPts val="0"/>
              </a:spcAft>
            </a:pPr>
            <a:r>
              <a:rPr sz="1400" b="0" i="0">
                <a:solidFill>
                  <a:srgbClr val="F2B233"/>
                </a:solidFill>
                <a:latin typeface="Segoe UI Semibold"/>
                <a:ea typeface="Yu Gothic"/>
              </a:rPr>
              <a:t>09:00</a:t>
            </a:r>
          </a:p>
        </p:txBody>
      </p:sp>
      <p:sp>
        <p:nvSpPr>
          <p:cNvPr id="15" name="TextBox 14"/>
          <p:cNvSpPr txBox="1"/>
          <p:nvPr/>
        </p:nvSpPr>
        <p:spPr>
          <a:xfrm>
            <a:off x="5212079" y="3401568"/>
            <a:ext cx="2560320" cy="438912"/>
          </a:xfrm>
          <a:prstGeom prst="rect">
            <a:avLst/>
          </a:prstGeom>
          <a:noFill/>
        </p:spPr>
        <p:txBody>
          <a:bodyPr wrap="square" lIns="0" rIns="0" tIns="0" bIns="0" anchor="ctr">
            <a:spAutoFit/>
          </a:bodyPr>
          <a:lstStyle/>
          <a:p>
            <a:pPr algn="l">
              <a:lnSpc>
                <a:spcPct val="110000"/>
              </a:lnSpc>
              <a:spcAft>
                <a:spcPts val="0"/>
              </a:spcAft>
            </a:pPr>
            <a:r>
              <a:rPr sz="1300" b="0" i="0">
                <a:solidFill>
                  <a:srgbClr val="FFFFFF"/>
                </a:solidFill>
                <a:latin typeface="Segoe UI"/>
                <a:ea typeface="Yu Gothic"/>
              </a:rPr>
              <a:t>Đến trường Hibari  </a:t>
            </a:r>
            <a:r>
              <a:rPr sz="1100" b="0" i="0">
                <a:solidFill>
                  <a:srgbClr val="C8D3E6"/>
                </a:solidFill>
                <a:latin typeface="Yu Gothic"/>
                <a:ea typeface="Yu Gothic"/>
              </a:rPr>
              <a:t>はじめまして</a:t>
            </a:r>
          </a:p>
        </p:txBody>
      </p:sp>
      <p:pic>
        <p:nvPicPr>
          <p:cNvPr id="16" name="Picture 15" descr="05_konbini_cashier.png"/>
          <p:cNvPicPr>
            <a:picLocks noChangeAspect="1"/>
          </p:cNvPicPr>
          <p:nvPr/>
        </p:nvPicPr>
        <p:blipFill>
          <a:blip r:embed="rId6"/>
          <a:stretch>
            <a:fillRect/>
          </a:stretch>
        </p:blipFill>
        <p:spPr>
          <a:xfrm>
            <a:off x="8046719" y="1417320"/>
            <a:ext cx="3520440" cy="1980247"/>
          </a:xfrm>
          <a:prstGeom prst="rect">
            <a:avLst/>
          </a:prstGeom>
          <a:ln w="9525">
            <a:solidFill>
              <a:srgbClr val="D5DCE8"/>
            </a:solidFill>
          </a:ln>
        </p:spPr>
      </p:pic>
      <p:sp>
        <p:nvSpPr>
          <p:cNvPr id="17" name="Rectangle 16"/>
          <p:cNvSpPr/>
          <p:nvPr/>
        </p:nvSpPr>
        <p:spPr>
          <a:xfrm>
            <a:off x="8046719" y="3401568"/>
            <a:ext cx="3520440" cy="438912"/>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83879" y="3401568"/>
            <a:ext cx="822960" cy="438912"/>
          </a:xfrm>
          <a:prstGeom prst="rect">
            <a:avLst/>
          </a:prstGeom>
          <a:noFill/>
        </p:spPr>
        <p:txBody>
          <a:bodyPr wrap="square" lIns="0" rIns="0" tIns="0" bIns="0" anchor="ctr">
            <a:spAutoFit/>
          </a:bodyPr>
          <a:lstStyle/>
          <a:p>
            <a:pPr algn="l">
              <a:lnSpc>
                <a:spcPct val="110000"/>
              </a:lnSpc>
              <a:spcAft>
                <a:spcPts val="0"/>
              </a:spcAft>
            </a:pPr>
            <a:r>
              <a:rPr sz="1400" b="0" i="0">
                <a:solidFill>
                  <a:srgbClr val="F2B233"/>
                </a:solidFill>
                <a:latin typeface="Segoe UI Semibold"/>
                <a:ea typeface="Yu Gothic"/>
              </a:rPr>
              <a:t>12:00</a:t>
            </a:r>
          </a:p>
        </p:txBody>
      </p:sp>
      <p:sp>
        <p:nvSpPr>
          <p:cNvPr id="19" name="TextBox 18"/>
          <p:cNvSpPr txBox="1"/>
          <p:nvPr/>
        </p:nvSpPr>
        <p:spPr>
          <a:xfrm>
            <a:off x="8961119" y="3401568"/>
            <a:ext cx="2560320" cy="438912"/>
          </a:xfrm>
          <a:prstGeom prst="rect">
            <a:avLst/>
          </a:prstGeom>
          <a:noFill/>
        </p:spPr>
        <p:txBody>
          <a:bodyPr wrap="square" lIns="0" rIns="0" tIns="0" bIns="0" anchor="ctr">
            <a:spAutoFit/>
          </a:bodyPr>
          <a:lstStyle/>
          <a:p>
            <a:pPr algn="l">
              <a:lnSpc>
                <a:spcPct val="110000"/>
              </a:lnSpc>
              <a:spcAft>
                <a:spcPts val="0"/>
              </a:spcAft>
            </a:pPr>
            <a:r>
              <a:rPr sz="1300" b="0" i="0">
                <a:solidFill>
                  <a:srgbClr val="FFFFFF"/>
                </a:solidFill>
                <a:latin typeface="Segoe UI"/>
                <a:ea typeface="Yu Gothic"/>
              </a:rPr>
              <a:t>Mua onigiri ở konbini  </a:t>
            </a:r>
            <a:r>
              <a:rPr sz="1100" b="0" i="0">
                <a:solidFill>
                  <a:srgbClr val="C8D3E6"/>
                </a:solidFill>
                <a:latin typeface="Yu Gothic"/>
                <a:ea typeface="Yu Gothic"/>
              </a:rPr>
              <a:t>これ、おねがいします</a:t>
            </a:r>
          </a:p>
        </p:txBody>
      </p:sp>
      <p:pic>
        <p:nvPicPr>
          <p:cNvPr id="20" name="Picture 19" descr="07_entrance_sushi.png"/>
          <p:cNvPicPr>
            <a:picLocks noChangeAspect="1"/>
          </p:cNvPicPr>
          <p:nvPr/>
        </p:nvPicPr>
        <p:blipFill>
          <a:blip r:embed="rId7"/>
          <a:stretch>
            <a:fillRect/>
          </a:stretch>
        </p:blipFill>
        <p:spPr>
          <a:xfrm>
            <a:off x="548640" y="3931920"/>
            <a:ext cx="3520440" cy="1980247"/>
          </a:xfrm>
          <a:prstGeom prst="rect">
            <a:avLst/>
          </a:prstGeom>
          <a:ln w="9525">
            <a:solidFill>
              <a:srgbClr val="D5DCE8"/>
            </a:solidFill>
          </a:ln>
        </p:spPr>
      </p:pic>
      <p:sp>
        <p:nvSpPr>
          <p:cNvPr id="21" name="Rectangle 20"/>
          <p:cNvSpPr/>
          <p:nvPr/>
        </p:nvSpPr>
        <p:spPr>
          <a:xfrm>
            <a:off x="548640" y="5916168"/>
            <a:ext cx="3520440" cy="438912"/>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916168"/>
            <a:ext cx="822960" cy="438912"/>
          </a:xfrm>
          <a:prstGeom prst="rect">
            <a:avLst/>
          </a:prstGeom>
          <a:noFill/>
        </p:spPr>
        <p:txBody>
          <a:bodyPr wrap="square" lIns="0" rIns="0" tIns="0" bIns="0" anchor="ctr">
            <a:spAutoFit/>
          </a:bodyPr>
          <a:lstStyle/>
          <a:p>
            <a:pPr algn="l">
              <a:lnSpc>
                <a:spcPct val="110000"/>
              </a:lnSpc>
              <a:spcAft>
                <a:spcPts val="0"/>
              </a:spcAft>
            </a:pPr>
            <a:r>
              <a:rPr sz="1400" b="0" i="0">
                <a:solidFill>
                  <a:srgbClr val="F2B233"/>
                </a:solidFill>
                <a:latin typeface="Segoe UI Semibold"/>
                <a:ea typeface="Yu Gothic"/>
              </a:rPr>
              <a:t>18:00</a:t>
            </a:r>
          </a:p>
        </p:txBody>
      </p:sp>
      <p:sp>
        <p:nvSpPr>
          <p:cNvPr id="23" name="TextBox 22"/>
          <p:cNvSpPr txBox="1"/>
          <p:nvPr/>
        </p:nvSpPr>
        <p:spPr>
          <a:xfrm>
            <a:off x="1463040" y="5916168"/>
            <a:ext cx="2560320" cy="438912"/>
          </a:xfrm>
          <a:prstGeom prst="rect">
            <a:avLst/>
          </a:prstGeom>
          <a:noFill/>
        </p:spPr>
        <p:txBody>
          <a:bodyPr wrap="square" lIns="0" rIns="0" tIns="0" bIns="0" anchor="ctr">
            <a:spAutoFit/>
          </a:bodyPr>
          <a:lstStyle/>
          <a:p>
            <a:pPr algn="l">
              <a:lnSpc>
                <a:spcPct val="110000"/>
              </a:lnSpc>
              <a:spcAft>
                <a:spcPts val="0"/>
              </a:spcAft>
            </a:pPr>
            <a:r>
              <a:rPr sz="1300" b="0" i="0">
                <a:solidFill>
                  <a:srgbClr val="FFFFFF"/>
                </a:solidFill>
                <a:latin typeface="Segoe UI"/>
                <a:ea typeface="Yu Gothic"/>
              </a:rPr>
              <a:t>Ăn tối ở Sushi Hibari  </a:t>
            </a:r>
            <a:r>
              <a:rPr sz="1100" b="0" i="0">
                <a:solidFill>
                  <a:srgbClr val="C8D3E6"/>
                </a:solidFill>
                <a:latin typeface="Yu Gothic"/>
                <a:ea typeface="Yu Gothic"/>
              </a:rPr>
              <a:t>いただきます</a:t>
            </a:r>
          </a:p>
        </p:txBody>
      </p:sp>
      <p:pic>
        <p:nvPicPr>
          <p:cNvPr id="24" name="Picture 23" descr="07_entrance_station.png"/>
          <p:cNvPicPr>
            <a:picLocks noChangeAspect="1"/>
          </p:cNvPicPr>
          <p:nvPr/>
        </p:nvPicPr>
        <p:blipFill>
          <a:blip r:embed="rId8"/>
          <a:stretch>
            <a:fillRect/>
          </a:stretch>
        </p:blipFill>
        <p:spPr>
          <a:xfrm>
            <a:off x="4297679" y="3931920"/>
            <a:ext cx="3520440" cy="1980247"/>
          </a:xfrm>
          <a:prstGeom prst="rect">
            <a:avLst/>
          </a:prstGeom>
          <a:ln w="9525">
            <a:solidFill>
              <a:srgbClr val="D5DCE8"/>
            </a:solidFill>
          </a:ln>
        </p:spPr>
      </p:pic>
      <p:sp>
        <p:nvSpPr>
          <p:cNvPr id="25" name="Rectangle 24"/>
          <p:cNvSpPr/>
          <p:nvPr/>
        </p:nvSpPr>
        <p:spPr>
          <a:xfrm>
            <a:off x="4297679" y="5916168"/>
            <a:ext cx="3520440" cy="438912"/>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34840" y="5916168"/>
            <a:ext cx="822960" cy="438912"/>
          </a:xfrm>
          <a:prstGeom prst="rect">
            <a:avLst/>
          </a:prstGeom>
          <a:noFill/>
        </p:spPr>
        <p:txBody>
          <a:bodyPr wrap="square" lIns="0" rIns="0" tIns="0" bIns="0" anchor="ctr">
            <a:spAutoFit/>
          </a:bodyPr>
          <a:lstStyle/>
          <a:p>
            <a:pPr algn="l">
              <a:lnSpc>
                <a:spcPct val="110000"/>
              </a:lnSpc>
              <a:spcAft>
                <a:spcPts val="0"/>
              </a:spcAft>
            </a:pPr>
            <a:r>
              <a:rPr sz="1400" b="0" i="0">
                <a:solidFill>
                  <a:srgbClr val="F2B233"/>
                </a:solidFill>
                <a:latin typeface="Segoe UI Semibold"/>
                <a:ea typeface="Yu Gothic"/>
              </a:rPr>
              <a:t>20:00</a:t>
            </a:r>
          </a:p>
        </p:txBody>
      </p:sp>
      <p:sp>
        <p:nvSpPr>
          <p:cNvPr id="27" name="TextBox 26"/>
          <p:cNvSpPr txBox="1"/>
          <p:nvPr/>
        </p:nvSpPr>
        <p:spPr>
          <a:xfrm>
            <a:off x="5212079" y="5916168"/>
            <a:ext cx="2560320" cy="438912"/>
          </a:xfrm>
          <a:prstGeom prst="rect">
            <a:avLst/>
          </a:prstGeom>
          <a:noFill/>
        </p:spPr>
        <p:txBody>
          <a:bodyPr wrap="square" lIns="0" rIns="0" tIns="0" bIns="0" anchor="ctr">
            <a:spAutoFit/>
          </a:bodyPr>
          <a:lstStyle/>
          <a:p>
            <a:pPr algn="l">
              <a:lnSpc>
                <a:spcPct val="110000"/>
              </a:lnSpc>
              <a:spcAft>
                <a:spcPts val="0"/>
              </a:spcAft>
            </a:pPr>
            <a:r>
              <a:rPr sz="1300" b="0" i="0">
                <a:solidFill>
                  <a:srgbClr val="FFFFFF"/>
                </a:solidFill>
                <a:latin typeface="Segoe UI"/>
                <a:ea typeface="Yu Gothic"/>
              </a:rPr>
              <a:t>Đi tàu ở ga Hibari  </a:t>
            </a:r>
            <a:r>
              <a:rPr sz="1100" b="0" i="0">
                <a:solidFill>
                  <a:srgbClr val="C8D3E6"/>
                </a:solidFill>
                <a:latin typeface="Yu Gothic"/>
                <a:ea typeface="Yu Gothic"/>
              </a:rPr>
              <a:t>〜まで いくらですか</a:t>
            </a:r>
          </a:p>
        </p:txBody>
      </p:sp>
      <p:pic>
        <p:nvPicPr>
          <p:cNvPr id="28" name="Picture 27" descr="bed_10_sleep_night.png"/>
          <p:cNvPicPr>
            <a:picLocks noChangeAspect="1"/>
          </p:cNvPicPr>
          <p:nvPr/>
        </p:nvPicPr>
        <p:blipFill>
          <a:blip r:embed="rId9"/>
          <a:stretch>
            <a:fillRect/>
          </a:stretch>
        </p:blipFill>
        <p:spPr>
          <a:xfrm>
            <a:off x="8046719" y="3931920"/>
            <a:ext cx="3520440" cy="1980247"/>
          </a:xfrm>
          <a:prstGeom prst="rect">
            <a:avLst/>
          </a:prstGeom>
          <a:ln w="9525">
            <a:solidFill>
              <a:srgbClr val="D5DCE8"/>
            </a:solidFill>
          </a:ln>
        </p:spPr>
      </p:pic>
      <p:sp>
        <p:nvSpPr>
          <p:cNvPr id="29" name="Rectangle 28"/>
          <p:cNvSpPr/>
          <p:nvPr/>
        </p:nvSpPr>
        <p:spPr>
          <a:xfrm>
            <a:off x="8046719" y="5916168"/>
            <a:ext cx="3520440" cy="438912"/>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83879" y="5916168"/>
            <a:ext cx="822960" cy="438912"/>
          </a:xfrm>
          <a:prstGeom prst="rect">
            <a:avLst/>
          </a:prstGeom>
          <a:noFill/>
        </p:spPr>
        <p:txBody>
          <a:bodyPr wrap="square" lIns="0" rIns="0" tIns="0" bIns="0" anchor="ctr">
            <a:spAutoFit/>
          </a:bodyPr>
          <a:lstStyle/>
          <a:p>
            <a:pPr algn="l">
              <a:lnSpc>
                <a:spcPct val="110000"/>
              </a:lnSpc>
              <a:spcAft>
                <a:spcPts val="0"/>
              </a:spcAft>
            </a:pPr>
            <a:r>
              <a:rPr sz="1400" b="0" i="0">
                <a:solidFill>
                  <a:srgbClr val="F2B233"/>
                </a:solidFill>
                <a:latin typeface="Segoe UI Semibold"/>
                <a:ea typeface="Yu Gothic"/>
              </a:rPr>
              <a:t>23:00</a:t>
            </a:r>
          </a:p>
        </p:txBody>
      </p:sp>
      <p:sp>
        <p:nvSpPr>
          <p:cNvPr id="31" name="TextBox 30"/>
          <p:cNvSpPr txBox="1"/>
          <p:nvPr/>
        </p:nvSpPr>
        <p:spPr>
          <a:xfrm>
            <a:off x="8961119" y="5916168"/>
            <a:ext cx="2560320" cy="438912"/>
          </a:xfrm>
          <a:prstGeom prst="rect">
            <a:avLst/>
          </a:prstGeom>
          <a:noFill/>
        </p:spPr>
        <p:txBody>
          <a:bodyPr wrap="square" lIns="0" rIns="0" tIns="0" bIns="0" anchor="ctr">
            <a:spAutoFit/>
          </a:bodyPr>
          <a:lstStyle/>
          <a:p>
            <a:pPr algn="l">
              <a:lnSpc>
                <a:spcPct val="110000"/>
              </a:lnSpc>
              <a:spcAft>
                <a:spcPts val="0"/>
              </a:spcAft>
            </a:pPr>
            <a:r>
              <a:rPr sz="1300" b="0" i="0">
                <a:solidFill>
                  <a:srgbClr val="FFFFFF"/>
                </a:solidFill>
                <a:latin typeface="Segoe UI"/>
                <a:ea typeface="Yu Gothic"/>
              </a:rPr>
              <a:t>Về phòng, ôn bài, ngủ  </a:t>
            </a:r>
            <a:r>
              <a:rPr sz="1100" b="0" i="0">
                <a:solidFill>
                  <a:srgbClr val="C8D3E6"/>
                </a:solidFill>
                <a:latin typeface="Yu Gothic"/>
                <a:ea typeface="Yu Gothic"/>
              </a:rPr>
              <a:t>おやすみなさい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pic>
        <p:nvPicPr>
          <p:cNvPr id="2" name="Picture 1" descr="logo_dark.png"/>
          <p:cNvPicPr>
            <a:picLocks noChangeAspect="1"/>
          </p:cNvPicPr>
          <p:nvPr/>
        </p:nvPicPr>
        <p:blipFill>
          <a:blip r:embed="rId2"/>
          <a:stretch>
            <a:fillRect/>
          </a:stretch>
        </p:blipFill>
        <p:spPr>
          <a:xfrm>
            <a:off x="640080" y="548640"/>
            <a:ext cx="2040940" cy="566928"/>
          </a:xfrm>
          <a:prstGeom prst="rect">
            <a:avLst/>
          </a:prstGeom>
        </p:spPr>
      </p:pic>
      <p:sp>
        <p:nvSpPr>
          <p:cNvPr id="3" name="TextBox 2"/>
          <p:cNvSpPr txBox="1"/>
          <p:nvPr/>
        </p:nvSpPr>
        <p:spPr>
          <a:xfrm>
            <a:off x="640080" y="2057400"/>
            <a:ext cx="5486400" cy="1463040"/>
          </a:xfrm>
          <a:prstGeom prst="rect">
            <a:avLst/>
          </a:prstGeom>
          <a:noFill/>
        </p:spPr>
        <p:txBody>
          <a:bodyPr wrap="square" lIns="0" rIns="0" tIns="0" bIns="0" anchor="t">
            <a:spAutoFit/>
          </a:bodyPr>
          <a:lstStyle/>
          <a:p>
            <a:pPr algn="l">
              <a:lnSpc>
                <a:spcPct val="110000"/>
              </a:lnSpc>
              <a:spcAft>
                <a:spcPts val="0"/>
              </a:spcAft>
            </a:pPr>
            <a:r>
              <a:rPr sz="11000" b="0" i="0">
                <a:solidFill>
                  <a:srgbClr val="F2B233"/>
                </a:solidFill>
                <a:latin typeface="Segoe UI Semibold"/>
                <a:ea typeface="Yu Gothic"/>
              </a:rPr>
              <a:t>02</a:t>
            </a:r>
          </a:p>
        </p:txBody>
      </p:sp>
      <p:sp>
        <p:nvSpPr>
          <p:cNvPr id="4" name="TextBox 3"/>
          <p:cNvSpPr txBox="1"/>
          <p:nvPr/>
        </p:nvSpPr>
        <p:spPr>
          <a:xfrm>
            <a:off x="640080" y="3611880"/>
            <a:ext cx="5486400" cy="1280160"/>
          </a:xfrm>
          <a:prstGeom prst="rect">
            <a:avLst/>
          </a:prstGeom>
          <a:noFill/>
        </p:spPr>
        <p:txBody>
          <a:bodyPr wrap="square" lIns="0" rIns="0" tIns="0" bIns="0" anchor="t">
            <a:spAutoFit/>
          </a:bodyPr>
          <a:lstStyle/>
          <a:p>
            <a:pPr algn="l">
              <a:lnSpc>
                <a:spcPct val="110000"/>
              </a:lnSpc>
              <a:spcAft>
                <a:spcPts val="0"/>
              </a:spcAft>
            </a:pPr>
            <a:r>
              <a:rPr sz="4000" b="0" i="0">
                <a:solidFill>
                  <a:srgbClr val="FFFFFF"/>
                </a:solidFill>
                <a:latin typeface="Segoe UI Semibold"/>
                <a:ea typeface="Yu Gothic"/>
              </a:rPr>
              <a:t>Thế giới &amp; các scene</a:t>
            </a:r>
          </a:p>
        </p:txBody>
      </p:sp>
      <p:sp>
        <p:nvSpPr>
          <p:cNvPr id="5" name="TextBox 4"/>
          <p:cNvSpPr txBox="1"/>
          <p:nvPr/>
        </p:nvSpPr>
        <p:spPr>
          <a:xfrm>
            <a:off x="640080" y="4800600"/>
            <a:ext cx="5303520" cy="914400"/>
          </a:xfrm>
          <a:prstGeom prst="rect">
            <a:avLst/>
          </a:prstGeom>
          <a:noFill/>
        </p:spPr>
        <p:txBody>
          <a:bodyPr wrap="square" lIns="0" rIns="0" tIns="0" bIns="0" anchor="t">
            <a:spAutoFit/>
          </a:bodyPr>
          <a:lstStyle/>
          <a:p>
            <a:pPr algn="l">
              <a:lnSpc>
                <a:spcPct val="110000"/>
              </a:lnSpc>
              <a:spcAft>
                <a:spcPts val="0"/>
              </a:spcAft>
            </a:pPr>
            <a:r>
              <a:rPr sz="1600" b="0" i="0">
                <a:solidFill>
                  <a:srgbClr val="C8D3E6"/>
                </a:solidFill>
                <a:latin typeface="Segoe UI"/>
                <a:ea typeface="Yu Gothic"/>
              </a:rPr>
              <a:t>Ảnh chụp trực tiếp trong Unity Play Mode — mỗi scene đã được kiểm thử tự động.</a:t>
            </a:r>
          </a:p>
        </p:txBody>
      </p:sp>
      <p:sp>
        <p:nvSpPr>
          <p:cNvPr id="6" name="TextBox 5"/>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8FA0BC"/>
                </a:solidFill>
                <a:latin typeface="Segoe UI Semibold"/>
                <a:ea typeface="Yu Gothic"/>
              </a:rPr>
              <a:t>07</a:t>
            </a:r>
          </a:p>
        </p:txBody>
      </p:sp>
      <p:pic>
        <p:nvPicPr>
          <p:cNvPr id="7" name="Picture 6" descr="02_konbini_front.png"/>
          <p:cNvPicPr>
            <a:picLocks noChangeAspect="1"/>
          </p:cNvPicPr>
          <p:nvPr/>
        </p:nvPicPr>
        <p:blipFill>
          <a:blip r:embed="rId4"/>
          <a:srcRect l="27500" r="27500"/>
          <a:stretch>
            <a:fillRect/>
          </a:stretch>
        </p:blipFill>
        <p:spPr>
          <a:xfrm>
            <a:off x="6705295" y="0"/>
            <a:ext cx="54864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02 · THẾ GIỚI &amp; CÁC SCENE</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Sơ đồ thế giới Hibari-chō</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08</a:t>
            </a:r>
          </a:p>
        </p:txBody>
      </p:sp>
      <p:pic>
        <p:nvPicPr>
          <p:cNvPr id="8" name="Picture 7" descr="d11_world_hub.png"/>
          <p:cNvPicPr>
            <a:picLocks noChangeAspect="1"/>
          </p:cNvPicPr>
          <p:nvPr/>
        </p:nvPicPr>
        <p:blipFill>
          <a:blip r:embed="rId4"/>
          <a:stretch>
            <a:fillRect/>
          </a:stretch>
        </p:blipFill>
        <p:spPr>
          <a:xfrm>
            <a:off x="457200" y="1385316"/>
            <a:ext cx="6949440" cy="3995928"/>
          </a:xfrm>
          <a:prstGeom prst="rect">
            <a:avLst/>
          </a:prstGeom>
        </p:spPr>
      </p:pic>
      <p:pic>
        <p:nvPicPr>
          <p:cNvPr id="9" name="Picture 8" descr="09_map_overview.png"/>
          <p:cNvPicPr>
            <a:picLocks noChangeAspect="1"/>
          </p:cNvPicPr>
          <p:nvPr/>
        </p:nvPicPr>
        <p:blipFill>
          <a:blip r:embed="rId5"/>
          <a:stretch>
            <a:fillRect/>
          </a:stretch>
        </p:blipFill>
        <p:spPr>
          <a:xfrm>
            <a:off x="7635240" y="1417320"/>
            <a:ext cx="4005072" cy="2252853"/>
          </a:xfrm>
          <a:prstGeom prst="rect">
            <a:avLst/>
          </a:prstGeom>
          <a:ln w="9525">
            <a:solidFill>
              <a:srgbClr val="D5DCE8"/>
            </a:solidFill>
          </a:ln>
        </p:spPr>
      </p:pic>
      <p:sp>
        <p:nvSpPr>
          <p:cNvPr id="10" name="TextBox 9"/>
          <p:cNvSpPr txBox="1"/>
          <p:nvPr/>
        </p:nvSpPr>
        <p:spPr>
          <a:xfrm>
            <a:off x="7635240" y="3840480"/>
            <a:ext cx="4005072" cy="2377440"/>
          </a:xfrm>
          <a:prstGeom prst="rect">
            <a:avLst/>
          </a:prstGeom>
          <a:noFill/>
        </p:spPr>
        <p:txBody>
          <a:bodyPr wrap="square" lIns="0" rIns="0" tIns="0" bIns="0">
            <a:spAutoFit/>
          </a:bodyPr>
          <a:lstStyle/>
          <a:p>
            <a:pPr marL="256032" indent="-256032">
              <a:lnSpc>
                <a:spcPct val="110000"/>
              </a:lnSpc>
              <a:spcAft>
                <a:spcPts val="800"/>
              </a:spcAft>
              <a:buClr>
                <a:srgbClr val="F2B233"/>
              </a:buClr>
              <a:buFont typeface="Arial"/>
              <a:buChar char="●"/>
            </a:pPr>
            <a:r>
              <a:rPr b="1" sz="1300">
                <a:solidFill>
                  <a:srgbClr val="14213D"/>
                </a:solidFill>
                <a:latin typeface="Segoe UI Semibold"/>
              </a:rPr>
              <a:t>Vào khu:  </a:t>
            </a:r>
            <a:r>
              <a:rPr sz="1300">
                <a:solidFill>
                  <a:srgbClr val="22304A"/>
                </a:solidFill>
                <a:latin typeface="Segoe UI"/>
                <a:ea typeface="Yu Gothic"/>
              </a:rPr>
              <a:t>tới cửa/cổng, nhấn F — scene khu vực nạp thêm, thành phố tạm ẩn.</a:t>
            </a:r>
          </a:p>
          <a:p>
            <a:pPr marL="256032" indent="-256032">
              <a:lnSpc>
                <a:spcPct val="110000"/>
              </a:lnSpc>
              <a:spcAft>
                <a:spcPts val="800"/>
              </a:spcAft>
              <a:buClr>
                <a:srgbClr val="F2B233"/>
              </a:buClr>
              <a:buFont typeface="Arial"/>
              <a:buChar char="●"/>
            </a:pPr>
            <a:r>
              <a:rPr b="1" sz="1300">
                <a:solidFill>
                  <a:srgbClr val="14213D"/>
                </a:solidFill>
                <a:latin typeface="Segoe UI Semibold"/>
              </a:rPr>
              <a:t>Ra khu:  </a:t>
            </a:r>
            <a:r>
              <a:rPr sz="1300">
                <a:solidFill>
                  <a:srgbClr val="22304A"/>
                </a:solidFill>
                <a:latin typeface="Segoe UI"/>
                <a:ea typeface="Yu Gothic"/>
              </a:rPr>
              <a:t>cửa ExitToCity đưa về đúng trước cổng đã vào.</a:t>
            </a:r>
          </a:p>
          <a:p>
            <a:pPr marL="256032" indent="-256032">
              <a:lnSpc>
                <a:spcPct val="110000"/>
              </a:lnSpc>
              <a:spcAft>
                <a:spcPts val="800"/>
              </a:spcAft>
              <a:buClr>
                <a:srgbClr val="F2B233"/>
              </a:buClr>
              <a:buFont typeface="Arial"/>
              <a:buChar char="●"/>
            </a:pPr>
            <a:r>
              <a:rPr b="1" sz="1300">
                <a:solidFill>
                  <a:srgbClr val="14213D"/>
                </a:solidFill>
                <a:latin typeface="Segoe UI Semibold"/>
              </a:rPr>
              <a:t>Bản đồ [M]:  </a:t>
            </a:r>
            <a:r>
              <a:rPr sz="1300">
                <a:solidFill>
                  <a:srgbClr val="22304A"/>
                </a:solidFill>
                <a:latin typeface="Segoe UI"/>
                <a:ea typeface="Yu Gothic"/>
              </a:rPr>
              <a:t>vẽ theo tọa độ thật, bấm vào để tự đi tới.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02 · SCENE 1/6</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Khởi động và Menu chính</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09</a:t>
            </a:r>
          </a:p>
        </p:txBody>
      </p:sp>
      <p:pic>
        <p:nvPicPr>
          <p:cNvPr id="8" name="Picture 7" descr="01_menu.png"/>
          <p:cNvPicPr>
            <a:picLocks noChangeAspect="1"/>
          </p:cNvPicPr>
          <p:nvPr/>
        </p:nvPicPr>
        <p:blipFill>
          <a:blip r:embed="rId4"/>
          <a:stretch>
            <a:fillRect/>
          </a:stretch>
        </p:blipFill>
        <p:spPr>
          <a:xfrm>
            <a:off x="548640" y="1371600"/>
            <a:ext cx="5715000" cy="3214687"/>
          </a:xfrm>
          <a:prstGeom prst="rect">
            <a:avLst/>
          </a:prstGeom>
          <a:ln w="9525">
            <a:solidFill>
              <a:srgbClr val="D5DCE8"/>
            </a:solidFill>
          </a:ln>
        </p:spPr>
      </p:pic>
      <p:pic>
        <p:nvPicPr>
          <p:cNvPr id="9" name="Picture 8" descr="02_guide.png"/>
          <p:cNvPicPr>
            <a:picLocks noChangeAspect="1"/>
          </p:cNvPicPr>
          <p:nvPr/>
        </p:nvPicPr>
        <p:blipFill>
          <a:blip r:embed="rId5"/>
          <a:stretch>
            <a:fillRect/>
          </a:stretch>
        </p:blipFill>
        <p:spPr>
          <a:xfrm>
            <a:off x="548640" y="4681728"/>
            <a:ext cx="2766060" cy="1555908"/>
          </a:xfrm>
          <a:prstGeom prst="rect">
            <a:avLst/>
          </a:prstGeom>
          <a:ln w="9525">
            <a:solidFill>
              <a:srgbClr val="D5DCE8"/>
            </a:solidFill>
          </a:ln>
        </p:spPr>
      </p:pic>
      <p:pic>
        <p:nvPicPr>
          <p:cNvPr id="10" name="Picture 9" descr="m02_about.png"/>
          <p:cNvPicPr>
            <a:picLocks noChangeAspect="1"/>
          </p:cNvPicPr>
          <p:nvPr/>
        </p:nvPicPr>
        <p:blipFill>
          <a:blip r:embed="rId6"/>
          <a:stretch>
            <a:fillRect/>
          </a:stretch>
        </p:blipFill>
        <p:spPr>
          <a:xfrm>
            <a:off x="3497580" y="4681728"/>
            <a:ext cx="2766060" cy="1555908"/>
          </a:xfrm>
          <a:prstGeom prst="rect">
            <a:avLst/>
          </a:prstGeom>
          <a:ln w="9525">
            <a:solidFill>
              <a:srgbClr val="D5DCE8"/>
            </a:solidFill>
          </a:ln>
        </p:spPr>
      </p:pic>
      <p:sp>
        <p:nvSpPr>
          <p:cNvPr id="11" name="Rounded Rectangle 10"/>
          <p:cNvSpPr/>
          <p:nvPr/>
        </p:nvSpPr>
        <p:spPr>
          <a:xfrm>
            <a:off x="6583680" y="1389888"/>
            <a:ext cx="2651760" cy="384048"/>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389888"/>
            <a:ext cx="2651760" cy="384048"/>
          </a:xfrm>
          <a:prstGeom prst="rect">
            <a:avLst/>
          </a:prstGeom>
          <a:noFill/>
        </p:spPr>
        <p:txBody>
          <a:bodyPr wrap="square" lIns="0" rIns="0" tIns="0" bIns="0" anchor="ctr">
            <a:spAutoFit/>
          </a:bodyPr>
          <a:lstStyle/>
          <a:p>
            <a:pPr algn="ctr">
              <a:lnSpc>
                <a:spcPct val="110000"/>
              </a:lnSpc>
              <a:spcAft>
                <a:spcPts val="0"/>
              </a:spcAft>
            </a:pPr>
            <a:r>
              <a:rPr sz="1200" b="0" i="0">
                <a:solidFill>
                  <a:srgbClr val="FFFFFF"/>
                </a:solidFill>
                <a:latin typeface="Segoe UI Semibold"/>
                <a:ea typeface="Yu Gothic"/>
              </a:rPr>
              <a:t>00_Bootstrap · 01_MainMenu</a:t>
            </a:r>
          </a:p>
        </p:txBody>
      </p:sp>
      <p:sp>
        <p:nvSpPr>
          <p:cNvPr id="13" name="TextBox 12"/>
          <p:cNvSpPr txBox="1"/>
          <p:nvPr/>
        </p:nvSpPr>
        <p:spPr>
          <a:xfrm>
            <a:off x="6583680" y="1965960"/>
            <a:ext cx="5074920" cy="3383280"/>
          </a:xfrm>
          <a:prstGeom prst="rect">
            <a:avLst/>
          </a:prstGeom>
          <a:noFill/>
        </p:spPr>
        <p:txBody>
          <a:bodyPr wrap="square" lIns="0" rIns="0" tIns="0" bIns="0">
            <a:spAutoFit/>
          </a:bodyPr>
          <a:lstStyle/>
          <a:p>
            <a:pPr marL="256032" indent="-256032">
              <a:lnSpc>
                <a:spcPct val="110000"/>
              </a:lnSpc>
              <a:spcAft>
                <a:spcPts val="900"/>
              </a:spcAft>
              <a:buClr>
                <a:srgbClr val="F2B233"/>
              </a:buClr>
              <a:buFont typeface="Arial"/>
              <a:buChar char="●"/>
            </a:pPr>
            <a:r>
              <a:rPr b="1" sz="1400">
                <a:solidFill>
                  <a:srgbClr val="14213D"/>
                </a:solidFill>
                <a:latin typeface="Segoe UI Semibold"/>
              </a:rPr>
              <a:t>AppRoot:  </a:t>
            </a:r>
            <a:r>
              <a:rPr sz="1400">
                <a:solidFill>
                  <a:srgbClr val="22304A"/>
                </a:solidFill>
                <a:latin typeface="Segoe UI"/>
                <a:ea typeface="Yu Gothic"/>
              </a:rPr>
              <a:t>khởi tạo dịch vụ lưu tiến trình, âm thanh, ngôn ngữ, phím điều khiển.</a:t>
            </a:r>
          </a:p>
          <a:p>
            <a:pPr marL="256032" indent="-256032">
              <a:lnSpc>
                <a:spcPct val="110000"/>
              </a:lnSpc>
              <a:spcAft>
                <a:spcPts val="900"/>
              </a:spcAft>
              <a:buClr>
                <a:srgbClr val="F2B233"/>
              </a:buClr>
              <a:buFont typeface="Arial"/>
              <a:buChar char="●"/>
            </a:pPr>
            <a:r>
              <a:rPr b="1" sz="1400">
                <a:solidFill>
                  <a:srgbClr val="14213D"/>
                </a:solidFill>
                <a:latin typeface="Segoe UI Semibold"/>
              </a:rPr>
              <a:t>Menu 3D:  </a:t>
            </a:r>
            <a:r>
              <a:rPr sz="1400">
                <a:solidFill>
                  <a:srgbClr val="22304A"/>
                </a:solidFill>
                <a:latin typeface="Segoe UI"/>
                <a:ea typeface="Yu Gothic"/>
              </a:rPr>
              <a:t>đặt trên nền khu phố; Bắt đầu, Xếp hạng, Hồ sơ, Bạn bè, Online.</a:t>
            </a:r>
          </a:p>
          <a:p>
            <a:pPr marL="256032" indent="-256032">
              <a:lnSpc>
                <a:spcPct val="110000"/>
              </a:lnSpc>
              <a:spcAft>
                <a:spcPts val="900"/>
              </a:spcAft>
              <a:buClr>
                <a:srgbClr val="F2B233"/>
              </a:buClr>
              <a:buFont typeface="Arial"/>
              <a:buChar char="●"/>
            </a:pPr>
            <a:r>
              <a:rPr b="1" sz="1400">
                <a:solidFill>
                  <a:srgbClr val="14213D"/>
                </a:solidFill>
                <a:latin typeface="Segoe UI Semibold"/>
              </a:rPr>
              <a:t>3 ngôn ngữ:  </a:t>
            </a:r>
            <a:r>
              <a:rPr sz="1400">
                <a:solidFill>
                  <a:srgbClr val="22304A"/>
                </a:solidFill>
                <a:latin typeface="Segoe UI"/>
                <a:ea typeface="Yu Gothic"/>
              </a:rPr>
              <a:t>VI / EN / JP đổi ngay lập tức, kể cả popup đang mở.</a:t>
            </a:r>
          </a:p>
          <a:p>
            <a:pPr marL="256032" indent="-256032">
              <a:lnSpc>
                <a:spcPct val="110000"/>
              </a:lnSpc>
              <a:spcAft>
                <a:spcPts val="900"/>
              </a:spcAft>
              <a:buClr>
                <a:srgbClr val="F2B233"/>
              </a:buClr>
              <a:buFont typeface="Arial"/>
              <a:buChar char="●"/>
            </a:pPr>
            <a:r>
              <a:rPr b="1" sz="1400">
                <a:solidFill>
                  <a:srgbClr val="14213D"/>
                </a:solidFill>
                <a:latin typeface="Segoe UI Semibold"/>
              </a:rPr>
              <a:t>Cách chơi:  </a:t>
            </a:r>
            <a:r>
              <a:rPr sz="1400">
                <a:solidFill>
                  <a:srgbClr val="22304A"/>
                </a:solidFill>
                <a:latin typeface="Segoe UI"/>
                <a:ea typeface="Yu Gothic"/>
              </a:rPr>
              <a:t>4 bước bắt đầu + bảng phím WASD, F, B, Tab, M, V.</a:t>
            </a:r>
          </a:p>
          <a:p>
            <a:pPr marL="256032" indent="-256032">
              <a:lnSpc>
                <a:spcPct val="110000"/>
              </a:lnSpc>
              <a:spcAft>
                <a:spcPts val="900"/>
              </a:spcAft>
              <a:buClr>
                <a:srgbClr val="F2B233"/>
              </a:buClr>
              <a:buFont typeface="Arial"/>
              <a:buChar char="●"/>
            </a:pPr>
            <a:r>
              <a:rPr b="1" sz="1400">
                <a:solidFill>
                  <a:srgbClr val="14213D"/>
                </a:solidFill>
                <a:latin typeface="Segoe UI Semibold"/>
              </a:rPr>
              <a:t>Chọn nhân vật:  </a:t>
            </a:r>
            <a:r>
              <a:rPr sz="1400">
                <a:solidFill>
                  <a:srgbClr val="22304A"/>
                </a:solidFill>
                <a:latin typeface="Segoe UI"/>
                <a:ea typeface="Yu Gothic"/>
              </a:rPr>
              <a:t>xem trước 3D, đặt tên, rồi vào thành phố.</a:t>
            </a:r>
          </a:p>
        </p:txBody>
      </p:sp>
      <p:sp>
        <p:nvSpPr>
          <p:cNvPr id="14" name="Rounded Rectangle 13"/>
          <p:cNvSpPr/>
          <p:nvPr/>
        </p:nvSpPr>
        <p:spPr>
          <a:xfrm>
            <a:off x="6583680" y="5349240"/>
            <a:ext cx="5074920" cy="868680"/>
          </a:xfrm>
          <a:prstGeom prst="roundRect">
            <a:avLst>
              <a:gd name="adj" fmla="val 12000"/>
            </a:avLst>
          </a:prstGeom>
          <a:solidFill>
            <a:srgbClr val="FFF8E6"/>
          </a:solidFill>
          <a:ln w="12700">
            <a:solidFill>
              <a:srgbClr val="F2D4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5349240"/>
            <a:ext cx="4754880" cy="868680"/>
          </a:xfrm>
          <a:prstGeom prst="rect">
            <a:avLst/>
          </a:prstGeom>
          <a:noFill/>
        </p:spPr>
        <p:txBody>
          <a:bodyPr wrap="square" lIns="0" rIns="0" tIns="0" bIns="0" anchor="ctr">
            <a:spAutoFit/>
          </a:bodyPr>
          <a:lstStyle/>
          <a:p>
            <a:pPr algn="l">
              <a:lnSpc>
                <a:spcPct val="110000"/>
              </a:lnSpc>
              <a:spcAft>
                <a:spcPts val="0"/>
              </a:spcAft>
            </a:pPr>
            <a:r>
              <a:rPr sz="1400" b="1" i="0">
                <a:solidFill>
                  <a:srgbClr val="B07D12"/>
                </a:solidFill>
                <a:latin typeface="Segoe UI Semibold"/>
                <a:ea typeface="Yu Gothic"/>
              </a:rPr>
              <a:t>Học được  </a:t>
            </a:r>
            <a:r>
              <a:rPr sz="1400" b="0" i="0">
                <a:solidFill>
                  <a:srgbClr val="22304A"/>
                </a:solidFill>
                <a:latin typeface="Yu Gothic"/>
                <a:ea typeface="Yu Gothic"/>
              </a:rPr>
              <a:t>Chuyển giao diện sang 日本語 để luyện đọc menu.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02 · SCENE 2/6</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Thành phố Hibari-chō</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10</a:t>
            </a:r>
          </a:p>
        </p:txBody>
      </p:sp>
      <p:pic>
        <p:nvPicPr>
          <p:cNvPr id="8" name="Picture 7" descr="01_spawn.png"/>
          <p:cNvPicPr>
            <a:picLocks noChangeAspect="1"/>
          </p:cNvPicPr>
          <p:nvPr/>
        </p:nvPicPr>
        <p:blipFill>
          <a:blip r:embed="rId4"/>
          <a:stretch>
            <a:fillRect/>
          </a:stretch>
        </p:blipFill>
        <p:spPr>
          <a:xfrm>
            <a:off x="548640" y="1371600"/>
            <a:ext cx="5715000" cy="3214687"/>
          </a:xfrm>
          <a:prstGeom prst="rect">
            <a:avLst/>
          </a:prstGeom>
          <a:ln w="9525">
            <a:solidFill>
              <a:srgbClr val="D5DCE8"/>
            </a:solidFill>
          </a:ln>
        </p:spPr>
      </p:pic>
      <p:pic>
        <p:nvPicPr>
          <p:cNvPr id="9" name="Picture 8" descr="06_signpost.png"/>
          <p:cNvPicPr>
            <a:picLocks noChangeAspect="1"/>
          </p:cNvPicPr>
          <p:nvPr/>
        </p:nvPicPr>
        <p:blipFill>
          <a:blip r:embed="rId5"/>
          <a:stretch>
            <a:fillRect/>
          </a:stretch>
        </p:blipFill>
        <p:spPr>
          <a:xfrm>
            <a:off x="548640" y="4681728"/>
            <a:ext cx="2766060" cy="1555908"/>
          </a:xfrm>
          <a:prstGeom prst="rect">
            <a:avLst/>
          </a:prstGeom>
          <a:ln w="9525">
            <a:solidFill>
              <a:srgbClr val="D5DCE8"/>
            </a:solidFill>
          </a:ln>
        </p:spPr>
      </p:pic>
      <p:pic>
        <p:nvPicPr>
          <p:cNvPr id="10" name="Picture 9" descr="07_entrance_homebedroom.png"/>
          <p:cNvPicPr>
            <a:picLocks noChangeAspect="1"/>
          </p:cNvPicPr>
          <p:nvPr/>
        </p:nvPicPr>
        <p:blipFill>
          <a:blip r:embed="rId6"/>
          <a:stretch>
            <a:fillRect/>
          </a:stretch>
        </p:blipFill>
        <p:spPr>
          <a:xfrm>
            <a:off x="3497580" y="4681728"/>
            <a:ext cx="2766060" cy="1555908"/>
          </a:xfrm>
          <a:prstGeom prst="rect">
            <a:avLst/>
          </a:prstGeom>
          <a:ln w="9525">
            <a:solidFill>
              <a:srgbClr val="D5DCE8"/>
            </a:solidFill>
          </a:ln>
        </p:spPr>
      </p:pic>
      <p:sp>
        <p:nvSpPr>
          <p:cNvPr id="11" name="Rounded Rectangle 10"/>
          <p:cNvSpPr/>
          <p:nvPr/>
        </p:nvSpPr>
        <p:spPr>
          <a:xfrm>
            <a:off x="6583680" y="1389888"/>
            <a:ext cx="2651760" cy="384048"/>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389888"/>
            <a:ext cx="2651760" cy="384048"/>
          </a:xfrm>
          <a:prstGeom prst="rect">
            <a:avLst/>
          </a:prstGeom>
          <a:noFill/>
        </p:spPr>
        <p:txBody>
          <a:bodyPr wrap="square" lIns="0" rIns="0" tIns="0" bIns="0" anchor="ctr">
            <a:spAutoFit/>
          </a:bodyPr>
          <a:lstStyle/>
          <a:p>
            <a:pPr algn="ctr">
              <a:lnSpc>
                <a:spcPct val="110000"/>
              </a:lnSpc>
              <a:spcAft>
                <a:spcPts val="0"/>
              </a:spcAft>
            </a:pPr>
            <a:r>
              <a:rPr sz="1200" b="0" i="0">
                <a:solidFill>
                  <a:srgbClr val="FFFFFF"/>
                </a:solidFill>
                <a:latin typeface="Segoe UI Semibold"/>
                <a:ea typeface="Yu Gothic"/>
              </a:rPr>
              <a:t>90_TestSandbox</a:t>
            </a:r>
          </a:p>
        </p:txBody>
      </p:sp>
      <p:sp>
        <p:nvSpPr>
          <p:cNvPr id="13" name="TextBox 12"/>
          <p:cNvSpPr txBox="1"/>
          <p:nvPr/>
        </p:nvSpPr>
        <p:spPr>
          <a:xfrm>
            <a:off x="6583680" y="1965960"/>
            <a:ext cx="5074920" cy="3383280"/>
          </a:xfrm>
          <a:prstGeom prst="rect">
            <a:avLst/>
          </a:prstGeom>
          <a:noFill/>
        </p:spPr>
        <p:txBody>
          <a:bodyPr wrap="square" lIns="0" rIns="0" tIns="0" bIns="0">
            <a:spAutoFit/>
          </a:bodyPr>
          <a:lstStyle/>
          <a:p>
            <a:pPr marL="256032" indent="-256032">
              <a:lnSpc>
                <a:spcPct val="110000"/>
              </a:lnSpc>
              <a:spcAft>
                <a:spcPts val="900"/>
              </a:spcAft>
              <a:buClr>
                <a:srgbClr val="F2B233"/>
              </a:buClr>
              <a:buFont typeface="Arial"/>
              <a:buChar char="●"/>
            </a:pPr>
            <a:r>
              <a:rPr b="1" sz="1400">
                <a:solidFill>
                  <a:srgbClr val="14213D"/>
                </a:solidFill>
                <a:latin typeface="Segoe UI Semibold"/>
              </a:rPr>
              <a:t>Xuất phát:  </a:t>
            </a:r>
            <a:r>
              <a:rPr sz="1400">
                <a:solidFill>
                  <a:srgbClr val="22304A"/>
                </a:solidFill>
                <a:latin typeface="Segoe UI"/>
                <a:ea typeface="Yu Gothic"/>
              </a:rPr>
              <a:t>giữa giao lộ phố Sakura, nhìn thẳng ra siêu thị ひばりマート.</a:t>
            </a:r>
          </a:p>
          <a:p>
            <a:pPr marL="256032" indent="-256032">
              <a:lnSpc>
                <a:spcPct val="110000"/>
              </a:lnSpc>
              <a:spcAft>
                <a:spcPts val="900"/>
              </a:spcAft>
              <a:buClr>
                <a:srgbClr val="F2B233"/>
              </a:buClr>
              <a:buFont typeface="Arial"/>
              <a:buChar char="●"/>
            </a:pPr>
            <a:r>
              <a:rPr b="1" sz="1400">
                <a:solidFill>
                  <a:srgbClr val="14213D"/>
                </a:solidFill>
                <a:latin typeface="Segoe UI Semibold"/>
              </a:rPr>
              <a:t>Cột chỉ đường:  </a:t>
            </a:r>
            <a:r>
              <a:rPr sz="1400">
                <a:solidFill>
                  <a:srgbClr val="22304A"/>
                </a:solidFill>
                <a:latin typeface="Segoe UI"/>
                <a:ea typeface="Yu Gothic"/>
              </a:rPr>
              <a:t>song ngữ, có mũi tên và khoảng cách tới từng địa điểm.</a:t>
            </a:r>
          </a:p>
          <a:p>
            <a:pPr marL="256032" indent="-256032">
              <a:lnSpc>
                <a:spcPct val="110000"/>
              </a:lnSpc>
              <a:spcAft>
                <a:spcPts val="900"/>
              </a:spcAft>
              <a:buClr>
                <a:srgbClr val="F2B233"/>
              </a:buClr>
              <a:buFont typeface="Arial"/>
              <a:buChar char="●"/>
            </a:pPr>
            <a:r>
              <a:rPr b="1" sz="1400">
                <a:solidFill>
                  <a:srgbClr val="14213D"/>
                </a:solidFill>
                <a:latin typeface="Segoe UI Semibold"/>
              </a:rPr>
              <a:t>Mặt tiền thật:  </a:t>
            </a:r>
            <a:r>
              <a:rPr sz="1400">
                <a:solidFill>
                  <a:srgbClr val="22304A"/>
                </a:solidFill>
                <a:latin typeface="Segoe UI"/>
                <a:ea typeface="Yu Gothic"/>
              </a:rPr>
              <a:t>cổng ga, quán sushi, cổng trường, cửa nhà trọ thay cho các tấm màu cũ.</a:t>
            </a:r>
          </a:p>
          <a:p>
            <a:pPr marL="256032" indent="-256032">
              <a:lnSpc>
                <a:spcPct val="110000"/>
              </a:lnSpc>
              <a:spcAft>
                <a:spcPts val="900"/>
              </a:spcAft>
              <a:buClr>
                <a:srgbClr val="F2B233"/>
              </a:buClr>
              <a:buFont typeface="Arial"/>
              <a:buChar char="●"/>
            </a:pPr>
            <a:r>
              <a:rPr b="1" sz="1400">
                <a:solidFill>
                  <a:srgbClr val="14213D"/>
                </a:solidFill>
                <a:latin typeface="Segoe UI Semibold"/>
              </a:rPr>
              <a:t>Quảng trường:  </a:t>
            </a:r>
            <a:r>
              <a:rPr sz="1400">
                <a:solidFill>
                  <a:srgbClr val="22304A"/>
                </a:solidFill>
                <a:latin typeface="Segoe UI"/>
                <a:ea typeface="Yu Gothic"/>
              </a:rPr>
              <a:t>bảng tin khu phố (lịch đổ rác, lễ hội), chỗ để xe, ghế.</a:t>
            </a:r>
          </a:p>
          <a:p>
            <a:pPr marL="256032" indent="-256032">
              <a:lnSpc>
                <a:spcPct val="110000"/>
              </a:lnSpc>
              <a:spcAft>
                <a:spcPts val="900"/>
              </a:spcAft>
              <a:buClr>
                <a:srgbClr val="F2B233"/>
              </a:buClr>
              <a:buFont typeface="Arial"/>
              <a:buChar char="●"/>
            </a:pPr>
            <a:r>
              <a:rPr b="1" sz="1400">
                <a:solidFill>
                  <a:srgbClr val="14213D"/>
                </a:solidFill>
                <a:latin typeface="Segoe UI Semibold"/>
              </a:rPr>
              <a:t>NPC:  </a:t>
            </a:r>
            <a:r>
              <a:rPr sz="1400">
                <a:solidFill>
                  <a:srgbClr val="22304A"/>
                </a:solidFill>
                <a:latin typeface="Segoe UI"/>
                <a:ea typeface="Yu Gothic"/>
              </a:rPr>
              <a:t>hướng dẫn viên Lilly, hàng xóm Tanaka · Suzuki · Sato.</a:t>
            </a:r>
          </a:p>
        </p:txBody>
      </p:sp>
      <p:sp>
        <p:nvSpPr>
          <p:cNvPr id="14" name="Rounded Rectangle 13"/>
          <p:cNvSpPr/>
          <p:nvPr/>
        </p:nvSpPr>
        <p:spPr>
          <a:xfrm>
            <a:off x="6583680" y="5349240"/>
            <a:ext cx="5074920" cy="868680"/>
          </a:xfrm>
          <a:prstGeom prst="roundRect">
            <a:avLst>
              <a:gd name="adj" fmla="val 12000"/>
            </a:avLst>
          </a:prstGeom>
          <a:solidFill>
            <a:srgbClr val="FFF8E6"/>
          </a:solidFill>
          <a:ln w="12700">
            <a:solidFill>
              <a:srgbClr val="F2D4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5349240"/>
            <a:ext cx="4754880" cy="868680"/>
          </a:xfrm>
          <a:prstGeom prst="rect">
            <a:avLst/>
          </a:prstGeom>
          <a:noFill/>
        </p:spPr>
        <p:txBody>
          <a:bodyPr wrap="square" lIns="0" rIns="0" tIns="0" bIns="0" anchor="ctr">
            <a:spAutoFit/>
          </a:bodyPr>
          <a:lstStyle/>
          <a:p>
            <a:pPr algn="l">
              <a:lnSpc>
                <a:spcPct val="110000"/>
              </a:lnSpc>
              <a:spcAft>
                <a:spcPts val="0"/>
              </a:spcAft>
            </a:pPr>
            <a:r>
              <a:rPr sz="1400" b="1" i="0">
                <a:solidFill>
                  <a:srgbClr val="B07D12"/>
                </a:solidFill>
                <a:latin typeface="Segoe UI Semibold"/>
                <a:ea typeface="Yu Gothic"/>
              </a:rPr>
              <a:t>Học được  </a:t>
            </a:r>
            <a:r>
              <a:rPr sz="1400" b="0" i="0">
                <a:solidFill>
                  <a:srgbClr val="22304A"/>
                </a:solidFill>
                <a:latin typeface="Yu Gothic"/>
                <a:ea typeface="Yu Gothic"/>
              </a:rPr>
              <a:t>Đọc biển 駅・寿司・学校・コンビニ ngay trên phố.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02 · SCENE 2/6 · SIÊU THỊ</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Siêu thị ひばりマート</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11</a:t>
            </a:r>
          </a:p>
        </p:txBody>
      </p:sp>
      <p:pic>
        <p:nvPicPr>
          <p:cNvPr id="8" name="Picture 7" descr="02_konbini_front.png"/>
          <p:cNvPicPr>
            <a:picLocks noChangeAspect="1"/>
          </p:cNvPicPr>
          <p:nvPr/>
        </p:nvPicPr>
        <p:blipFill>
          <a:blip r:embed="rId4"/>
          <a:stretch>
            <a:fillRect/>
          </a:stretch>
        </p:blipFill>
        <p:spPr>
          <a:xfrm>
            <a:off x="548640" y="1371600"/>
            <a:ext cx="5715000" cy="3214687"/>
          </a:xfrm>
          <a:prstGeom prst="rect">
            <a:avLst/>
          </a:prstGeom>
          <a:ln w="9525">
            <a:solidFill>
              <a:srgbClr val="D5DCE8"/>
            </a:solidFill>
          </a:ln>
        </p:spPr>
      </p:pic>
      <p:pic>
        <p:nvPicPr>
          <p:cNvPr id="9" name="Picture 8" descr="04_konbini_shelves.png"/>
          <p:cNvPicPr>
            <a:picLocks noChangeAspect="1"/>
          </p:cNvPicPr>
          <p:nvPr/>
        </p:nvPicPr>
        <p:blipFill>
          <a:blip r:embed="rId5"/>
          <a:stretch>
            <a:fillRect/>
          </a:stretch>
        </p:blipFill>
        <p:spPr>
          <a:xfrm>
            <a:off x="548640" y="4681728"/>
            <a:ext cx="2766060" cy="1555908"/>
          </a:xfrm>
          <a:prstGeom prst="rect">
            <a:avLst/>
          </a:prstGeom>
          <a:ln w="9525">
            <a:solidFill>
              <a:srgbClr val="D5DCE8"/>
            </a:solidFill>
          </a:ln>
        </p:spPr>
      </p:pic>
      <p:pic>
        <p:nvPicPr>
          <p:cNvPr id="10" name="Picture 9" descr="05_konbini_cashier.png"/>
          <p:cNvPicPr>
            <a:picLocks noChangeAspect="1"/>
          </p:cNvPicPr>
          <p:nvPr/>
        </p:nvPicPr>
        <p:blipFill>
          <a:blip r:embed="rId6"/>
          <a:stretch>
            <a:fillRect/>
          </a:stretch>
        </p:blipFill>
        <p:spPr>
          <a:xfrm>
            <a:off x="3497580" y="4681728"/>
            <a:ext cx="2766060" cy="1555908"/>
          </a:xfrm>
          <a:prstGeom prst="rect">
            <a:avLst/>
          </a:prstGeom>
          <a:ln w="9525">
            <a:solidFill>
              <a:srgbClr val="D5DCE8"/>
            </a:solidFill>
          </a:ln>
        </p:spPr>
      </p:pic>
      <p:sp>
        <p:nvSpPr>
          <p:cNvPr id="11" name="Rounded Rectangle 10"/>
          <p:cNvSpPr/>
          <p:nvPr/>
        </p:nvSpPr>
        <p:spPr>
          <a:xfrm>
            <a:off x="6583680" y="1389888"/>
            <a:ext cx="2651760" cy="384048"/>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389888"/>
            <a:ext cx="2651760" cy="384048"/>
          </a:xfrm>
          <a:prstGeom prst="rect">
            <a:avLst/>
          </a:prstGeom>
          <a:noFill/>
        </p:spPr>
        <p:txBody>
          <a:bodyPr wrap="square" lIns="0" rIns="0" tIns="0" bIns="0" anchor="ctr">
            <a:spAutoFit/>
          </a:bodyPr>
          <a:lstStyle/>
          <a:p>
            <a:pPr algn="ctr">
              <a:lnSpc>
                <a:spcPct val="110000"/>
              </a:lnSpc>
              <a:spcAft>
                <a:spcPts val="0"/>
              </a:spcAft>
            </a:pPr>
            <a:r>
              <a:rPr sz="1200" b="0" i="0">
                <a:solidFill>
                  <a:srgbClr val="FFFFFF"/>
                </a:solidFill>
                <a:latin typeface="Segoe UI Semibold"/>
                <a:ea typeface="Yu Gothic"/>
              </a:rPr>
              <a:t>90_TestSandbox · Town_Konbini</a:t>
            </a:r>
          </a:p>
        </p:txBody>
      </p:sp>
      <p:sp>
        <p:nvSpPr>
          <p:cNvPr id="13" name="TextBox 12"/>
          <p:cNvSpPr txBox="1"/>
          <p:nvPr/>
        </p:nvSpPr>
        <p:spPr>
          <a:xfrm>
            <a:off x="6583680" y="1965960"/>
            <a:ext cx="5074920" cy="3383280"/>
          </a:xfrm>
          <a:prstGeom prst="rect">
            <a:avLst/>
          </a:prstGeom>
          <a:noFill/>
        </p:spPr>
        <p:txBody>
          <a:bodyPr wrap="square" lIns="0" rIns="0" tIns="0" bIns="0">
            <a:spAutoFit/>
          </a:bodyPr>
          <a:lstStyle/>
          <a:p>
            <a:pPr marL="256032" indent="-256032">
              <a:lnSpc>
                <a:spcPct val="110000"/>
              </a:lnSpc>
              <a:spcAft>
                <a:spcPts val="900"/>
              </a:spcAft>
              <a:buClr>
                <a:srgbClr val="F2B233"/>
              </a:buClr>
              <a:buFont typeface="Arial"/>
              <a:buChar char="●"/>
            </a:pPr>
            <a:r>
              <a:rPr b="1" sz="1400">
                <a:solidFill>
                  <a:srgbClr val="14213D"/>
                </a:solidFill>
                <a:latin typeface="Segoe UI Semibold"/>
              </a:rPr>
              <a:t>Tòa nhà mới:  </a:t>
            </a:r>
            <a:r>
              <a:rPr sz="1400">
                <a:solidFill>
                  <a:srgbClr val="22304A"/>
                </a:solidFill>
                <a:latin typeface="Segoe UI"/>
                <a:ea typeface="Yu Gothic"/>
              </a:rPr>
              <a:t>mặt kính, cửa tự động, biển đèn, sọc xanh kiểu konbini Nhật.</a:t>
            </a:r>
          </a:p>
          <a:p>
            <a:pPr marL="256032" indent="-256032">
              <a:lnSpc>
                <a:spcPct val="110000"/>
              </a:lnSpc>
              <a:spcAft>
                <a:spcPts val="900"/>
              </a:spcAft>
              <a:buClr>
                <a:srgbClr val="F2B233"/>
              </a:buClr>
              <a:buFont typeface="Arial"/>
              <a:buChar char="●"/>
            </a:pPr>
            <a:r>
              <a:rPr b="1" sz="1400">
                <a:solidFill>
                  <a:srgbClr val="14213D"/>
                </a:solidFill>
                <a:latin typeface="Segoe UI Semibold"/>
              </a:rPr>
              <a:t>Biển treo song ngữ:  </a:t>
            </a:r>
            <a:r>
              <a:rPr sz="1400">
                <a:solidFill>
                  <a:srgbClr val="22304A"/>
                </a:solidFill>
                <a:latin typeface="Segoe UI"/>
                <a:ea typeface="Yu Gothic"/>
              </a:rPr>
              <a:t>khu Cơm nắm · Đồ uống · Quầy thanh toán.</a:t>
            </a:r>
          </a:p>
          <a:p>
            <a:pPr marL="256032" indent="-256032">
              <a:lnSpc>
                <a:spcPct val="110000"/>
              </a:lnSpc>
              <a:spcAft>
                <a:spcPts val="900"/>
              </a:spcAft>
              <a:buClr>
                <a:srgbClr val="F2B233"/>
              </a:buClr>
              <a:buFont typeface="Arial"/>
              <a:buChar char="●"/>
            </a:pPr>
            <a:r>
              <a:rPr b="1" sz="1400">
                <a:solidFill>
                  <a:srgbClr val="14213D"/>
                </a:solidFill>
                <a:latin typeface="Segoe UI Semibold"/>
              </a:rPr>
              <a:t>Nhiệm vụ:  </a:t>
            </a:r>
            <a:r>
              <a:rPr sz="1400">
                <a:solidFill>
                  <a:srgbClr val="22304A"/>
                </a:solidFill>
                <a:latin typeface="Segoe UI"/>
                <a:ea typeface="Yu Gothic"/>
              </a:rPr>
              <a:t>vào cửa → xem nước → lấy onigiri → tới quầy chị Ito.</a:t>
            </a:r>
          </a:p>
          <a:p>
            <a:pPr marL="256032" indent="-256032">
              <a:lnSpc>
                <a:spcPct val="110000"/>
              </a:lnSpc>
              <a:spcAft>
                <a:spcPts val="900"/>
              </a:spcAft>
              <a:buClr>
                <a:srgbClr val="F2B233"/>
              </a:buClr>
              <a:buFont typeface="Arial"/>
              <a:buChar char="●"/>
            </a:pPr>
            <a:r>
              <a:rPr b="1" sz="1400">
                <a:solidFill>
                  <a:srgbClr val="14213D"/>
                </a:solidFill>
                <a:latin typeface="Segoe UI Semibold"/>
              </a:rPr>
              <a:t>Thanh toán:  </a:t>
            </a:r>
            <a:r>
              <a:rPr sz="1400">
                <a:solidFill>
                  <a:srgbClr val="22304A"/>
                </a:solidFill>
                <a:latin typeface="Segoe UI"/>
                <a:ea typeface="Yu Gothic"/>
              </a:rPr>
              <a:t>hội thoại tại quầy, hỏi túi, trả Yen; có giá trên kệ.</a:t>
            </a:r>
          </a:p>
          <a:p>
            <a:pPr marL="256032" indent="-256032">
              <a:lnSpc>
                <a:spcPct val="110000"/>
              </a:lnSpc>
              <a:spcAft>
                <a:spcPts val="900"/>
              </a:spcAft>
              <a:buClr>
                <a:srgbClr val="F2B233"/>
              </a:buClr>
              <a:buFont typeface="Arial"/>
              <a:buChar char="●"/>
            </a:pPr>
            <a:r>
              <a:rPr b="1" sz="1400">
                <a:solidFill>
                  <a:srgbClr val="14213D"/>
                </a:solidFill>
                <a:latin typeface="Segoe UI Semibold"/>
              </a:rPr>
              <a:t>Liên kết:  </a:t>
            </a:r>
            <a:r>
              <a:rPr sz="1400">
                <a:solidFill>
                  <a:srgbClr val="22304A"/>
                </a:solidFill>
                <a:latin typeface="Segoe UI"/>
                <a:ea typeface="Yu Gothic"/>
              </a:rPr>
              <a:t>đồ đã mua dùng được ở tủ lạnh phòng trọ.</a:t>
            </a:r>
          </a:p>
        </p:txBody>
      </p:sp>
      <p:sp>
        <p:nvSpPr>
          <p:cNvPr id="14" name="Rounded Rectangle 13"/>
          <p:cNvSpPr/>
          <p:nvPr/>
        </p:nvSpPr>
        <p:spPr>
          <a:xfrm>
            <a:off x="6583680" y="5349240"/>
            <a:ext cx="5074920" cy="868680"/>
          </a:xfrm>
          <a:prstGeom prst="roundRect">
            <a:avLst>
              <a:gd name="adj" fmla="val 12000"/>
            </a:avLst>
          </a:prstGeom>
          <a:solidFill>
            <a:srgbClr val="FFF8E6"/>
          </a:solidFill>
          <a:ln w="12700">
            <a:solidFill>
              <a:srgbClr val="F2D4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5349240"/>
            <a:ext cx="4754880" cy="868680"/>
          </a:xfrm>
          <a:prstGeom prst="rect">
            <a:avLst/>
          </a:prstGeom>
          <a:noFill/>
        </p:spPr>
        <p:txBody>
          <a:bodyPr wrap="square" lIns="0" rIns="0" tIns="0" bIns="0" anchor="ctr">
            <a:spAutoFit/>
          </a:bodyPr>
          <a:lstStyle/>
          <a:p>
            <a:pPr algn="l">
              <a:lnSpc>
                <a:spcPct val="110000"/>
              </a:lnSpc>
              <a:spcAft>
                <a:spcPts val="0"/>
              </a:spcAft>
            </a:pPr>
            <a:r>
              <a:rPr sz="1400" b="1" i="0">
                <a:solidFill>
                  <a:srgbClr val="B07D12"/>
                </a:solidFill>
                <a:latin typeface="Segoe UI Semibold"/>
                <a:ea typeface="Yu Gothic"/>
              </a:rPr>
              <a:t>Học được  </a:t>
            </a:r>
            <a:r>
              <a:rPr sz="1400" b="0" i="0">
                <a:solidFill>
                  <a:srgbClr val="22304A"/>
                </a:solidFill>
                <a:latin typeface="Yu Gothic"/>
                <a:ea typeface="Yu Gothic"/>
              </a:rPr>
              <a:t>これ、おねがいします ・ ふくろ ・ 〜えん</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02 · SCENE 3/6</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Phòng trọ của bạn</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12</a:t>
            </a:r>
          </a:p>
        </p:txBody>
      </p:sp>
      <p:pic>
        <p:nvPicPr>
          <p:cNvPr id="8" name="Picture 7" descr="bed_02_room_overview.png"/>
          <p:cNvPicPr>
            <a:picLocks noChangeAspect="1"/>
          </p:cNvPicPr>
          <p:nvPr/>
        </p:nvPicPr>
        <p:blipFill>
          <a:blip r:embed="rId4"/>
          <a:stretch>
            <a:fillRect/>
          </a:stretch>
        </p:blipFill>
        <p:spPr>
          <a:xfrm>
            <a:off x="548640" y="1371600"/>
            <a:ext cx="5715000" cy="3214687"/>
          </a:xfrm>
          <a:prstGeom prst="rect">
            <a:avLst/>
          </a:prstGeom>
          <a:ln w="9525">
            <a:solidFill>
              <a:srgbClr val="D5DCE8"/>
            </a:solidFill>
          </a:ln>
        </p:spPr>
      </p:pic>
      <p:pic>
        <p:nvPicPr>
          <p:cNvPr id="9" name="Picture 8" descr="bed_06_study_card.png"/>
          <p:cNvPicPr>
            <a:picLocks noChangeAspect="1"/>
          </p:cNvPicPr>
          <p:nvPr/>
        </p:nvPicPr>
        <p:blipFill>
          <a:blip r:embed="rId5"/>
          <a:stretch>
            <a:fillRect/>
          </a:stretch>
        </p:blipFill>
        <p:spPr>
          <a:xfrm>
            <a:off x="548640" y="4681728"/>
            <a:ext cx="2766060" cy="1555908"/>
          </a:xfrm>
          <a:prstGeom prst="rect">
            <a:avLst/>
          </a:prstGeom>
          <a:ln w="9525">
            <a:solidFill>
              <a:srgbClr val="D5DCE8"/>
            </a:solidFill>
          </a:ln>
        </p:spPr>
      </p:pic>
      <p:pic>
        <p:nvPicPr>
          <p:cNvPr id="10" name="Picture 9" descr="bed_11_morning.png"/>
          <p:cNvPicPr>
            <a:picLocks noChangeAspect="1"/>
          </p:cNvPicPr>
          <p:nvPr/>
        </p:nvPicPr>
        <p:blipFill>
          <a:blip r:embed="rId6"/>
          <a:stretch>
            <a:fillRect/>
          </a:stretch>
        </p:blipFill>
        <p:spPr>
          <a:xfrm>
            <a:off x="3497580" y="4681728"/>
            <a:ext cx="2766060" cy="1555908"/>
          </a:xfrm>
          <a:prstGeom prst="rect">
            <a:avLst/>
          </a:prstGeom>
          <a:ln w="9525">
            <a:solidFill>
              <a:srgbClr val="D5DCE8"/>
            </a:solidFill>
          </a:ln>
        </p:spPr>
      </p:pic>
      <p:sp>
        <p:nvSpPr>
          <p:cNvPr id="11" name="Rounded Rectangle 10"/>
          <p:cNvSpPr/>
          <p:nvPr/>
        </p:nvSpPr>
        <p:spPr>
          <a:xfrm>
            <a:off x="6583680" y="1389888"/>
            <a:ext cx="2651760" cy="384048"/>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389888"/>
            <a:ext cx="2651760" cy="384048"/>
          </a:xfrm>
          <a:prstGeom prst="rect">
            <a:avLst/>
          </a:prstGeom>
          <a:noFill/>
        </p:spPr>
        <p:txBody>
          <a:bodyPr wrap="square" lIns="0" rIns="0" tIns="0" bIns="0" anchor="ctr">
            <a:spAutoFit/>
          </a:bodyPr>
          <a:lstStyle/>
          <a:p>
            <a:pPr algn="ctr">
              <a:lnSpc>
                <a:spcPct val="110000"/>
              </a:lnSpc>
              <a:spcAft>
                <a:spcPts val="0"/>
              </a:spcAft>
            </a:pPr>
            <a:r>
              <a:rPr sz="1200" b="0" i="0">
                <a:solidFill>
                  <a:srgbClr val="FFFFFF"/>
                </a:solidFill>
                <a:latin typeface="Segoe UI Semibold"/>
                <a:ea typeface="Yu Gothic"/>
              </a:rPr>
              <a:t>45_HomeBedroom</a:t>
            </a:r>
          </a:p>
        </p:txBody>
      </p:sp>
      <p:sp>
        <p:nvSpPr>
          <p:cNvPr id="13" name="TextBox 12"/>
          <p:cNvSpPr txBox="1"/>
          <p:nvPr/>
        </p:nvSpPr>
        <p:spPr>
          <a:xfrm>
            <a:off x="6583680" y="1965960"/>
            <a:ext cx="5074920" cy="3383280"/>
          </a:xfrm>
          <a:prstGeom prst="rect">
            <a:avLst/>
          </a:prstGeom>
          <a:noFill/>
        </p:spPr>
        <p:txBody>
          <a:bodyPr wrap="square" lIns="0" rIns="0" tIns="0" bIns="0">
            <a:spAutoFit/>
          </a:bodyPr>
          <a:lstStyle/>
          <a:p>
            <a:pPr marL="256032" indent="-256032">
              <a:lnSpc>
                <a:spcPct val="110000"/>
              </a:lnSpc>
              <a:spcAft>
                <a:spcPts val="900"/>
              </a:spcAft>
              <a:buClr>
                <a:srgbClr val="F2B233"/>
              </a:buClr>
              <a:buFont typeface="Arial"/>
              <a:buChar char="●"/>
            </a:pPr>
            <a:r>
              <a:rPr b="1" sz="1400">
                <a:solidFill>
                  <a:srgbClr val="14213D"/>
                </a:solidFill>
                <a:latin typeface="Segoe UI Semibold"/>
              </a:rPr>
              <a:t>Căn hộ 1K:  </a:t>
            </a:r>
            <a:r>
              <a:rPr sz="1400">
                <a:solidFill>
                  <a:srgbClr val="22304A"/>
                </a:solidFill>
                <a:latin typeface="Segoe UI"/>
                <a:ea typeface="Yu Gothic"/>
              </a:rPr>
              <a:t>giường, bàn học, bếp mini, tủ lạnh, TV, tủ quần áo, poster ひらがな.</a:t>
            </a:r>
          </a:p>
          <a:p>
            <a:pPr marL="256032" indent="-256032">
              <a:lnSpc>
                <a:spcPct val="110000"/>
              </a:lnSpc>
              <a:spcAft>
                <a:spcPts val="900"/>
              </a:spcAft>
              <a:buClr>
                <a:srgbClr val="F2B233"/>
              </a:buClr>
              <a:buFont typeface="Arial"/>
              <a:buChar char="●"/>
            </a:pPr>
            <a:r>
              <a:rPr b="1" sz="1400">
                <a:solidFill>
                  <a:srgbClr val="14213D"/>
                </a:solidFill>
                <a:latin typeface="Segoe UI Semibold"/>
              </a:rPr>
              <a:t>Giường:  </a:t>
            </a:r>
            <a:r>
              <a:rPr sz="1400">
                <a:solidFill>
                  <a:srgbClr val="22304A"/>
                </a:solidFill>
                <a:latin typeface="Segoe UI"/>
                <a:ea typeface="Yu Gothic"/>
              </a:rPr>
              <a:t>nằm xuống → đêm → 07:00 sáng; hồi năng lượng, lưu game.</a:t>
            </a:r>
          </a:p>
          <a:p>
            <a:pPr marL="256032" indent="-256032">
              <a:lnSpc>
                <a:spcPct val="110000"/>
              </a:lnSpc>
              <a:spcAft>
                <a:spcPts val="900"/>
              </a:spcAft>
              <a:buClr>
                <a:srgbClr val="F2B233"/>
              </a:buClr>
              <a:buFont typeface="Arial"/>
              <a:buChar char="●"/>
            </a:pPr>
            <a:r>
              <a:rPr b="1" sz="1400">
                <a:solidFill>
                  <a:srgbClr val="14213D"/>
                </a:solidFill>
                <a:latin typeface="Segoe UI Semibold"/>
              </a:rPr>
              <a:t>Bàn học:  </a:t>
            </a:r>
            <a:r>
              <a:rPr sz="1400">
                <a:solidFill>
                  <a:srgbClr val="22304A"/>
                </a:solidFill>
                <a:latin typeface="Segoe UI"/>
                <a:ea typeface="Yu Gothic"/>
              </a:rPr>
              <a:t>ôn 5 từ N5 mỗi lượt, +Kiến thức, tối đa 3 lượt/ngày.</a:t>
            </a:r>
          </a:p>
          <a:p>
            <a:pPr marL="256032" indent="-256032">
              <a:lnSpc>
                <a:spcPct val="110000"/>
              </a:lnSpc>
              <a:spcAft>
                <a:spcPts val="900"/>
              </a:spcAft>
              <a:buClr>
                <a:srgbClr val="F2B233"/>
              </a:buClr>
              <a:buFont typeface="Arial"/>
              <a:buChar char="●"/>
            </a:pPr>
            <a:r>
              <a:rPr b="1" sz="1400">
                <a:solidFill>
                  <a:srgbClr val="14213D"/>
                </a:solidFill>
                <a:latin typeface="Segoe UI Semibold"/>
              </a:rPr>
              <a:t>Bếp &amp; tủ lạnh:  </a:t>
            </a:r>
            <a:r>
              <a:rPr sz="1400">
                <a:solidFill>
                  <a:srgbClr val="22304A"/>
                </a:solidFill>
                <a:latin typeface="Segoe UI"/>
                <a:ea typeface="Yu Gothic"/>
              </a:rPr>
              <a:t>uống nước; ăn onigiri đã mua ở konbini.</a:t>
            </a:r>
          </a:p>
          <a:p>
            <a:pPr marL="256032" indent="-256032">
              <a:lnSpc>
                <a:spcPct val="110000"/>
              </a:lnSpc>
              <a:spcAft>
                <a:spcPts val="900"/>
              </a:spcAft>
              <a:buClr>
                <a:srgbClr val="F2B233"/>
              </a:buClr>
              <a:buFont typeface="Arial"/>
              <a:buChar char="●"/>
            </a:pPr>
            <a:r>
              <a:rPr b="1" sz="1400">
                <a:solidFill>
                  <a:srgbClr val="14213D"/>
                </a:solidFill>
                <a:latin typeface="Segoe UI Semibold"/>
              </a:rPr>
              <a:t>Công tắc đèn:  </a:t>
            </a:r>
            <a:r>
              <a:rPr sz="1400">
                <a:solidFill>
                  <a:srgbClr val="22304A"/>
                </a:solidFill>
                <a:latin typeface="Segoe UI"/>
                <a:ea typeface="Yu Gothic"/>
              </a:rPr>
              <a:t>でんきを つける / けす.</a:t>
            </a:r>
          </a:p>
        </p:txBody>
      </p:sp>
      <p:sp>
        <p:nvSpPr>
          <p:cNvPr id="14" name="Rounded Rectangle 13"/>
          <p:cNvSpPr/>
          <p:nvPr/>
        </p:nvSpPr>
        <p:spPr>
          <a:xfrm>
            <a:off x="6583680" y="5349240"/>
            <a:ext cx="5074920" cy="868680"/>
          </a:xfrm>
          <a:prstGeom prst="roundRect">
            <a:avLst>
              <a:gd name="adj" fmla="val 12000"/>
            </a:avLst>
          </a:prstGeom>
          <a:solidFill>
            <a:srgbClr val="FFF8E6"/>
          </a:solidFill>
          <a:ln w="12700">
            <a:solidFill>
              <a:srgbClr val="F2D4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5349240"/>
            <a:ext cx="4754880" cy="868680"/>
          </a:xfrm>
          <a:prstGeom prst="rect">
            <a:avLst/>
          </a:prstGeom>
          <a:noFill/>
        </p:spPr>
        <p:txBody>
          <a:bodyPr wrap="square" lIns="0" rIns="0" tIns="0" bIns="0" anchor="ctr">
            <a:spAutoFit/>
          </a:bodyPr>
          <a:lstStyle/>
          <a:p>
            <a:pPr algn="l">
              <a:lnSpc>
                <a:spcPct val="110000"/>
              </a:lnSpc>
              <a:spcAft>
                <a:spcPts val="0"/>
              </a:spcAft>
            </a:pPr>
            <a:r>
              <a:rPr sz="1400" b="1" i="0">
                <a:solidFill>
                  <a:srgbClr val="B07D12"/>
                </a:solidFill>
                <a:latin typeface="Segoe UI Semibold"/>
                <a:ea typeface="Yu Gothic"/>
              </a:rPr>
              <a:t>Học được  </a:t>
            </a:r>
            <a:r>
              <a:rPr sz="1400" b="0" i="0">
                <a:solidFill>
                  <a:srgbClr val="22304A"/>
                </a:solidFill>
                <a:latin typeface="Yu Gothic"/>
                <a:ea typeface="Yu Gothic"/>
              </a:rPr>
              <a:t>ねる・おきる・べんきょうする・ただいま</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02 · SCENE 4/6</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Ga Hibari</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13</a:t>
            </a:r>
          </a:p>
        </p:txBody>
      </p:sp>
      <p:pic>
        <p:nvPicPr>
          <p:cNvPr id="8" name="Picture 7" descr="08_zone_station.png"/>
          <p:cNvPicPr>
            <a:picLocks noChangeAspect="1"/>
          </p:cNvPicPr>
          <p:nvPr/>
        </p:nvPicPr>
        <p:blipFill>
          <a:blip r:embed="rId4"/>
          <a:stretch>
            <a:fillRect/>
          </a:stretch>
        </p:blipFill>
        <p:spPr>
          <a:xfrm>
            <a:off x="548640" y="1371600"/>
            <a:ext cx="5715000" cy="3214687"/>
          </a:xfrm>
          <a:prstGeom prst="rect">
            <a:avLst/>
          </a:prstGeom>
          <a:ln w="9525">
            <a:solidFill>
              <a:srgbClr val="D5DCE8"/>
            </a:solidFill>
          </a:ln>
        </p:spPr>
      </p:pic>
      <p:pic>
        <p:nvPicPr>
          <p:cNvPr id="9" name="Picture 8" descr="07_entrance_station.png"/>
          <p:cNvPicPr>
            <a:picLocks noChangeAspect="1"/>
          </p:cNvPicPr>
          <p:nvPr/>
        </p:nvPicPr>
        <p:blipFill>
          <a:blip r:embed="rId5"/>
          <a:stretch>
            <a:fillRect/>
          </a:stretch>
        </p:blipFill>
        <p:spPr>
          <a:xfrm>
            <a:off x="548640" y="4681728"/>
            <a:ext cx="2766060" cy="1555908"/>
          </a:xfrm>
          <a:prstGeom prst="rect">
            <a:avLst/>
          </a:prstGeom>
          <a:ln w="9525">
            <a:solidFill>
              <a:srgbClr val="D5DCE8"/>
            </a:solidFill>
          </a:ln>
        </p:spPr>
      </p:pic>
      <p:pic>
        <p:nvPicPr>
          <p:cNvPr id="10" name="Picture 9" descr="zone_station_hall.png"/>
          <p:cNvPicPr>
            <a:picLocks noChangeAspect="1"/>
          </p:cNvPicPr>
          <p:nvPr/>
        </p:nvPicPr>
        <p:blipFill>
          <a:blip r:embed="rId6"/>
          <a:stretch>
            <a:fillRect/>
          </a:stretch>
        </p:blipFill>
        <p:spPr>
          <a:xfrm>
            <a:off x="3497580" y="4681728"/>
            <a:ext cx="2766060" cy="1555908"/>
          </a:xfrm>
          <a:prstGeom prst="rect">
            <a:avLst/>
          </a:prstGeom>
          <a:ln w="9525">
            <a:solidFill>
              <a:srgbClr val="D5DCE8"/>
            </a:solidFill>
          </a:ln>
        </p:spPr>
      </p:pic>
      <p:sp>
        <p:nvSpPr>
          <p:cNvPr id="11" name="Rounded Rectangle 10"/>
          <p:cNvSpPr/>
          <p:nvPr/>
        </p:nvSpPr>
        <p:spPr>
          <a:xfrm>
            <a:off x="6583680" y="1389888"/>
            <a:ext cx="2651760" cy="384048"/>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389888"/>
            <a:ext cx="2651760" cy="384048"/>
          </a:xfrm>
          <a:prstGeom prst="rect">
            <a:avLst/>
          </a:prstGeom>
          <a:noFill/>
        </p:spPr>
        <p:txBody>
          <a:bodyPr wrap="square" lIns="0" rIns="0" tIns="0" bIns="0" anchor="ctr">
            <a:spAutoFit/>
          </a:bodyPr>
          <a:lstStyle/>
          <a:p>
            <a:pPr algn="ctr">
              <a:lnSpc>
                <a:spcPct val="110000"/>
              </a:lnSpc>
              <a:spcAft>
                <a:spcPts val="0"/>
              </a:spcAft>
            </a:pPr>
            <a:r>
              <a:rPr sz="1200" b="0" i="0">
                <a:solidFill>
                  <a:srgbClr val="FFFFFF"/>
                </a:solidFill>
                <a:latin typeface="Segoe UI Semibold"/>
                <a:ea typeface="Yu Gothic"/>
              </a:rPr>
              <a:t>20_StationDistrict</a:t>
            </a:r>
          </a:p>
        </p:txBody>
      </p:sp>
      <p:sp>
        <p:nvSpPr>
          <p:cNvPr id="13" name="TextBox 12"/>
          <p:cNvSpPr txBox="1"/>
          <p:nvPr/>
        </p:nvSpPr>
        <p:spPr>
          <a:xfrm>
            <a:off x="6583680" y="1965960"/>
            <a:ext cx="5074920" cy="3383280"/>
          </a:xfrm>
          <a:prstGeom prst="rect">
            <a:avLst/>
          </a:prstGeom>
          <a:noFill/>
        </p:spPr>
        <p:txBody>
          <a:bodyPr wrap="square" lIns="0" rIns="0" tIns="0" bIns="0">
            <a:spAutoFit/>
          </a:bodyPr>
          <a:lstStyle/>
          <a:p>
            <a:pPr marL="256032" indent="-256032">
              <a:lnSpc>
                <a:spcPct val="110000"/>
              </a:lnSpc>
              <a:spcAft>
                <a:spcPts val="900"/>
              </a:spcAft>
              <a:buClr>
                <a:srgbClr val="F2B233"/>
              </a:buClr>
              <a:buFont typeface="Arial"/>
              <a:buChar char="●"/>
            </a:pPr>
            <a:r>
              <a:rPr b="1" sz="1400">
                <a:solidFill>
                  <a:srgbClr val="14213D"/>
                </a:solidFill>
                <a:latin typeface="Segoe UI Semibold"/>
              </a:rPr>
              <a:t>Lối vào:  </a:t>
            </a:r>
            <a:r>
              <a:rPr sz="1400">
                <a:solidFill>
                  <a:srgbClr val="22304A"/>
                </a:solidFill>
                <a:latin typeface="Segoe UI"/>
                <a:ea typeface="Yu Gothic"/>
              </a:rPr>
              <a:t>cổng ひばり駅 có mái che và cửa soát vé ngay trên phố.</a:t>
            </a:r>
          </a:p>
          <a:p>
            <a:pPr marL="256032" indent="-256032">
              <a:lnSpc>
                <a:spcPct val="110000"/>
              </a:lnSpc>
              <a:spcAft>
                <a:spcPts val="900"/>
              </a:spcAft>
              <a:buClr>
                <a:srgbClr val="F2B233"/>
              </a:buClr>
              <a:buFont typeface="Arial"/>
              <a:buChar char="●"/>
            </a:pPr>
            <a:r>
              <a:rPr b="1" sz="1400">
                <a:solidFill>
                  <a:srgbClr val="14213D"/>
                </a:solidFill>
                <a:latin typeface="Segoe UI Semibold"/>
              </a:rPr>
              <a:t>Trong ga:  </a:t>
            </a:r>
            <a:r>
              <a:rPr sz="1400">
                <a:solidFill>
                  <a:srgbClr val="22304A"/>
                </a:solidFill>
                <a:latin typeface="Segoe UI"/>
                <a:ea typeface="Yu Gothic"/>
              </a:rPr>
              <a:t>quầy vé, cổng soát vé, sân ga có bảng SAKURA → MIDORI.</a:t>
            </a:r>
          </a:p>
          <a:p>
            <a:pPr marL="256032" indent="-256032">
              <a:lnSpc>
                <a:spcPct val="110000"/>
              </a:lnSpc>
              <a:spcAft>
                <a:spcPts val="900"/>
              </a:spcAft>
              <a:buClr>
                <a:srgbClr val="F2B233"/>
              </a:buClr>
              <a:buFont typeface="Arial"/>
              <a:buChar char="●"/>
            </a:pPr>
            <a:r>
              <a:rPr b="1" sz="1400">
                <a:solidFill>
                  <a:srgbClr val="14213D"/>
                </a:solidFill>
                <a:latin typeface="Segoe UI Semibold"/>
              </a:rPr>
              <a:t>Tàu chạy theo lịch:  </a:t>
            </a:r>
            <a:r>
              <a:rPr sz="1400">
                <a:solidFill>
                  <a:srgbClr val="22304A"/>
                </a:solidFill>
                <a:latin typeface="Segoe UI"/>
                <a:ea typeface="Yu Gothic"/>
              </a:rPr>
              <a:t>đếm ngược chuyến kế tiếp, lên/xuống tàu.</a:t>
            </a:r>
          </a:p>
          <a:p>
            <a:pPr marL="256032" indent="-256032">
              <a:lnSpc>
                <a:spcPct val="110000"/>
              </a:lnSpc>
              <a:spcAft>
                <a:spcPts val="900"/>
              </a:spcAft>
              <a:buClr>
                <a:srgbClr val="F2B233"/>
              </a:buClr>
              <a:buFont typeface="Arial"/>
              <a:buChar char="●"/>
            </a:pPr>
            <a:r>
              <a:rPr b="1" sz="1400">
                <a:solidFill>
                  <a:srgbClr val="14213D"/>
                </a:solidFill>
                <a:latin typeface="Segoe UI Semibold"/>
              </a:rPr>
              <a:t>An toàn:  </a:t>
            </a:r>
            <a:r>
              <a:rPr sz="1400">
                <a:solidFill>
                  <a:srgbClr val="22304A"/>
                </a:solidFill>
                <a:latin typeface="Segoe UI"/>
                <a:ea typeface="Yu Gothic"/>
              </a:rPr>
              <a:t>vạch vàng và ranh giới sân ga chặn người chơi.</a:t>
            </a:r>
          </a:p>
          <a:p>
            <a:pPr marL="256032" indent="-256032">
              <a:lnSpc>
                <a:spcPct val="110000"/>
              </a:lnSpc>
              <a:spcAft>
                <a:spcPts val="900"/>
              </a:spcAft>
              <a:buClr>
                <a:srgbClr val="F2B233"/>
              </a:buClr>
              <a:buFont typeface="Arial"/>
              <a:buChar char="●"/>
            </a:pPr>
            <a:r>
              <a:rPr b="1" sz="1400">
                <a:solidFill>
                  <a:srgbClr val="14213D"/>
                </a:solidFill>
                <a:latin typeface="Segoe UI Semibold"/>
              </a:rPr>
              <a:t>Ra phố:  </a:t>
            </a:r>
            <a:r>
              <a:rPr sz="1400">
                <a:solidFill>
                  <a:srgbClr val="22304A"/>
                </a:solidFill>
                <a:latin typeface="Segoe UI"/>
                <a:ea typeface="Yu Gothic"/>
              </a:rPr>
              <a:t>lối 出口 đưa về trước cổng ga.</a:t>
            </a:r>
          </a:p>
        </p:txBody>
      </p:sp>
      <p:sp>
        <p:nvSpPr>
          <p:cNvPr id="14" name="Rounded Rectangle 13"/>
          <p:cNvSpPr/>
          <p:nvPr/>
        </p:nvSpPr>
        <p:spPr>
          <a:xfrm>
            <a:off x="6583680" y="5349240"/>
            <a:ext cx="5074920" cy="868680"/>
          </a:xfrm>
          <a:prstGeom prst="roundRect">
            <a:avLst>
              <a:gd name="adj" fmla="val 12000"/>
            </a:avLst>
          </a:prstGeom>
          <a:solidFill>
            <a:srgbClr val="FFF8E6"/>
          </a:solidFill>
          <a:ln w="12700">
            <a:solidFill>
              <a:srgbClr val="F2D4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5349240"/>
            <a:ext cx="4754880" cy="868680"/>
          </a:xfrm>
          <a:prstGeom prst="rect">
            <a:avLst/>
          </a:prstGeom>
          <a:noFill/>
        </p:spPr>
        <p:txBody>
          <a:bodyPr wrap="square" lIns="0" rIns="0" tIns="0" bIns="0" anchor="ctr">
            <a:spAutoFit/>
          </a:bodyPr>
          <a:lstStyle/>
          <a:p>
            <a:pPr algn="l">
              <a:lnSpc>
                <a:spcPct val="110000"/>
              </a:lnSpc>
              <a:spcAft>
                <a:spcPts val="0"/>
              </a:spcAft>
            </a:pPr>
            <a:r>
              <a:rPr sz="1400" b="1" i="0">
                <a:solidFill>
                  <a:srgbClr val="B07D12"/>
                </a:solidFill>
                <a:latin typeface="Segoe UI Semibold"/>
                <a:ea typeface="Yu Gothic"/>
              </a:rPr>
              <a:t>Học được  </a:t>
            </a:r>
            <a:r>
              <a:rPr sz="1400" b="0" i="0">
                <a:solidFill>
                  <a:srgbClr val="22304A"/>
                </a:solidFill>
                <a:latin typeface="Yu Gothic"/>
                <a:ea typeface="Yu Gothic"/>
              </a:rPr>
              <a:t>きっぷ ・ 〜まで ・ なんばんせん</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02 · SCENE 5/6</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Nhà hàng Sushi Hibari</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14</a:t>
            </a:r>
          </a:p>
        </p:txBody>
      </p:sp>
      <p:pic>
        <p:nvPicPr>
          <p:cNvPr id="8" name="Picture 7" descr="08_zone_sushi.png"/>
          <p:cNvPicPr>
            <a:picLocks noChangeAspect="1"/>
          </p:cNvPicPr>
          <p:nvPr/>
        </p:nvPicPr>
        <p:blipFill>
          <a:blip r:embed="rId4"/>
          <a:stretch>
            <a:fillRect/>
          </a:stretch>
        </p:blipFill>
        <p:spPr>
          <a:xfrm>
            <a:off x="548640" y="1371600"/>
            <a:ext cx="5715000" cy="3214687"/>
          </a:xfrm>
          <a:prstGeom prst="rect">
            <a:avLst/>
          </a:prstGeom>
          <a:ln w="9525">
            <a:solidFill>
              <a:srgbClr val="D5DCE8"/>
            </a:solidFill>
          </a:ln>
        </p:spPr>
      </p:pic>
      <p:pic>
        <p:nvPicPr>
          <p:cNvPr id="9" name="Picture 8" descr="07_entrance_sushi.png"/>
          <p:cNvPicPr>
            <a:picLocks noChangeAspect="1"/>
          </p:cNvPicPr>
          <p:nvPr/>
        </p:nvPicPr>
        <p:blipFill>
          <a:blip r:embed="rId5"/>
          <a:stretch>
            <a:fillRect/>
          </a:stretch>
        </p:blipFill>
        <p:spPr>
          <a:xfrm>
            <a:off x="548640" y="4681728"/>
            <a:ext cx="2766060" cy="1555908"/>
          </a:xfrm>
          <a:prstGeom prst="rect">
            <a:avLst/>
          </a:prstGeom>
          <a:ln w="9525">
            <a:solidFill>
              <a:srgbClr val="D5DCE8"/>
            </a:solidFill>
          </a:ln>
        </p:spPr>
      </p:pic>
      <p:pic>
        <p:nvPicPr>
          <p:cNvPr id="10" name="Picture 9" descr="g08_restaurant_menu.png"/>
          <p:cNvPicPr>
            <a:picLocks noChangeAspect="1"/>
          </p:cNvPicPr>
          <p:nvPr/>
        </p:nvPicPr>
        <p:blipFill>
          <a:blip r:embed="rId6"/>
          <a:stretch>
            <a:fillRect/>
          </a:stretch>
        </p:blipFill>
        <p:spPr>
          <a:xfrm>
            <a:off x="3497580" y="4681728"/>
            <a:ext cx="2766060" cy="1555908"/>
          </a:xfrm>
          <a:prstGeom prst="rect">
            <a:avLst/>
          </a:prstGeom>
          <a:ln w="9525">
            <a:solidFill>
              <a:srgbClr val="D5DCE8"/>
            </a:solidFill>
          </a:ln>
        </p:spPr>
      </p:pic>
      <p:sp>
        <p:nvSpPr>
          <p:cNvPr id="11" name="Rounded Rectangle 10"/>
          <p:cNvSpPr/>
          <p:nvPr/>
        </p:nvSpPr>
        <p:spPr>
          <a:xfrm>
            <a:off x="6583680" y="1389888"/>
            <a:ext cx="2651760" cy="384048"/>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389888"/>
            <a:ext cx="2651760" cy="384048"/>
          </a:xfrm>
          <a:prstGeom prst="rect">
            <a:avLst/>
          </a:prstGeom>
          <a:noFill/>
        </p:spPr>
        <p:txBody>
          <a:bodyPr wrap="square" lIns="0" rIns="0" tIns="0" bIns="0" anchor="ctr">
            <a:spAutoFit/>
          </a:bodyPr>
          <a:lstStyle/>
          <a:p>
            <a:pPr algn="ctr">
              <a:lnSpc>
                <a:spcPct val="110000"/>
              </a:lnSpc>
              <a:spcAft>
                <a:spcPts val="0"/>
              </a:spcAft>
            </a:pPr>
            <a:r>
              <a:rPr sz="1200" b="0" i="0">
                <a:solidFill>
                  <a:srgbClr val="FFFFFF"/>
                </a:solidFill>
                <a:latin typeface="Segoe UI Semibold"/>
                <a:ea typeface="Yu Gothic"/>
              </a:rPr>
              <a:t>30_SushiRestaurant</a:t>
            </a:r>
          </a:p>
        </p:txBody>
      </p:sp>
      <p:sp>
        <p:nvSpPr>
          <p:cNvPr id="13" name="TextBox 12"/>
          <p:cNvSpPr txBox="1"/>
          <p:nvPr/>
        </p:nvSpPr>
        <p:spPr>
          <a:xfrm>
            <a:off x="6583680" y="1965960"/>
            <a:ext cx="5074920" cy="3383280"/>
          </a:xfrm>
          <a:prstGeom prst="rect">
            <a:avLst/>
          </a:prstGeom>
          <a:noFill/>
        </p:spPr>
        <p:txBody>
          <a:bodyPr wrap="square" lIns="0" rIns="0" tIns="0" bIns="0">
            <a:spAutoFit/>
          </a:bodyPr>
          <a:lstStyle/>
          <a:p>
            <a:pPr marL="256032" indent="-256032">
              <a:lnSpc>
                <a:spcPct val="110000"/>
              </a:lnSpc>
              <a:spcAft>
                <a:spcPts val="900"/>
              </a:spcAft>
              <a:buClr>
                <a:srgbClr val="F2B233"/>
              </a:buClr>
              <a:buFont typeface="Arial"/>
              <a:buChar char="●"/>
            </a:pPr>
            <a:r>
              <a:rPr b="1" sz="1400">
                <a:solidFill>
                  <a:srgbClr val="14213D"/>
                </a:solidFill>
                <a:latin typeface="Segoe UI Semibold"/>
              </a:rPr>
              <a:t>Mặt tiền:  </a:t>
            </a:r>
            <a:r>
              <a:rPr sz="1400">
                <a:solidFill>
                  <a:srgbClr val="22304A"/>
                </a:solidFill>
                <a:latin typeface="Segoe UI"/>
                <a:ea typeface="Yu Gothic"/>
              </a:rPr>
              <a:t>rèm noren すし, đèn lồng đỏ, bảng món gợi ý.</a:t>
            </a:r>
          </a:p>
          <a:p>
            <a:pPr marL="256032" indent="-256032">
              <a:lnSpc>
                <a:spcPct val="110000"/>
              </a:lnSpc>
              <a:spcAft>
                <a:spcPts val="900"/>
              </a:spcAft>
              <a:buClr>
                <a:srgbClr val="F2B233"/>
              </a:buClr>
              <a:buFont typeface="Arial"/>
              <a:buChar char="●"/>
            </a:pPr>
            <a:r>
              <a:rPr b="1" sz="1400">
                <a:solidFill>
                  <a:srgbClr val="14213D"/>
                </a:solidFill>
                <a:latin typeface="Segoe UI Semibold"/>
              </a:rPr>
              <a:t>Phục vụ:  </a:t>
            </a:r>
            <a:r>
              <a:rPr sz="1400">
                <a:solidFill>
                  <a:srgbClr val="22304A"/>
                </a:solidFill>
                <a:latin typeface="Segoe UI"/>
                <a:ea typeface="Yu Gothic"/>
              </a:rPr>
              <a:t>lễ tân chào, xếp bàn, đầu bếp Ota ở quầy.</a:t>
            </a:r>
          </a:p>
          <a:p>
            <a:pPr marL="256032" indent="-256032">
              <a:lnSpc>
                <a:spcPct val="110000"/>
              </a:lnSpc>
              <a:spcAft>
                <a:spcPts val="900"/>
              </a:spcAft>
              <a:buClr>
                <a:srgbClr val="F2B233"/>
              </a:buClr>
              <a:buFont typeface="Arial"/>
              <a:buChar char="●"/>
            </a:pPr>
            <a:r>
              <a:rPr b="1" sz="1400">
                <a:solidFill>
                  <a:srgbClr val="14213D"/>
                </a:solidFill>
                <a:latin typeface="Segoe UI Semibold"/>
              </a:rPr>
              <a:t>Thực đơn:  </a:t>
            </a:r>
            <a:r>
              <a:rPr sz="1400">
                <a:solidFill>
                  <a:srgbClr val="22304A"/>
                </a:solidFill>
                <a:latin typeface="Segoe UI"/>
                <a:ea typeface="Yu Gothic"/>
              </a:rPr>
              <a:t>7 nhóm món, giá Yen, nguyên liệu, lưu ý dị ứng.</a:t>
            </a:r>
          </a:p>
          <a:p>
            <a:pPr marL="256032" indent="-256032">
              <a:lnSpc>
                <a:spcPct val="110000"/>
              </a:lnSpc>
              <a:spcAft>
                <a:spcPts val="900"/>
              </a:spcAft>
              <a:buClr>
                <a:srgbClr val="F2B233"/>
              </a:buClr>
              <a:buFont typeface="Arial"/>
              <a:buChar char="●"/>
            </a:pPr>
            <a:r>
              <a:rPr b="1" sz="1400">
                <a:solidFill>
                  <a:srgbClr val="14213D"/>
                </a:solidFill>
                <a:latin typeface="Segoe UI Semibold"/>
              </a:rPr>
              <a:t>Bữa ăn:  </a:t>
            </a:r>
            <a:r>
              <a:rPr sz="1400">
                <a:solidFill>
                  <a:srgbClr val="22304A"/>
                </a:solidFill>
                <a:latin typeface="Segoe UI"/>
                <a:ea typeface="Yu Gothic"/>
              </a:rPr>
              <a:t>gọi món → いただきます → ごちそうさまでした.</a:t>
            </a:r>
          </a:p>
          <a:p>
            <a:pPr marL="256032" indent="-256032">
              <a:lnSpc>
                <a:spcPct val="110000"/>
              </a:lnSpc>
              <a:spcAft>
                <a:spcPts val="900"/>
              </a:spcAft>
              <a:buClr>
                <a:srgbClr val="F2B233"/>
              </a:buClr>
              <a:buFont typeface="Arial"/>
              <a:buChar char="●"/>
            </a:pPr>
            <a:r>
              <a:rPr b="1" sz="1400">
                <a:solidFill>
                  <a:srgbClr val="14213D"/>
                </a:solidFill>
                <a:latin typeface="Segoe UI Semibold"/>
              </a:rPr>
              <a:t>Tính tiền:  </a:t>
            </a:r>
            <a:r>
              <a:rPr sz="1400">
                <a:solidFill>
                  <a:srgbClr val="22304A"/>
                </a:solidFill>
                <a:latin typeface="Segoe UI"/>
                <a:ea typeface="Yu Gothic"/>
              </a:rPr>
              <a:t>おかいけい おねがいします; chưa trả thì chưa ra.</a:t>
            </a:r>
          </a:p>
        </p:txBody>
      </p:sp>
      <p:sp>
        <p:nvSpPr>
          <p:cNvPr id="14" name="Rounded Rectangle 13"/>
          <p:cNvSpPr/>
          <p:nvPr/>
        </p:nvSpPr>
        <p:spPr>
          <a:xfrm>
            <a:off x="6583680" y="5349240"/>
            <a:ext cx="5074920" cy="868680"/>
          </a:xfrm>
          <a:prstGeom prst="roundRect">
            <a:avLst>
              <a:gd name="adj" fmla="val 12000"/>
            </a:avLst>
          </a:prstGeom>
          <a:solidFill>
            <a:srgbClr val="FFF8E6"/>
          </a:solidFill>
          <a:ln w="12700">
            <a:solidFill>
              <a:srgbClr val="F2D4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5349240"/>
            <a:ext cx="4754880" cy="868680"/>
          </a:xfrm>
          <a:prstGeom prst="rect">
            <a:avLst/>
          </a:prstGeom>
          <a:noFill/>
        </p:spPr>
        <p:txBody>
          <a:bodyPr wrap="square" lIns="0" rIns="0" tIns="0" bIns="0" anchor="ctr">
            <a:spAutoFit/>
          </a:bodyPr>
          <a:lstStyle/>
          <a:p>
            <a:pPr algn="l">
              <a:lnSpc>
                <a:spcPct val="110000"/>
              </a:lnSpc>
              <a:spcAft>
                <a:spcPts val="0"/>
              </a:spcAft>
            </a:pPr>
            <a:r>
              <a:rPr sz="1400" b="1" i="0">
                <a:solidFill>
                  <a:srgbClr val="B07D12"/>
                </a:solidFill>
                <a:latin typeface="Segoe UI Semibold"/>
                <a:ea typeface="Yu Gothic"/>
              </a:rPr>
              <a:t>Học được  </a:t>
            </a:r>
            <a:r>
              <a:rPr sz="1400" b="0" i="0">
                <a:solidFill>
                  <a:srgbClr val="22304A"/>
                </a:solidFill>
                <a:latin typeface="Yu Gothic"/>
                <a:ea typeface="Yu Gothic"/>
              </a:rPr>
              <a:t>〜を ください ・ おかいけい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02 · SCENE 6/6</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Trường Nhật ngữ Hibari</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15</a:t>
            </a:r>
          </a:p>
        </p:txBody>
      </p:sp>
      <p:pic>
        <p:nvPicPr>
          <p:cNvPr id="8" name="Picture 7" descr="08_zone_school.png"/>
          <p:cNvPicPr>
            <a:picLocks noChangeAspect="1"/>
          </p:cNvPicPr>
          <p:nvPr/>
        </p:nvPicPr>
        <p:blipFill>
          <a:blip r:embed="rId4"/>
          <a:stretch>
            <a:fillRect/>
          </a:stretch>
        </p:blipFill>
        <p:spPr>
          <a:xfrm>
            <a:off x="548640" y="1371600"/>
            <a:ext cx="5715000" cy="3214687"/>
          </a:xfrm>
          <a:prstGeom prst="rect">
            <a:avLst/>
          </a:prstGeom>
          <a:ln w="9525">
            <a:solidFill>
              <a:srgbClr val="D5DCE8"/>
            </a:solidFill>
          </a:ln>
        </p:spPr>
      </p:pic>
      <p:pic>
        <p:nvPicPr>
          <p:cNvPr id="9" name="Picture 8" descr="07_entrance_school.png"/>
          <p:cNvPicPr>
            <a:picLocks noChangeAspect="1"/>
          </p:cNvPicPr>
          <p:nvPr/>
        </p:nvPicPr>
        <p:blipFill>
          <a:blip r:embed="rId5"/>
          <a:stretch>
            <a:fillRect/>
          </a:stretch>
        </p:blipFill>
        <p:spPr>
          <a:xfrm>
            <a:off x="548640" y="4681728"/>
            <a:ext cx="2766060" cy="1555908"/>
          </a:xfrm>
          <a:prstGeom prst="rect">
            <a:avLst/>
          </a:prstGeom>
          <a:ln w="9525">
            <a:solidFill>
              <a:srgbClr val="D5DCE8"/>
            </a:solidFill>
          </a:ln>
        </p:spPr>
      </p:pic>
      <p:pic>
        <p:nvPicPr>
          <p:cNvPr id="10" name="Picture 9" descr="g07_exam_play.png"/>
          <p:cNvPicPr>
            <a:picLocks noChangeAspect="1"/>
          </p:cNvPicPr>
          <p:nvPr/>
        </p:nvPicPr>
        <p:blipFill>
          <a:blip r:embed="rId6"/>
          <a:stretch>
            <a:fillRect/>
          </a:stretch>
        </p:blipFill>
        <p:spPr>
          <a:xfrm>
            <a:off x="3497580" y="4681728"/>
            <a:ext cx="2766060" cy="1555908"/>
          </a:xfrm>
          <a:prstGeom prst="rect">
            <a:avLst/>
          </a:prstGeom>
          <a:ln w="9525">
            <a:solidFill>
              <a:srgbClr val="D5DCE8"/>
            </a:solidFill>
          </a:ln>
        </p:spPr>
      </p:pic>
      <p:sp>
        <p:nvSpPr>
          <p:cNvPr id="11" name="Rounded Rectangle 10"/>
          <p:cNvSpPr/>
          <p:nvPr/>
        </p:nvSpPr>
        <p:spPr>
          <a:xfrm>
            <a:off x="6583680" y="1389888"/>
            <a:ext cx="2651760" cy="384048"/>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389888"/>
            <a:ext cx="2651760" cy="384048"/>
          </a:xfrm>
          <a:prstGeom prst="rect">
            <a:avLst/>
          </a:prstGeom>
          <a:noFill/>
        </p:spPr>
        <p:txBody>
          <a:bodyPr wrap="square" lIns="0" rIns="0" tIns="0" bIns="0" anchor="ctr">
            <a:spAutoFit/>
          </a:bodyPr>
          <a:lstStyle/>
          <a:p>
            <a:pPr algn="ctr">
              <a:lnSpc>
                <a:spcPct val="110000"/>
              </a:lnSpc>
              <a:spcAft>
                <a:spcPts val="0"/>
              </a:spcAft>
            </a:pPr>
            <a:r>
              <a:rPr sz="1200" b="0" i="0">
                <a:solidFill>
                  <a:srgbClr val="FFFFFF"/>
                </a:solidFill>
                <a:latin typeface="Segoe UI Semibold"/>
                <a:ea typeface="Yu Gothic"/>
              </a:rPr>
              <a:t>40_HIBARICLASS</a:t>
            </a:r>
          </a:p>
        </p:txBody>
      </p:sp>
      <p:sp>
        <p:nvSpPr>
          <p:cNvPr id="13" name="TextBox 12"/>
          <p:cNvSpPr txBox="1"/>
          <p:nvPr/>
        </p:nvSpPr>
        <p:spPr>
          <a:xfrm>
            <a:off x="6583680" y="1965960"/>
            <a:ext cx="5074920" cy="3383280"/>
          </a:xfrm>
          <a:prstGeom prst="rect">
            <a:avLst/>
          </a:prstGeom>
          <a:noFill/>
        </p:spPr>
        <p:txBody>
          <a:bodyPr wrap="square" lIns="0" rIns="0" tIns="0" bIns="0">
            <a:spAutoFit/>
          </a:bodyPr>
          <a:lstStyle/>
          <a:p>
            <a:pPr marL="256032" indent="-256032">
              <a:lnSpc>
                <a:spcPct val="110000"/>
              </a:lnSpc>
              <a:spcAft>
                <a:spcPts val="900"/>
              </a:spcAft>
              <a:buClr>
                <a:srgbClr val="F2B233"/>
              </a:buClr>
              <a:buFont typeface="Arial"/>
              <a:buChar char="●"/>
            </a:pPr>
            <a:r>
              <a:rPr b="1" sz="1400">
                <a:solidFill>
                  <a:srgbClr val="14213D"/>
                </a:solidFill>
                <a:latin typeface="Segoe UI Semibold"/>
              </a:rPr>
              <a:t>Cổng trường:  </a:t>
            </a:r>
            <a:r>
              <a:rPr sz="1400">
                <a:solidFill>
                  <a:srgbClr val="22304A"/>
                </a:solidFill>
                <a:latin typeface="Segoe UI"/>
                <a:ea typeface="Yu Gothic"/>
              </a:rPr>
              <a:t>trụ đá, bảng tên dọc 学院, băng rôn song ngữ.</a:t>
            </a:r>
          </a:p>
          <a:p>
            <a:pPr marL="256032" indent="-256032">
              <a:lnSpc>
                <a:spcPct val="110000"/>
              </a:lnSpc>
              <a:spcAft>
                <a:spcPts val="900"/>
              </a:spcAft>
              <a:buClr>
                <a:srgbClr val="F2B233"/>
              </a:buClr>
              <a:buFont typeface="Arial"/>
              <a:buChar char="●"/>
            </a:pPr>
            <a:r>
              <a:rPr b="1" sz="1400">
                <a:solidFill>
                  <a:srgbClr val="14213D"/>
                </a:solidFill>
                <a:latin typeface="Segoe UI Semibold"/>
              </a:rPr>
              <a:t>Lớp học:  </a:t>
            </a:r>
            <a:r>
              <a:rPr sz="1400">
                <a:solidFill>
                  <a:srgbClr val="22304A"/>
                </a:solidFill>
                <a:latin typeface="Segoe UI"/>
                <a:ea typeface="Yu Gothic"/>
              </a:rPr>
              <a:t>bảng đen, bàn giáo viên, 6 bàn học sinh.</a:t>
            </a:r>
          </a:p>
          <a:p>
            <a:pPr marL="256032" indent="-256032">
              <a:lnSpc>
                <a:spcPct val="110000"/>
              </a:lnSpc>
              <a:spcAft>
                <a:spcPts val="900"/>
              </a:spcAft>
              <a:buClr>
                <a:srgbClr val="F2B233"/>
              </a:buClr>
              <a:buFont typeface="Arial"/>
              <a:buChar char="●"/>
            </a:pPr>
            <a:r>
              <a:rPr b="1" sz="1400">
                <a:solidFill>
                  <a:srgbClr val="14213D"/>
                </a:solidFill>
                <a:latin typeface="Segoe UI Semibold"/>
              </a:rPr>
              <a:t>Nhân vật:  </a:t>
            </a:r>
            <a:r>
              <a:rPr sz="1400">
                <a:solidFill>
                  <a:srgbClr val="22304A"/>
                </a:solidFill>
                <a:latin typeface="Segoe UI"/>
                <a:ea typeface="Yu Gothic"/>
              </a:rPr>
              <a:t>cô Morita và bạn Kim — tình huống tự giới thiệu.</a:t>
            </a:r>
          </a:p>
          <a:p>
            <a:pPr marL="256032" indent="-256032">
              <a:lnSpc>
                <a:spcPct val="110000"/>
              </a:lnSpc>
              <a:spcAft>
                <a:spcPts val="900"/>
              </a:spcAft>
              <a:buClr>
                <a:srgbClr val="F2B233"/>
              </a:buClr>
              <a:buFont typeface="Arial"/>
              <a:buChar char="●"/>
            </a:pPr>
            <a:r>
              <a:rPr b="1" sz="1400">
                <a:solidFill>
                  <a:srgbClr val="14213D"/>
                </a:solidFill>
                <a:latin typeface="Segoe UI Semibold"/>
              </a:rPr>
              <a:t>Luyện thi [K]:  </a:t>
            </a:r>
            <a:r>
              <a:rPr sz="1400">
                <a:solidFill>
                  <a:srgbClr val="22304A"/>
                </a:solidFill>
                <a:latin typeface="Segoe UI"/>
                <a:ea typeface="Yu Gothic"/>
              </a:rPr>
              <a:t>JLPT N5 / IELTS, có đồng hồ và chấm điểm.</a:t>
            </a:r>
          </a:p>
          <a:p>
            <a:pPr marL="256032" indent="-256032">
              <a:lnSpc>
                <a:spcPct val="110000"/>
              </a:lnSpc>
              <a:spcAft>
                <a:spcPts val="900"/>
              </a:spcAft>
              <a:buClr>
                <a:srgbClr val="F2B233"/>
              </a:buClr>
              <a:buFont typeface="Arial"/>
              <a:buChar char="●"/>
            </a:pPr>
            <a:r>
              <a:rPr b="1" sz="1400">
                <a:solidFill>
                  <a:srgbClr val="14213D"/>
                </a:solidFill>
                <a:latin typeface="Segoe UI Semibold"/>
              </a:rPr>
              <a:t>Tiến độ:  </a:t>
            </a:r>
            <a:r>
              <a:rPr sz="1400">
                <a:solidFill>
                  <a:srgbClr val="22304A"/>
                </a:solidFill>
                <a:latin typeface="Segoe UI"/>
                <a:ea typeface="Yu Gothic"/>
              </a:rPr>
              <a:t>kết quả lưu vào hồ sơ người chơi.</a:t>
            </a:r>
          </a:p>
        </p:txBody>
      </p:sp>
      <p:sp>
        <p:nvSpPr>
          <p:cNvPr id="14" name="Rounded Rectangle 13"/>
          <p:cNvSpPr/>
          <p:nvPr/>
        </p:nvSpPr>
        <p:spPr>
          <a:xfrm>
            <a:off x="6583680" y="5349240"/>
            <a:ext cx="5074920" cy="868680"/>
          </a:xfrm>
          <a:prstGeom prst="roundRect">
            <a:avLst>
              <a:gd name="adj" fmla="val 12000"/>
            </a:avLst>
          </a:prstGeom>
          <a:solidFill>
            <a:srgbClr val="FFF8E6"/>
          </a:solidFill>
          <a:ln w="12700">
            <a:solidFill>
              <a:srgbClr val="F2D4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4848" y="5349240"/>
            <a:ext cx="4754880" cy="868680"/>
          </a:xfrm>
          <a:prstGeom prst="rect">
            <a:avLst/>
          </a:prstGeom>
          <a:noFill/>
        </p:spPr>
        <p:txBody>
          <a:bodyPr wrap="square" lIns="0" rIns="0" tIns="0" bIns="0" anchor="ctr">
            <a:spAutoFit/>
          </a:bodyPr>
          <a:lstStyle/>
          <a:p>
            <a:pPr algn="l">
              <a:lnSpc>
                <a:spcPct val="110000"/>
              </a:lnSpc>
              <a:spcAft>
                <a:spcPts val="0"/>
              </a:spcAft>
            </a:pPr>
            <a:r>
              <a:rPr sz="1400" b="1" i="0">
                <a:solidFill>
                  <a:srgbClr val="B07D12"/>
                </a:solidFill>
                <a:latin typeface="Segoe UI Semibold"/>
                <a:ea typeface="Yu Gothic"/>
              </a:rPr>
              <a:t>Học được  </a:t>
            </a:r>
            <a:r>
              <a:rPr sz="1400" b="0" i="0">
                <a:solidFill>
                  <a:srgbClr val="22304A"/>
                </a:solidFill>
                <a:latin typeface="Yu Gothic"/>
                <a:ea typeface="Yu Gothic"/>
              </a:rPr>
              <a:t>はじめまして ・ 〜から きました ・ よろしく</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pic>
        <p:nvPicPr>
          <p:cNvPr id="2" name="Picture 1" descr="logo_dark.png"/>
          <p:cNvPicPr>
            <a:picLocks noChangeAspect="1"/>
          </p:cNvPicPr>
          <p:nvPr/>
        </p:nvPicPr>
        <p:blipFill>
          <a:blip r:embed="rId2"/>
          <a:stretch>
            <a:fillRect/>
          </a:stretch>
        </p:blipFill>
        <p:spPr>
          <a:xfrm>
            <a:off x="640080" y="548640"/>
            <a:ext cx="2040940" cy="566928"/>
          </a:xfrm>
          <a:prstGeom prst="rect">
            <a:avLst/>
          </a:prstGeom>
        </p:spPr>
      </p:pic>
      <p:sp>
        <p:nvSpPr>
          <p:cNvPr id="3" name="TextBox 2"/>
          <p:cNvSpPr txBox="1"/>
          <p:nvPr/>
        </p:nvSpPr>
        <p:spPr>
          <a:xfrm>
            <a:off x="640080" y="2057400"/>
            <a:ext cx="5486400" cy="1463040"/>
          </a:xfrm>
          <a:prstGeom prst="rect">
            <a:avLst/>
          </a:prstGeom>
          <a:noFill/>
        </p:spPr>
        <p:txBody>
          <a:bodyPr wrap="square" lIns="0" rIns="0" tIns="0" bIns="0" anchor="t">
            <a:spAutoFit/>
          </a:bodyPr>
          <a:lstStyle/>
          <a:p>
            <a:pPr algn="l">
              <a:lnSpc>
                <a:spcPct val="110000"/>
              </a:lnSpc>
              <a:spcAft>
                <a:spcPts val="0"/>
              </a:spcAft>
            </a:pPr>
            <a:r>
              <a:rPr sz="11000" b="0" i="0">
                <a:solidFill>
                  <a:srgbClr val="F2B233"/>
                </a:solidFill>
                <a:latin typeface="Segoe UI Semibold"/>
                <a:ea typeface="Yu Gothic"/>
              </a:rPr>
              <a:t>03</a:t>
            </a:r>
          </a:p>
        </p:txBody>
      </p:sp>
      <p:sp>
        <p:nvSpPr>
          <p:cNvPr id="4" name="TextBox 3"/>
          <p:cNvSpPr txBox="1"/>
          <p:nvPr/>
        </p:nvSpPr>
        <p:spPr>
          <a:xfrm>
            <a:off x="640080" y="3611880"/>
            <a:ext cx="5486400" cy="1280160"/>
          </a:xfrm>
          <a:prstGeom prst="rect">
            <a:avLst/>
          </a:prstGeom>
          <a:noFill/>
        </p:spPr>
        <p:txBody>
          <a:bodyPr wrap="square" lIns="0" rIns="0" tIns="0" bIns="0" anchor="t">
            <a:spAutoFit/>
          </a:bodyPr>
          <a:lstStyle/>
          <a:p>
            <a:pPr algn="l">
              <a:lnSpc>
                <a:spcPct val="110000"/>
              </a:lnSpc>
              <a:spcAft>
                <a:spcPts val="0"/>
              </a:spcAft>
            </a:pPr>
            <a:r>
              <a:rPr sz="4000" b="0" i="0">
                <a:solidFill>
                  <a:srgbClr val="FFFFFF"/>
                </a:solidFill>
                <a:latin typeface="Segoe UI Semibold"/>
                <a:ea typeface="Yu Gothic"/>
              </a:rPr>
              <a:t>Gameplay &amp; giao diện</a:t>
            </a:r>
          </a:p>
        </p:txBody>
      </p:sp>
      <p:sp>
        <p:nvSpPr>
          <p:cNvPr id="5" name="TextBox 4"/>
          <p:cNvSpPr txBox="1"/>
          <p:nvPr/>
        </p:nvSpPr>
        <p:spPr>
          <a:xfrm>
            <a:off x="640080" y="4800600"/>
            <a:ext cx="5303520" cy="914400"/>
          </a:xfrm>
          <a:prstGeom prst="rect">
            <a:avLst/>
          </a:prstGeom>
          <a:noFill/>
        </p:spPr>
        <p:txBody>
          <a:bodyPr wrap="square" lIns="0" rIns="0" tIns="0" bIns="0" anchor="t">
            <a:spAutoFit/>
          </a:bodyPr>
          <a:lstStyle/>
          <a:p>
            <a:pPr algn="l">
              <a:lnSpc>
                <a:spcPct val="110000"/>
              </a:lnSpc>
              <a:spcAft>
                <a:spcPts val="0"/>
              </a:spcAft>
            </a:pPr>
            <a:r>
              <a:rPr sz="1600" b="0" i="0">
                <a:solidFill>
                  <a:srgbClr val="C8D3E6"/>
                </a:solidFill>
                <a:latin typeface="Segoe UI"/>
                <a:ea typeface="Yu Gothic"/>
              </a:rPr>
              <a:t>Hội thoại, nhiệm vụ, bản đồ, luyện thi, cài đặt.</a:t>
            </a:r>
          </a:p>
        </p:txBody>
      </p:sp>
      <p:sp>
        <p:nvSpPr>
          <p:cNvPr id="6" name="TextBox 5"/>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8FA0BC"/>
                </a:solidFill>
                <a:latin typeface="Segoe UI Semibold"/>
                <a:ea typeface="Yu Gothic"/>
              </a:rPr>
              <a:t>16</a:t>
            </a:r>
          </a:p>
        </p:txBody>
      </p:sp>
      <p:pic>
        <p:nvPicPr>
          <p:cNvPr id="7" name="Picture 6" descr="g09_dialogue_choice.png"/>
          <p:cNvPicPr>
            <a:picLocks noChangeAspect="1"/>
          </p:cNvPicPr>
          <p:nvPr/>
        </p:nvPicPr>
        <p:blipFill>
          <a:blip r:embed="rId4"/>
          <a:srcRect l="27500" r="27500"/>
          <a:stretch>
            <a:fillRect/>
          </a:stretch>
        </p:blipFill>
        <p:spPr>
          <a:xfrm>
            <a:off x="6705295" y="0"/>
            <a:ext cx="54864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03 · GAMEPLAY &amp; UI</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Hội thoại N5: chọn câu đúng ngữ cảnh</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17</a:t>
            </a:r>
          </a:p>
        </p:txBody>
      </p:sp>
      <p:pic>
        <p:nvPicPr>
          <p:cNvPr id="8" name="Picture 7" descr="g09_dialogue_choice.png"/>
          <p:cNvPicPr>
            <a:picLocks noChangeAspect="1"/>
          </p:cNvPicPr>
          <p:nvPr/>
        </p:nvPicPr>
        <p:blipFill>
          <a:blip r:embed="rId4"/>
          <a:stretch>
            <a:fillRect/>
          </a:stretch>
        </p:blipFill>
        <p:spPr>
          <a:xfrm>
            <a:off x="548640" y="1508760"/>
            <a:ext cx="6949440" cy="3909060"/>
          </a:xfrm>
          <a:prstGeom prst="rect">
            <a:avLst/>
          </a:prstGeom>
          <a:ln w="9525">
            <a:solidFill>
              <a:srgbClr val="D5DCE8"/>
            </a:solidFill>
          </a:ln>
        </p:spPr>
      </p:pic>
      <p:sp>
        <p:nvSpPr>
          <p:cNvPr id="9" name="TextBox 8"/>
          <p:cNvSpPr txBox="1"/>
          <p:nvPr/>
        </p:nvSpPr>
        <p:spPr>
          <a:xfrm>
            <a:off x="7818120" y="1554480"/>
            <a:ext cx="3840480" cy="548640"/>
          </a:xfrm>
          <a:prstGeom prst="rect">
            <a:avLst/>
          </a:prstGeom>
          <a:noFill/>
        </p:spPr>
        <p:txBody>
          <a:bodyPr wrap="square" lIns="0" rIns="0" tIns="0" bIns="0" anchor="t">
            <a:spAutoFit/>
          </a:bodyPr>
          <a:lstStyle/>
          <a:p>
            <a:pPr algn="l">
              <a:lnSpc>
                <a:spcPct val="110000"/>
              </a:lnSpc>
              <a:spcAft>
                <a:spcPts val="0"/>
              </a:spcAft>
            </a:pPr>
            <a:r>
              <a:rPr sz="1600" b="1" i="0">
                <a:solidFill>
                  <a:srgbClr val="C8463D"/>
                </a:solidFill>
                <a:latin typeface="Segoe UI Semibold"/>
                <a:ea typeface="Yu Gothic"/>
              </a:rPr>
              <a:t>Tanaka: </a:t>
            </a:r>
            <a:r>
              <a:rPr sz="1600" b="0" i="0">
                <a:solidFill>
                  <a:srgbClr val="22304A"/>
                </a:solidFill>
                <a:latin typeface="Yu Gothic"/>
                <a:ea typeface="Yu Gothic"/>
              </a:rPr>
              <a:t>おはようございます！いい朝ですね。</a:t>
            </a:r>
          </a:p>
        </p:txBody>
      </p:sp>
      <p:sp>
        <p:nvSpPr>
          <p:cNvPr id="10" name="Rounded Rectangle 9"/>
          <p:cNvSpPr/>
          <p:nvPr/>
        </p:nvSpPr>
        <p:spPr>
          <a:xfrm>
            <a:off x="7818120" y="2377440"/>
            <a:ext cx="3840480" cy="100584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01000" y="2724912"/>
            <a:ext cx="310896" cy="310896"/>
          </a:xfrm>
          <a:prstGeom prst="ellipse">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0" y="2487168"/>
            <a:ext cx="3063240" cy="411480"/>
          </a:xfrm>
          <a:prstGeom prst="rect">
            <a:avLst/>
          </a:prstGeom>
          <a:noFill/>
        </p:spPr>
        <p:txBody>
          <a:bodyPr wrap="square" lIns="0" rIns="0" tIns="0" bIns="0" anchor="t">
            <a:spAutoFit/>
          </a:bodyPr>
          <a:lstStyle/>
          <a:p>
            <a:pPr algn="l">
              <a:lnSpc>
                <a:spcPct val="110000"/>
              </a:lnSpc>
              <a:spcAft>
                <a:spcPts val="0"/>
              </a:spcAft>
            </a:pPr>
            <a:r>
              <a:rPr sz="1600" b="1" i="0">
                <a:solidFill>
                  <a:srgbClr val="14213D"/>
                </a:solidFill>
                <a:latin typeface="Yu Gothic"/>
                <a:ea typeface="Yu Gothic"/>
              </a:rPr>
              <a:t>おはようございます。</a:t>
            </a:r>
          </a:p>
        </p:txBody>
      </p:sp>
      <p:sp>
        <p:nvSpPr>
          <p:cNvPr id="13" name="TextBox 12"/>
          <p:cNvSpPr txBox="1"/>
          <p:nvPr/>
        </p:nvSpPr>
        <p:spPr>
          <a:xfrm>
            <a:off x="8503920" y="2907792"/>
            <a:ext cx="3063240" cy="41148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Lịch sự, đúng ngữ cảnh → cộng điểm</a:t>
            </a:r>
          </a:p>
        </p:txBody>
      </p:sp>
      <p:sp>
        <p:nvSpPr>
          <p:cNvPr id="14" name="Rounded Rectangle 13"/>
          <p:cNvSpPr/>
          <p:nvPr/>
        </p:nvSpPr>
        <p:spPr>
          <a:xfrm>
            <a:off x="7818120" y="3566160"/>
            <a:ext cx="3840480" cy="100584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01000" y="3913632"/>
            <a:ext cx="310896" cy="310896"/>
          </a:xfrm>
          <a:prstGeom prst="ellipse">
            <a:avLst/>
          </a:prstGeom>
          <a:solidFill>
            <a:srgbClr val="F2B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03920" y="3675888"/>
            <a:ext cx="3063240" cy="411480"/>
          </a:xfrm>
          <a:prstGeom prst="rect">
            <a:avLst/>
          </a:prstGeom>
          <a:noFill/>
        </p:spPr>
        <p:txBody>
          <a:bodyPr wrap="square" lIns="0" rIns="0" tIns="0" bIns="0" anchor="t">
            <a:spAutoFit/>
          </a:bodyPr>
          <a:lstStyle/>
          <a:p>
            <a:pPr algn="l">
              <a:lnSpc>
                <a:spcPct val="110000"/>
              </a:lnSpc>
              <a:spcAft>
                <a:spcPts val="0"/>
              </a:spcAft>
            </a:pPr>
            <a:r>
              <a:rPr sz="1600" b="1" i="0">
                <a:solidFill>
                  <a:srgbClr val="14213D"/>
                </a:solidFill>
                <a:latin typeface="Yu Gothic"/>
                <a:ea typeface="Yu Gothic"/>
              </a:rPr>
              <a:t>おはよう。</a:t>
            </a:r>
          </a:p>
        </p:txBody>
      </p:sp>
      <p:sp>
        <p:nvSpPr>
          <p:cNvPr id="17" name="TextBox 16"/>
          <p:cNvSpPr txBox="1"/>
          <p:nvPr/>
        </p:nvSpPr>
        <p:spPr>
          <a:xfrm>
            <a:off x="8503920" y="4096512"/>
            <a:ext cx="3063240" cy="41148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Thân mật — chưa hợp với người mới gặp</a:t>
            </a:r>
          </a:p>
        </p:txBody>
      </p:sp>
      <p:sp>
        <p:nvSpPr>
          <p:cNvPr id="18" name="Rounded Rectangle 17"/>
          <p:cNvSpPr/>
          <p:nvPr/>
        </p:nvSpPr>
        <p:spPr>
          <a:xfrm>
            <a:off x="7818120" y="4754880"/>
            <a:ext cx="3840480" cy="1005840"/>
          </a:xfrm>
          <a:prstGeom prst="roundRect">
            <a:avLst>
              <a:gd name="adj" fmla="val 12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01000" y="5102352"/>
            <a:ext cx="310896" cy="310896"/>
          </a:xfrm>
          <a:prstGeom prst="ellipse">
            <a:avLst/>
          </a:prstGeom>
          <a:solidFill>
            <a:srgbClr val="C846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4864608"/>
            <a:ext cx="3063240" cy="411480"/>
          </a:xfrm>
          <a:prstGeom prst="rect">
            <a:avLst/>
          </a:prstGeom>
          <a:noFill/>
        </p:spPr>
        <p:txBody>
          <a:bodyPr wrap="square" lIns="0" rIns="0" tIns="0" bIns="0" anchor="t">
            <a:spAutoFit/>
          </a:bodyPr>
          <a:lstStyle/>
          <a:p>
            <a:pPr algn="l">
              <a:lnSpc>
                <a:spcPct val="110000"/>
              </a:lnSpc>
              <a:spcAft>
                <a:spcPts val="0"/>
              </a:spcAft>
            </a:pPr>
            <a:r>
              <a:rPr sz="1600" b="1" i="0">
                <a:solidFill>
                  <a:srgbClr val="14213D"/>
                </a:solidFill>
                <a:latin typeface="Yu Gothic"/>
                <a:ea typeface="Yu Gothic"/>
              </a:rPr>
              <a:t>こんばんは。</a:t>
            </a:r>
          </a:p>
        </p:txBody>
      </p:sp>
      <p:sp>
        <p:nvSpPr>
          <p:cNvPr id="21" name="TextBox 20"/>
          <p:cNvSpPr txBox="1"/>
          <p:nvPr/>
        </p:nvSpPr>
        <p:spPr>
          <a:xfrm>
            <a:off x="8503920" y="5285232"/>
            <a:ext cx="3063240" cy="411480"/>
          </a:xfrm>
          <a:prstGeom prst="rect">
            <a:avLst/>
          </a:prstGeom>
          <a:noFill/>
        </p:spPr>
        <p:txBody>
          <a:bodyPr wrap="square" lIns="0" rIns="0" tIns="0" bIns="0" anchor="t">
            <a:spAutoFit/>
          </a:bodyPr>
          <a:lstStyle/>
          <a:p>
            <a:pPr algn="l">
              <a:lnSpc>
                <a:spcPct val="110000"/>
              </a:lnSpc>
              <a:spcAft>
                <a:spcPts val="0"/>
              </a:spcAft>
            </a:pPr>
            <a:r>
              <a:rPr sz="1300" b="0" i="0">
                <a:solidFill>
                  <a:srgbClr val="5B6B82"/>
                </a:solidFill>
                <a:latin typeface="Segoe UI"/>
                <a:ea typeface="Yu Gothic"/>
              </a:rPr>
              <a:t>Sai thời điểm → giải thích, thử lại</a:t>
            </a:r>
          </a:p>
        </p:txBody>
      </p:sp>
      <p:sp>
        <p:nvSpPr>
          <p:cNvPr id="22" name="TextBox 21"/>
          <p:cNvSpPr txBox="1"/>
          <p:nvPr/>
        </p:nvSpPr>
        <p:spPr>
          <a:xfrm>
            <a:off x="7818120" y="5943600"/>
            <a:ext cx="3840480" cy="365760"/>
          </a:xfrm>
          <a:prstGeom prst="rect">
            <a:avLst/>
          </a:prstGeom>
          <a:noFill/>
        </p:spPr>
        <p:txBody>
          <a:bodyPr wrap="square" lIns="0" rIns="0" tIns="0" bIns="0" anchor="t">
            <a:spAutoFit/>
          </a:bodyPr>
          <a:lstStyle/>
          <a:p>
            <a:pPr algn="l">
              <a:lnSpc>
                <a:spcPct val="110000"/>
              </a:lnSpc>
              <a:spcAft>
                <a:spcPts val="0"/>
              </a:spcAft>
            </a:pPr>
            <a:r>
              <a:rPr sz="1100" b="0" i="0">
                <a:solidFill>
                  <a:srgbClr val="5B6B82"/>
                </a:solidFill>
                <a:latin typeface="Segoe UI"/>
                <a:ea typeface="Yu Gothic"/>
              </a:rPr>
              <a:t>Ghi điểm bằng ScoringManager · lưu cờ truyện bằng setFlags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03 · GAMEPLAY &amp; UI</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Nhiệm vụ và bản đồ</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18</a:t>
            </a:r>
          </a:p>
        </p:txBody>
      </p:sp>
      <p:pic>
        <p:nvPicPr>
          <p:cNvPr id="8" name="Picture 7" descr="05_quests.png"/>
          <p:cNvPicPr>
            <a:picLocks noChangeAspect="1"/>
          </p:cNvPicPr>
          <p:nvPr/>
        </p:nvPicPr>
        <p:blipFill>
          <a:blip r:embed="rId4"/>
          <a:stretch>
            <a:fillRect/>
          </a:stretch>
        </p:blipFill>
        <p:spPr>
          <a:xfrm>
            <a:off x="548640" y="1508760"/>
            <a:ext cx="5486400" cy="3086100"/>
          </a:xfrm>
          <a:prstGeom prst="rect">
            <a:avLst/>
          </a:prstGeom>
          <a:ln w="9525">
            <a:solidFill>
              <a:srgbClr val="D5DCE8"/>
            </a:solidFill>
          </a:ln>
        </p:spPr>
      </p:pic>
      <p:pic>
        <p:nvPicPr>
          <p:cNvPr id="9" name="Picture 8" descr="09_map_overview.png"/>
          <p:cNvPicPr>
            <a:picLocks noChangeAspect="1"/>
          </p:cNvPicPr>
          <p:nvPr/>
        </p:nvPicPr>
        <p:blipFill>
          <a:blip r:embed="rId5"/>
          <a:stretch>
            <a:fillRect/>
          </a:stretch>
        </p:blipFill>
        <p:spPr>
          <a:xfrm>
            <a:off x="6153912" y="1508760"/>
            <a:ext cx="5486400" cy="3086100"/>
          </a:xfrm>
          <a:prstGeom prst="rect">
            <a:avLst/>
          </a:prstGeom>
          <a:ln w="9525">
            <a:solidFill>
              <a:srgbClr val="D5DCE8"/>
            </a:solidFill>
          </a:ln>
        </p:spPr>
      </p:pic>
      <p:sp>
        <p:nvSpPr>
          <p:cNvPr id="10" name="TextBox 9"/>
          <p:cNvSpPr txBox="1"/>
          <p:nvPr/>
        </p:nvSpPr>
        <p:spPr>
          <a:xfrm>
            <a:off x="548640" y="4754880"/>
            <a:ext cx="5486400" cy="1371600"/>
          </a:xfrm>
          <a:prstGeom prst="rect">
            <a:avLst/>
          </a:prstGeom>
          <a:noFill/>
        </p:spPr>
        <p:txBody>
          <a:bodyPr wrap="square" lIns="0" rIns="0" tIns="0" bIns="0" anchor="t">
            <a:spAutoFit/>
          </a:bodyPr>
          <a:lstStyle/>
          <a:p>
            <a:pPr algn="l">
              <a:lnSpc>
                <a:spcPct val="110000"/>
              </a:lnSpc>
              <a:spcAft>
                <a:spcPts val="0"/>
              </a:spcAft>
            </a:pPr>
            <a:r>
              <a:rPr sz="1400" b="1" i="0">
                <a:solidFill>
                  <a:srgbClr val="14213D"/>
                </a:solidFill>
                <a:latin typeface="Segoe UI Semibold"/>
                <a:ea typeface="Yu Gothic"/>
              </a:rPr>
              <a:t>Nhật ký nhiệm vụ [J]  </a:t>
            </a:r>
            <a:r>
              <a:rPr sz="1400" b="0" i="0">
                <a:solidFill>
                  <a:srgbClr val="22304A"/>
                </a:solidFill>
                <a:latin typeface="Segoe UI"/>
                <a:ea typeface="Yu Gothic"/>
              </a:rPr>
              <a:t>Đang làm / Có thể nhận / Đã xong; mỗi nhiệm vụ có địa điểm, mục tiêu, phần thưởng và từ vựng sẽ học.</a:t>
            </a:r>
          </a:p>
        </p:txBody>
      </p:sp>
      <p:sp>
        <p:nvSpPr>
          <p:cNvPr id="11" name="TextBox 10"/>
          <p:cNvSpPr txBox="1"/>
          <p:nvPr/>
        </p:nvSpPr>
        <p:spPr>
          <a:xfrm>
            <a:off x="6153912" y="4754880"/>
            <a:ext cx="5486400" cy="1371600"/>
          </a:xfrm>
          <a:prstGeom prst="rect">
            <a:avLst/>
          </a:prstGeom>
          <a:noFill/>
        </p:spPr>
        <p:txBody>
          <a:bodyPr wrap="square" lIns="0" rIns="0" tIns="0" bIns="0" anchor="t">
            <a:spAutoFit/>
          </a:bodyPr>
          <a:lstStyle/>
          <a:p>
            <a:pPr algn="l">
              <a:lnSpc>
                <a:spcPct val="110000"/>
              </a:lnSpc>
              <a:spcAft>
                <a:spcPts val="0"/>
              </a:spcAft>
            </a:pPr>
            <a:r>
              <a:rPr sz="1400" b="1" i="0">
                <a:solidFill>
                  <a:srgbClr val="14213D"/>
                </a:solidFill>
                <a:latin typeface="Segoe UI Semibold"/>
                <a:ea typeface="Yu Gothic"/>
              </a:rPr>
              <a:t>Bản đồ Hibari-chō [M]  </a:t>
            </a:r>
            <a:r>
              <a:rPr sz="1400" b="0" i="0">
                <a:solidFill>
                  <a:srgbClr val="22304A"/>
                </a:solidFill>
                <a:latin typeface="Segoe UI"/>
                <a:ea typeface="Yu Gothic"/>
              </a:rPr>
              <a:t>Vẽ theo tọa độ thật: konbini, sushi, nhà trọ, ga, trường, công viên; bấm để tự đi tới.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03 · GAMEPLAY &amp; UI</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Trung tâm luyện thi JLPT / IELTS</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19</a:t>
            </a:r>
          </a:p>
        </p:txBody>
      </p:sp>
      <p:pic>
        <p:nvPicPr>
          <p:cNvPr id="8" name="Picture 7" descr="g06_exam_hub.png"/>
          <p:cNvPicPr>
            <a:picLocks noChangeAspect="1"/>
          </p:cNvPicPr>
          <p:nvPr/>
        </p:nvPicPr>
        <p:blipFill>
          <a:blip r:embed="rId4"/>
          <a:stretch>
            <a:fillRect/>
          </a:stretch>
        </p:blipFill>
        <p:spPr>
          <a:xfrm>
            <a:off x="548640" y="1508760"/>
            <a:ext cx="5486400" cy="3086100"/>
          </a:xfrm>
          <a:prstGeom prst="rect">
            <a:avLst/>
          </a:prstGeom>
          <a:ln w="9525">
            <a:solidFill>
              <a:srgbClr val="D5DCE8"/>
            </a:solidFill>
          </a:ln>
        </p:spPr>
      </p:pic>
      <p:pic>
        <p:nvPicPr>
          <p:cNvPr id="9" name="Picture 8" descr="g07_exam_play.png"/>
          <p:cNvPicPr>
            <a:picLocks noChangeAspect="1"/>
          </p:cNvPicPr>
          <p:nvPr/>
        </p:nvPicPr>
        <p:blipFill>
          <a:blip r:embed="rId5"/>
          <a:stretch>
            <a:fillRect/>
          </a:stretch>
        </p:blipFill>
        <p:spPr>
          <a:xfrm>
            <a:off x="6153912" y="1508760"/>
            <a:ext cx="5486400" cy="3086100"/>
          </a:xfrm>
          <a:prstGeom prst="rect">
            <a:avLst/>
          </a:prstGeom>
          <a:ln w="9525">
            <a:solidFill>
              <a:srgbClr val="D5DCE8"/>
            </a:solidFill>
          </a:ln>
        </p:spPr>
      </p:pic>
      <p:sp>
        <p:nvSpPr>
          <p:cNvPr id="10" name="TextBox 9"/>
          <p:cNvSpPr txBox="1"/>
          <p:nvPr/>
        </p:nvSpPr>
        <p:spPr>
          <a:xfrm>
            <a:off x="548640" y="4754880"/>
            <a:ext cx="5486400" cy="1371600"/>
          </a:xfrm>
          <a:prstGeom prst="rect">
            <a:avLst/>
          </a:prstGeom>
          <a:noFill/>
        </p:spPr>
        <p:txBody>
          <a:bodyPr wrap="square" lIns="0" rIns="0" tIns="0" bIns="0" anchor="t">
            <a:spAutoFit/>
          </a:bodyPr>
          <a:lstStyle/>
          <a:p>
            <a:pPr algn="l">
              <a:lnSpc>
                <a:spcPct val="110000"/>
              </a:lnSpc>
              <a:spcAft>
                <a:spcPts val="0"/>
              </a:spcAft>
            </a:pPr>
            <a:r>
              <a:rPr sz="1400" b="1" i="0">
                <a:solidFill>
                  <a:srgbClr val="14213D"/>
                </a:solidFill>
                <a:latin typeface="Segoe UI Semibold"/>
                <a:ea typeface="Yu Gothic"/>
              </a:rPr>
              <a:t>Chọn đề [K]  </a:t>
            </a:r>
            <a:r>
              <a:rPr sz="1400" b="0" i="0">
                <a:solidFill>
                  <a:srgbClr val="22304A"/>
                </a:solidFill>
                <a:latin typeface="Segoe UI"/>
                <a:ea typeface="Yu Gothic"/>
              </a:rPr>
              <a:t>Tab JLPT/IELTS, đề nạp từ Resources/Exams; tiếp tục được lượt làm dở.</a:t>
            </a:r>
          </a:p>
        </p:txBody>
      </p:sp>
      <p:sp>
        <p:nvSpPr>
          <p:cNvPr id="11" name="TextBox 10"/>
          <p:cNvSpPr txBox="1"/>
          <p:nvPr/>
        </p:nvSpPr>
        <p:spPr>
          <a:xfrm>
            <a:off x="6153912" y="4754880"/>
            <a:ext cx="5486400" cy="1371600"/>
          </a:xfrm>
          <a:prstGeom prst="rect">
            <a:avLst/>
          </a:prstGeom>
          <a:noFill/>
        </p:spPr>
        <p:txBody>
          <a:bodyPr wrap="square" lIns="0" rIns="0" tIns="0" bIns="0" anchor="t">
            <a:spAutoFit/>
          </a:bodyPr>
          <a:lstStyle/>
          <a:p>
            <a:pPr algn="l">
              <a:lnSpc>
                <a:spcPct val="110000"/>
              </a:lnSpc>
              <a:spcAft>
                <a:spcPts val="0"/>
              </a:spcAft>
            </a:pPr>
            <a:r>
              <a:rPr sz="1400" b="1" i="0">
                <a:solidFill>
                  <a:srgbClr val="14213D"/>
                </a:solidFill>
                <a:latin typeface="Segoe UI Semibold"/>
                <a:ea typeface="Yu Gothic"/>
              </a:rPr>
              <a:t>Làm bài  </a:t>
            </a:r>
            <a:r>
              <a:rPr sz="1400" b="0" i="0">
                <a:solidFill>
                  <a:srgbClr val="22304A"/>
                </a:solidFill>
                <a:latin typeface="Segoe UI"/>
                <a:ea typeface="Yu Gothic"/>
              </a:rPr>
              <a:t>Bảng câu hỏi, đồng hồ, Trước/Sau, Nộp phần; chấm theo ngưỡng JLPT 80 tổng, 19 mỗi phần.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03 · GAMEPLAY &amp; UI</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Cài đặt, hồ sơ và cộng đồng</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20</a:t>
            </a:r>
          </a:p>
        </p:txBody>
      </p:sp>
      <p:pic>
        <p:nvPicPr>
          <p:cNvPr id="8" name="Picture 7" descr="07_settings.png"/>
          <p:cNvPicPr>
            <a:picLocks noChangeAspect="1"/>
          </p:cNvPicPr>
          <p:nvPr/>
        </p:nvPicPr>
        <p:blipFill>
          <a:blip r:embed="rId4"/>
          <a:stretch>
            <a:fillRect/>
          </a:stretch>
        </p:blipFill>
        <p:spPr>
          <a:xfrm>
            <a:off x="548640" y="1508760"/>
            <a:ext cx="3657600" cy="2057400"/>
          </a:xfrm>
          <a:prstGeom prst="rect">
            <a:avLst/>
          </a:prstGeom>
          <a:ln w="9525">
            <a:solidFill>
              <a:srgbClr val="D5DCE8"/>
            </a:solidFill>
          </a:ln>
        </p:spPr>
      </p:pic>
      <p:pic>
        <p:nvPicPr>
          <p:cNvPr id="9" name="Picture 8" descr="m04_profile.png"/>
          <p:cNvPicPr>
            <a:picLocks noChangeAspect="1"/>
          </p:cNvPicPr>
          <p:nvPr/>
        </p:nvPicPr>
        <p:blipFill>
          <a:blip r:embed="rId5"/>
          <a:stretch>
            <a:fillRect/>
          </a:stretch>
        </p:blipFill>
        <p:spPr>
          <a:xfrm>
            <a:off x="4270248" y="1508760"/>
            <a:ext cx="3657600" cy="2057400"/>
          </a:xfrm>
          <a:prstGeom prst="rect">
            <a:avLst/>
          </a:prstGeom>
          <a:ln w="9525">
            <a:solidFill>
              <a:srgbClr val="D5DCE8"/>
            </a:solidFill>
          </a:ln>
        </p:spPr>
      </p:pic>
      <p:pic>
        <p:nvPicPr>
          <p:cNvPr id="10" name="Picture 9" descr="m02_about.png"/>
          <p:cNvPicPr>
            <a:picLocks noChangeAspect="1"/>
          </p:cNvPicPr>
          <p:nvPr/>
        </p:nvPicPr>
        <p:blipFill>
          <a:blip r:embed="rId6"/>
          <a:stretch>
            <a:fillRect/>
          </a:stretch>
        </p:blipFill>
        <p:spPr>
          <a:xfrm>
            <a:off x="7982712" y="1508760"/>
            <a:ext cx="3657600" cy="2057400"/>
          </a:xfrm>
          <a:prstGeom prst="rect">
            <a:avLst/>
          </a:prstGeom>
          <a:ln w="9525">
            <a:solidFill>
              <a:srgbClr val="D5DCE8"/>
            </a:solidFill>
          </a:ln>
        </p:spPr>
      </p:pic>
      <p:sp>
        <p:nvSpPr>
          <p:cNvPr id="11" name="TextBox 10"/>
          <p:cNvSpPr txBox="1"/>
          <p:nvPr/>
        </p:nvSpPr>
        <p:spPr>
          <a:xfrm>
            <a:off x="548640" y="3749039"/>
            <a:ext cx="3657600" cy="365760"/>
          </a:xfrm>
          <a:prstGeom prst="rect">
            <a:avLst/>
          </a:prstGeom>
          <a:noFill/>
        </p:spPr>
        <p:txBody>
          <a:bodyPr wrap="square" lIns="0" rIns="0" tIns="0" bIns="0" anchor="t">
            <a:spAutoFit/>
          </a:bodyPr>
          <a:lstStyle/>
          <a:p>
            <a:pPr algn="l">
              <a:lnSpc>
                <a:spcPct val="110000"/>
              </a:lnSpc>
              <a:spcAft>
                <a:spcPts val="0"/>
              </a:spcAft>
            </a:pPr>
            <a:r>
              <a:rPr sz="1800" b="0" i="0">
                <a:solidFill>
                  <a:srgbClr val="14213D"/>
                </a:solidFill>
                <a:latin typeface="Segoe UI Semibold"/>
                <a:ea typeface="Yu Gothic"/>
              </a:rPr>
              <a:t>Cài đặt</a:t>
            </a:r>
          </a:p>
        </p:txBody>
      </p:sp>
      <p:sp>
        <p:nvSpPr>
          <p:cNvPr id="12" name="TextBox 11"/>
          <p:cNvSpPr txBox="1"/>
          <p:nvPr/>
        </p:nvSpPr>
        <p:spPr>
          <a:xfrm>
            <a:off x="548640" y="4160520"/>
            <a:ext cx="3657600" cy="731520"/>
          </a:xfrm>
          <a:prstGeom prst="rect">
            <a:avLst/>
          </a:prstGeom>
          <a:noFill/>
        </p:spPr>
        <p:txBody>
          <a:bodyPr wrap="square" lIns="0" rIns="0" tIns="0" bIns="0" anchor="t">
            <a:spAutoFit/>
          </a:bodyPr>
          <a:lstStyle/>
          <a:p>
            <a:pPr algn="l">
              <a:lnSpc>
                <a:spcPct val="110000"/>
              </a:lnSpc>
              <a:spcAft>
                <a:spcPts val="0"/>
              </a:spcAft>
            </a:pPr>
            <a:r>
              <a:rPr sz="1400" b="0" i="0">
                <a:solidFill>
                  <a:srgbClr val="5B6B82"/>
                </a:solidFill>
                <a:latin typeface="Segoe UI"/>
                <a:ea typeface="Yu Gothic"/>
              </a:rPr>
              <a:t>Âm lượng, ngôn ngữ, đổi phím điều khiển</a:t>
            </a:r>
          </a:p>
        </p:txBody>
      </p:sp>
      <p:sp>
        <p:nvSpPr>
          <p:cNvPr id="13" name="TextBox 12"/>
          <p:cNvSpPr txBox="1"/>
          <p:nvPr/>
        </p:nvSpPr>
        <p:spPr>
          <a:xfrm>
            <a:off x="4270248" y="3749039"/>
            <a:ext cx="3657600" cy="365760"/>
          </a:xfrm>
          <a:prstGeom prst="rect">
            <a:avLst/>
          </a:prstGeom>
          <a:noFill/>
        </p:spPr>
        <p:txBody>
          <a:bodyPr wrap="square" lIns="0" rIns="0" tIns="0" bIns="0" anchor="t">
            <a:spAutoFit/>
          </a:bodyPr>
          <a:lstStyle/>
          <a:p>
            <a:pPr algn="l">
              <a:lnSpc>
                <a:spcPct val="110000"/>
              </a:lnSpc>
              <a:spcAft>
                <a:spcPts val="0"/>
              </a:spcAft>
            </a:pPr>
            <a:r>
              <a:rPr sz="1800" b="0" i="0">
                <a:solidFill>
                  <a:srgbClr val="14213D"/>
                </a:solidFill>
                <a:latin typeface="Segoe UI Semibold"/>
                <a:ea typeface="Yu Gothic"/>
              </a:rPr>
              <a:t>Hồ sơ</a:t>
            </a:r>
          </a:p>
        </p:txBody>
      </p:sp>
      <p:sp>
        <p:nvSpPr>
          <p:cNvPr id="14" name="TextBox 13"/>
          <p:cNvSpPr txBox="1"/>
          <p:nvPr/>
        </p:nvSpPr>
        <p:spPr>
          <a:xfrm>
            <a:off x="4270248" y="4160520"/>
            <a:ext cx="3657600" cy="731520"/>
          </a:xfrm>
          <a:prstGeom prst="rect">
            <a:avLst/>
          </a:prstGeom>
          <a:noFill/>
        </p:spPr>
        <p:txBody>
          <a:bodyPr wrap="square" lIns="0" rIns="0" tIns="0" bIns="0" anchor="t">
            <a:spAutoFit/>
          </a:bodyPr>
          <a:lstStyle/>
          <a:p>
            <a:pPr algn="l">
              <a:lnSpc>
                <a:spcPct val="110000"/>
              </a:lnSpc>
              <a:spcAft>
                <a:spcPts val="0"/>
              </a:spcAft>
            </a:pPr>
            <a:r>
              <a:rPr sz="1400" b="0" i="0">
                <a:solidFill>
                  <a:srgbClr val="5B6B82"/>
                </a:solidFill>
                <a:latin typeface="Segoe UI"/>
                <a:ea typeface="Yu Gothic"/>
              </a:rPr>
              <a:t>Cấp độ, XP, tình huống đã hoàn thành</a:t>
            </a:r>
          </a:p>
        </p:txBody>
      </p:sp>
      <p:sp>
        <p:nvSpPr>
          <p:cNvPr id="15" name="TextBox 14"/>
          <p:cNvSpPr txBox="1"/>
          <p:nvPr/>
        </p:nvSpPr>
        <p:spPr>
          <a:xfrm>
            <a:off x="7982712" y="3749039"/>
            <a:ext cx="3657600" cy="365760"/>
          </a:xfrm>
          <a:prstGeom prst="rect">
            <a:avLst/>
          </a:prstGeom>
          <a:noFill/>
        </p:spPr>
        <p:txBody>
          <a:bodyPr wrap="square" lIns="0" rIns="0" tIns="0" bIns="0" anchor="t">
            <a:spAutoFit/>
          </a:bodyPr>
          <a:lstStyle/>
          <a:p>
            <a:pPr algn="l">
              <a:lnSpc>
                <a:spcPct val="110000"/>
              </a:lnSpc>
              <a:spcAft>
                <a:spcPts val="0"/>
              </a:spcAft>
            </a:pPr>
            <a:r>
              <a:rPr sz="1800" b="0" i="0">
                <a:solidFill>
                  <a:srgbClr val="14213D"/>
                </a:solidFill>
                <a:latin typeface="Segoe UI Semibold"/>
                <a:ea typeface="Yu Gothic"/>
              </a:rPr>
              <a:t>Về tôi</a:t>
            </a:r>
          </a:p>
        </p:txBody>
      </p:sp>
      <p:sp>
        <p:nvSpPr>
          <p:cNvPr id="16" name="TextBox 15"/>
          <p:cNvSpPr txBox="1"/>
          <p:nvPr/>
        </p:nvSpPr>
        <p:spPr>
          <a:xfrm>
            <a:off x="7982712" y="4160520"/>
            <a:ext cx="3657600" cy="731520"/>
          </a:xfrm>
          <a:prstGeom prst="rect">
            <a:avLst/>
          </a:prstGeom>
          <a:noFill/>
        </p:spPr>
        <p:txBody>
          <a:bodyPr wrap="square" lIns="0" rIns="0" tIns="0" bIns="0" anchor="t">
            <a:spAutoFit/>
          </a:bodyPr>
          <a:lstStyle/>
          <a:p>
            <a:pPr algn="l">
              <a:lnSpc>
                <a:spcPct val="110000"/>
              </a:lnSpc>
              <a:spcAft>
                <a:spcPts val="0"/>
              </a:spcAft>
            </a:pPr>
            <a:r>
              <a:rPr sz="1400" b="0" i="0">
                <a:solidFill>
                  <a:srgbClr val="5B6B82"/>
                </a:solidFill>
                <a:latin typeface="Segoe UI"/>
                <a:ea typeface="Yu Gothic"/>
              </a:rPr>
              <a:t>Tác giả, thư viện ảnh, nguồn tài nguyên</a:t>
            </a:r>
          </a:p>
        </p:txBody>
      </p:sp>
      <p:sp>
        <p:nvSpPr>
          <p:cNvPr id="17" name="TextBox 16"/>
          <p:cNvSpPr txBox="1"/>
          <p:nvPr/>
        </p:nvSpPr>
        <p:spPr>
          <a:xfrm>
            <a:off x="548640" y="5029200"/>
            <a:ext cx="11064240" cy="1097280"/>
          </a:xfrm>
          <a:prstGeom prst="rect">
            <a:avLst/>
          </a:prstGeom>
          <a:noFill/>
        </p:spPr>
        <p:txBody>
          <a:bodyPr wrap="square" lIns="0" rIns="0" tIns="0" bIns="0">
            <a:spAutoFit/>
          </a:bodyPr>
          <a:lstStyle/>
          <a:p>
            <a:pPr marL="256032" indent="-256032">
              <a:lnSpc>
                <a:spcPct val="110000"/>
              </a:lnSpc>
              <a:spcAft>
                <a:spcPts val="800"/>
              </a:spcAft>
              <a:buClr>
                <a:srgbClr val="F2B233"/>
              </a:buClr>
              <a:buFont typeface="Arial"/>
              <a:buChar char="●"/>
            </a:pPr>
            <a:r>
              <a:rPr b="1" sz="1400">
                <a:solidFill>
                  <a:srgbClr val="14213D"/>
                </a:solidFill>
                <a:latin typeface="Segoe UI Semibold"/>
              </a:rPr>
              <a:t>Online:  </a:t>
            </a:r>
            <a:r>
              <a:rPr sz="1400">
                <a:solidFill>
                  <a:srgbClr val="22304A"/>
                </a:solidFill>
                <a:latin typeface="Segoe UI"/>
                <a:ea typeface="Yu Gothic"/>
              </a:rPr>
              <a:t>đăng nhập, bạn bè, xếp hạng, chat và co-op học cùng bạn qua Supabase; game vẫn chơi đầy đủ ở chế độ offline.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03 · GAMEPLAY &amp; UI</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Con số nổi bật</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21</a:t>
            </a:r>
          </a:p>
        </p:txBody>
      </p:sp>
      <p:sp>
        <p:nvSpPr>
          <p:cNvPr id="8" name="Rounded Rectangle 7"/>
          <p:cNvSpPr/>
          <p:nvPr/>
        </p:nvSpPr>
        <p:spPr>
          <a:xfrm>
            <a:off x="548640" y="1600200"/>
            <a:ext cx="3474720" cy="20574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83080"/>
            <a:ext cx="2926080" cy="1005840"/>
          </a:xfrm>
          <a:prstGeom prst="rect">
            <a:avLst/>
          </a:prstGeom>
          <a:noFill/>
        </p:spPr>
        <p:txBody>
          <a:bodyPr wrap="square" lIns="0" rIns="0" tIns="0" bIns="0" anchor="t">
            <a:spAutoFit/>
          </a:bodyPr>
          <a:lstStyle/>
          <a:p>
            <a:pPr algn="l">
              <a:lnSpc>
                <a:spcPct val="110000"/>
              </a:lnSpc>
              <a:spcAft>
                <a:spcPts val="0"/>
              </a:spcAft>
            </a:pPr>
            <a:r>
              <a:rPr sz="5600" b="0" i="0">
                <a:solidFill>
                  <a:srgbClr val="F2B233"/>
                </a:solidFill>
                <a:latin typeface="Segoe UI Semibold"/>
                <a:ea typeface="Yu Gothic"/>
              </a:rPr>
              <a:t>6</a:t>
            </a:r>
          </a:p>
        </p:txBody>
      </p:sp>
      <p:sp>
        <p:nvSpPr>
          <p:cNvPr id="10" name="TextBox 9"/>
          <p:cNvSpPr txBox="1"/>
          <p:nvPr/>
        </p:nvSpPr>
        <p:spPr>
          <a:xfrm>
            <a:off x="868680" y="2788920"/>
            <a:ext cx="2926080" cy="731520"/>
          </a:xfrm>
          <a:prstGeom prst="rect">
            <a:avLst/>
          </a:prstGeom>
          <a:noFill/>
        </p:spPr>
        <p:txBody>
          <a:bodyPr wrap="square" lIns="0" rIns="0" tIns="0" bIns="0" anchor="t">
            <a:spAutoFit/>
          </a:bodyPr>
          <a:lstStyle/>
          <a:p>
            <a:pPr algn="l">
              <a:lnSpc>
                <a:spcPct val="110000"/>
              </a:lnSpc>
              <a:spcAft>
                <a:spcPts val="0"/>
              </a:spcAft>
            </a:pPr>
            <a:r>
              <a:rPr sz="1400" b="0" i="0">
                <a:solidFill>
                  <a:srgbClr val="E3E9F3"/>
                </a:solidFill>
                <a:latin typeface="Segoe UI"/>
                <a:ea typeface="Yu Gothic"/>
              </a:rPr>
              <a:t>scene chơi được
Menu · Phố · Phòng · Ga · Sushi · Trường</a:t>
            </a:r>
          </a:p>
        </p:txBody>
      </p:sp>
      <p:sp>
        <p:nvSpPr>
          <p:cNvPr id="11" name="Rounded Rectangle 10"/>
          <p:cNvSpPr/>
          <p:nvPr/>
        </p:nvSpPr>
        <p:spPr>
          <a:xfrm>
            <a:off x="4297679" y="1600200"/>
            <a:ext cx="3474720" cy="205740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19" y="1783080"/>
            <a:ext cx="2926080" cy="1005840"/>
          </a:xfrm>
          <a:prstGeom prst="rect">
            <a:avLst/>
          </a:prstGeom>
          <a:noFill/>
        </p:spPr>
        <p:txBody>
          <a:bodyPr wrap="square" lIns="0" rIns="0" tIns="0" bIns="0" anchor="t">
            <a:spAutoFit/>
          </a:bodyPr>
          <a:lstStyle/>
          <a:p>
            <a:pPr algn="l">
              <a:lnSpc>
                <a:spcPct val="110000"/>
              </a:lnSpc>
              <a:spcAft>
                <a:spcPts val="0"/>
              </a:spcAft>
            </a:pPr>
            <a:r>
              <a:rPr sz="5600" b="0" i="0">
                <a:solidFill>
                  <a:srgbClr val="14213D"/>
                </a:solidFill>
                <a:latin typeface="Segoe UI Semibold"/>
                <a:ea typeface="Yu Gothic"/>
              </a:rPr>
              <a:t>14</a:t>
            </a:r>
          </a:p>
        </p:txBody>
      </p:sp>
      <p:sp>
        <p:nvSpPr>
          <p:cNvPr id="13" name="TextBox 12"/>
          <p:cNvSpPr txBox="1"/>
          <p:nvPr/>
        </p:nvSpPr>
        <p:spPr>
          <a:xfrm>
            <a:off x="4617719" y="2788920"/>
            <a:ext cx="2926080" cy="731520"/>
          </a:xfrm>
          <a:prstGeom prst="rect">
            <a:avLst/>
          </a:prstGeom>
          <a:noFill/>
        </p:spPr>
        <p:txBody>
          <a:bodyPr wrap="square" lIns="0" rIns="0" tIns="0" bIns="0" anchor="t">
            <a:spAutoFit/>
          </a:bodyPr>
          <a:lstStyle/>
          <a:p>
            <a:pPr algn="l">
              <a:lnSpc>
                <a:spcPct val="110000"/>
              </a:lnSpc>
              <a:spcAft>
                <a:spcPts val="0"/>
              </a:spcAft>
            </a:pPr>
            <a:r>
              <a:rPr sz="1400" b="0" i="0">
                <a:solidFill>
                  <a:srgbClr val="22304A"/>
                </a:solidFill>
                <a:latin typeface="Segoe UI"/>
                <a:ea typeface="Yu Gothic"/>
              </a:rPr>
              <a:t>tình huống học tập
(scenario N5)</a:t>
            </a:r>
          </a:p>
        </p:txBody>
      </p:sp>
      <p:sp>
        <p:nvSpPr>
          <p:cNvPr id="14" name="Rounded Rectangle 13"/>
          <p:cNvSpPr/>
          <p:nvPr/>
        </p:nvSpPr>
        <p:spPr>
          <a:xfrm>
            <a:off x="8046719" y="1600200"/>
            <a:ext cx="3474720" cy="20574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59" y="1783080"/>
            <a:ext cx="2926080" cy="1005840"/>
          </a:xfrm>
          <a:prstGeom prst="rect">
            <a:avLst/>
          </a:prstGeom>
          <a:noFill/>
        </p:spPr>
        <p:txBody>
          <a:bodyPr wrap="square" lIns="0" rIns="0" tIns="0" bIns="0" anchor="t">
            <a:spAutoFit/>
          </a:bodyPr>
          <a:lstStyle/>
          <a:p>
            <a:pPr algn="l">
              <a:lnSpc>
                <a:spcPct val="110000"/>
              </a:lnSpc>
              <a:spcAft>
                <a:spcPts val="0"/>
              </a:spcAft>
            </a:pPr>
            <a:r>
              <a:rPr sz="5600" b="0" i="0">
                <a:solidFill>
                  <a:srgbClr val="F2B233"/>
                </a:solidFill>
                <a:latin typeface="Segoe UI Semibold"/>
                <a:ea typeface="Yu Gothic"/>
              </a:rPr>
              <a:t>3</a:t>
            </a:r>
          </a:p>
        </p:txBody>
      </p:sp>
      <p:sp>
        <p:nvSpPr>
          <p:cNvPr id="16" name="TextBox 15"/>
          <p:cNvSpPr txBox="1"/>
          <p:nvPr/>
        </p:nvSpPr>
        <p:spPr>
          <a:xfrm>
            <a:off x="8366759" y="2788920"/>
            <a:ext cx="2926080" cy="731520"/>
          </a:xfrm>
          <a:prstGeom prst="rect">
            <a:avLst/>
          </a:prstGeom>
          <a:noFill/>
        </p:spPr>
        <p:txBody>
          <a:bodyPr wrap="square" lIns="0" rIns="0" tIns="0" bIns="0" anchor="t">
            <a:spAutoFit/>
          </a:bodyPr>
          <a:lstStyle/>
          <a:p>
            <a:pPr algn="l">
              <a:lnSpc>
                <a:spcPct val="110000"/>
              </a:lnSpc>
              <a:spcAft>
                <a:spcPts val="0"/>
              </a:spcAft>
            </a:pPr>
            <a:r>
              <a:rPr sz="1400" b="0" i="0">
                <a:solidFill>
                  <a:srgbClr val="E3E9F3"/>
                </a:solidFill>
                <a:latin typeface="Segoe UI"/>
                <a:ea typeface="Yu Gothic"/>
              </a:rPr>
              <a:t>ngôn ngữ giao diện
VI · EN · JP</a:t>
            </a:r>
          </a:p>
        </p:txBody>
      </p:sp>
      <p:sp>
        <p:nvSpPr>
          <p:cNvPr id="17" name="Rounded Rectangle 16"/>
          <p:cNvSpPr/>
          <p:nvPr/>
        </p:nvSpPr>
        <p:spPr>
          <a:xfrm>
            <a:off x="548640" y="3931920"/>
            <a:ext cx="3474720" cy="205740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114800"/>
            <a:ext cx="2926080" cy="1005840"/>
          </a:xfrm>
          <a:prstGeom prst="rect">
            <a:avLst/>
          </a:prstGeom>
          <a:noFill/>
        </p:spPr>
        <p:txBody>
          <a:bodyPr wrap="square" lIns="0" rIns="0" tIns="0" bIns="0" anchor="t">
            <a:spAutoFit/>
          </a:bodyPr>
          <a:lstStyle/>
          <a:p>
            <a:pPr algn="l">
              <a:lnSpc>
                <a:spcPct val="110000"/>
              </a:lnSpc>
              <a:spcAft>
                <a:spcPts val="0"/>
              </a:spcAft>
            </a:pPr>
            <a:r>
              <a:rPr sz="5600" b="0" i="0">
                <a:solidFill>
                  <a:srgbClr val="14213D"/>
                </a:solidFill>
                <a:latin typeface="Segoe UI Semibold"/>
                <a:ea typeface="Yu Gothic"/>
              </a:rPr>
              <a:t>5</a:t>
            </a:r>
          </a:p>
        </p:txBody>
      </p:sp>
      <p:sp>
        <p:nvSpPr>
          <p:cNvPr id="19" name="TextBox 18"/>
          <p:cNvSpPr txBox="1"/>
          <p:nvPr/>
        </p:nvSpPr>
        <p:spPr>
          <a:xfrm>
            <a:off x="868680" y="5120640"/>
            <a:ext cx="2926080" cy="731520"/>
          </a:xfrm>
          <a:prstGeom prst="rect">
            <a:avLst/>
          </a:prstGeom>
          <a:noFill/>
        </p:spPr>
        <p:txBody>
          <a:bodyPr wrap="square" lIns="0" rIns="0" tIns="0" bIns="0" anchor="t">
            <a:spAutoFit/>
          </a:bodyPr>
          <a:lstStyle/>
          <a:p>
            <a:pPr algn="l">
              <a:lnSpc>
                <a:spcPct val="110000"/>
              </a:lnSpc>
              <a:spcAft>
                <a:spcPts val="0"/>
              </a:spcAft>
            </a:pPr>
            <a:r>
              <a:rPr sz="1400" b="0" i="0">
                <a:solidFill>
                  <a:srgbClr val="22304A"/>
                </a:solidFill>
                <a:latin typeface="Segoe UI"/>
                <a:ea typeface="Yu Gothic"/>
              </a:rPr>
              <a:t>nhóm điểm kỹ năng
mỗi tình huống</a:t>
            </a:r>
          </a:p>
        </p:txBody>
      </p:sp>
      <p:sp>
        <p:nvSpPr>
          <p:cNvPr id="20" name="Rounded Rectangle 19"/>
          <p:cNvSpPr/>
          <p:nvPr/>
        </p:nvSpPr>
        <p:spPr>
          <a:xfrm>
            <a:off x="4297679" y="3931920"/>
            <a:ext cx="3474720" cy="2057400"/>
          </a:xfrm>
          <a:prstGeom prst="roundRect">
            <a:avLst>
              <a:gd name="adj" fmla="val 8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17719" y="4114800"/>
            <a:ext cx="2926080" cy="1005840"/>
          </a:xfrm>
          <a:prstGeom prst="rect">
            <a:avLst/>
          </a:prstGeom>
          <a:noFill/>
        </p:spPr>
        <p:txBody>
          <a:bodyPr wrap="square" lIns="0" rIns="0" tIns="0" bIns="0" anchor="t">
            <a:spAutoFit/>
          </a:bodyPr>
          <a:lstStyle/>
          <a:p>
            <a:pPr algn="l">
              <a:lnSpc>
                <a:spcPct val="110000"/>
              </a:lnSpc>
              <a:spcAft>
                <a:spcPts val="0"/>
              </a:spcAft>
            </a:pPr>
            <a:r>
              <a:rPr sz="5600" b="0" i="0">
                <a:solidFill>
                  <a:srgbClr val="F2B233"/>
                </a:solidFill>
                <a:latin typeface="Segoe UI Semibold"/>
                <a:ea typeface="Yu Gothic"/>
              </a:rPr>
              <a:t>2</a:t>
            </a:r>
          </a:p>
        </p:txBody>
      </p:sp>
      <p:sp>
        <p:nvSpPr>
          <p:cNvPr id="22" name="TextBox 21"/>
          <p:cNvSpPr txBox="1"/>
          <p:nvPr/>
        </p:nvSpPr>
        <p:spPr>
          <a:xfrm>
            <a:off x="4617719" y="5120640"/>
            <a:ext cx="2926080" cy="731520"/>
          </a:xfrm>
          <a:prstGeom prst="rect">
            <a:avLst/>
          </a:prstGeom>
          <a:noFill/>
        </p:spPr>
        <p:txBody>
          <a:bodyPr wrap="square" lIns="0" rIns="0" tIns="0" bIns="0" anchor="t">
            <a:spAutoFit/>
          </a:bodyPr>
          <a:lstStyle/>
          <a:p>
            <a:pPr algn="l">
              <a:lnSpc>
                <a:spcPct val="110000"/>
              </a:lnSpc>
              <a:spcAft>
                <a:spcPts val="0"/>
              </a:spcAft>
            </a:pPr>
            <a:r>
              <a:rPr sz="1400" b="0" i="0">
                <a:solidFill>
                  <a:srgbClr val="E3E9F3"/>
                </a:solidFill>
                <a:latin typeface="Segoe UI"/>
                <a:ea typeface="Yu Gothic"/>
              </a:rPr>
              <a:t>đề luyện thi
JLPT N5 · IELTS</a:t>
            </a:r>
          </a:p>
        </p:txBody>
      </p:sp>
      <p:sp>
        <p:nvSpPr>
          <p:cNvPr id="23" name="Rounded Rectangle 22"/>
          <p:cNvSpPr/>
          <p:nvPr/>
        </p:nvSpPr>
        <p:spPr>
          <a:xfrm>
            <a:off x="8046719" y="3931920"/>
            <a:ext cx="3474720" cy="205740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59" y="4114800"/>
            <a:ext cx="2926080" cy="1005840"/>
          </a:xfrm>
          <a:prstGeom prst="rect">
            <a:avLst/>
          </a:prstGeom>
          <a:noFill/>
        </p:spPr>
        <p:txBody>
          <a:bodyPr wrap="square" lIns="0" rIns="0" tIns="0" bIns="0" anchor="t">
            <a:spAutoFit/>
          </a:bodyPr>
          <a:lstStyle/>
          <a:p>
            <a:pPr algn="l">
              <a:lnSpc>
                <a:spcPct val="110000"/>
              </a:lnSpc>
              <a:spcAft>
                <a:spcPts val="0"/>
              </a:spcAft>
            </a:pPr>
            <a:r>
              <a:rPr sz="5600" b="0" i="0">
                <a:solidFill>
                  <a:srgbClr val="14213D"/>
                </a:solidFill>
                <a:latin typeface="Segoe UI Semibold"/>
                <a:ea typeface="Yu Gothic"/>
              </a:rPr>
              <a:t>5/5</a:t>
            </a:r>
          </a:p>
        </p:txBody>
      </p:sp>
      <p:sp>
        <p:nvSpPr>
          <p:cNvPr id="25" name="TextBox 24"/>
          <p:cNvSpPr txBox="1"/>
          <p:nvPr/>
        </p:nvSpPr>
        <p:spPr>
          <a:xfrm>
            <a:off x="8366759" y="5120640"/>
            <a:ext cx="2926080" cy="731520"/>
          </a:xfrm>
          <a:prstGeom prst="rect">
            <a:avLst/>
          </a:prstGeom>
          <a:noFill/>
        </p:spPr>
        <p:txBody>
          <a:bodyPr wrap="square" lIns="0" rIns="0" tIns="0" bIns="0" anchor="t">
            <a:spAutoFit/>
          </a:bodyPr>
          <a:lstStyle/>
          <a:p>
            <a:pPr algn="l">
              <a:lnSpc>
                <a:spcPct val="110000"/>
              </a:lnSpc>
              <a:spcAft>
                <a:spcPts val="0"/>
              </a:spcAft>
            </a:pPr>
            <a:r>
              <a:rPr sz="1400" b="0" i="0">
                <a:solidFill>
                  <a:srgbClr val="22304A"/>
                </a:solidFill>
                <a:latin typeface="Segoe UI"/>
                <a:ea typeface="Yu Gothic"/>
              </a:rPr>
              <a:t>test Play Mode
tự động đạt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pic>
        <p:nvPicPr>
          <p:cNvPr id="2" name="Picture 1" descr="logo_dark.png"/>
          <p:cNvPicPr>
            <a:picLocks noChangeAspect="1"/>
          </p:cNvPicPr>
          <p:nvPr/>
        </p:nvPicPr>
        <p:blipFill>
          <a:blip r:embed="rId2"/>
          <a:stretch>
            <a:fillRect/>
          </a:stretch>
        </p:blipFill>
        <p:spPr>
          <a:xfrm>
            <a:off x="640080" y="548640"/>
            <a:ext cx="2040940" cy="566928"/>
          </a:xfrm>
          <a:prstGeom prst="rect">
            <a:avLst/>
          </a:prstGeom>
        </p:spPr>
      </p:pic>
      <p:sp>
        <p:nvSpPr>
          <p:cNvPr id="3" name="TextBox 2"/>
          <p:cNvSpPr txBox="1"/>
          <p:nvPr/>
        </p:nvSpPr>
        <p:spPr>
          <a:xfrm>
            <a:off x="640080" y="2057400"/>
            <a:ext cx="5486400" cy="1463040"/>
          </a:xfrm>
          <a:prstGeom prst="rect">
            <a:avLst/>
          </a:prstGeom>
          <a:noFill/>
        </p:spPr>
        <p:txBody>
          <a:bodyPr wrap="square" lIns="0" rIns="0" tIns="0" bIns="0" anchor="t">
            <a:spAutoFit/>
          </a:bodyPr>
          <a:lstStyle/>
          <a:p>
            <a:pPr algn="l">
              <a:lnSpc>
                <a:spcPct val="110000"/>
              </a:lnSpc>
              <a:spcAft>
                <a:spcPts val="0"/>
              </a:spcAft>
            </a:pPr>
            <a:r>
              <a:rPr sz="11000" b="0" i="0">
                <a:solidFill>
                  <a:srgbClr val="F2B233"/>
                </a:solidFill>
                <a:latin typeface="Segoe UI Semibold"/>
                <a:ea typeface="Yu Gothic"/>
              </a:rPr>
              <a:t>04</a:t>
            </a:r>
          </a:p>
        </p:txBody>
      </p:sp>
      <p:sp>
        <p:nvSpPr>
          <p:cNvPr id="4" name="TextBox 3"/>
          <p:cNvSpPr txBox="1"/>
          <p:nvPr/>
        </p:nvSpPr>
        <p:spPr>
          <a:xfrm>
            <a:off x="640080" y="3611880"/>
            <a:ext cx="5486400" cy="1280160"/>
          </a:xfrm>
          <a:prstGeom prst="rect">
            <a:avLst/>
          </a:prstGeom>
          <a:noFill/>
        </p:spPr>
        <p:txBody>
          <a:bodyPr wrap="square" lIns="0" rIns="0" tIns="0" bIns="0" anchor="t">
            <a:spAutoFit/>
          </a:bodyPr>
          <a:lstStyle/>
          <a:p>
            <a:pPr algn="l">
              <a:lnSpc>
                <a:spcPct val="110000"/>
              </a:lnSpc>
              <a:spcAft>
                <a:spcPts val="0"/>
              </a:spcAft>
            </a:pPr>
            <a:r>
              <a:rPr sz="4000" b="0" i="0">
                <a:solidFill>
                  <a:srgbClr val="FFFFFF"/>
                </a:solidFill>
                <a:latin typeface="Segoe UI Semibold"/>
                <a:ea typeface="Yu Gothic"/>
              </a:rPr>
              <a:t>Công cụ làm game</a:t>
            </a:r>
          </a:p>
        </p:txBody>
      </p:sp>
      <p:sp>
        <p:nvSpPr>
          <p:cNvPr id="5" name="TextBox 4"/>
          <p:cNvSpPr txBox="1"/>
          <p:nvPr/>
        </p:nvSpPr>
        <p:spPr>
          <a:xfrm>
            <a:off x="640080" y="4800600"/>
            <a:ext cx="5303520" cy="914400"/>
          </a:xfrm>
          <a:prstGeom prst="rect">
            <a:avLst/>
          </a:prstGeom>
          <a:noFill/>
        </p:spPr>
        <p:txBody>
          <a:bodyPr wrap="square" lIns="0" rIns="0" tIns="0" bIns="0" anchor="t">
            <a:spAutoFit/>
          </a:bodyPr>
          <a:lstStyle/>
          <a:p>
            <a:pPr algn="l">
              <a:lnSpc>
                <a:spcPct val="110000"/>
              </a:lnSpc>
              <a:spcAft>
                <a:spcPts val="0"/>
              </a:spcAft>
            </a:pPr>
            <a:r>
              <a:rPr sz="1600" b="0" i="0">
                <a:solidFill>
                  <a:srgbClr val="C8D3E6"/>
                </a:solidFill>
                <a:latin typeface="Segoe UI"/>
                <a:ea typeface="Yu Gothic"/>
              </a:rPr>
              <a:t>Engine, ngôn ngữ, dữ liệu và dịch vụ được dùng để xây dựng NihongoLife.</a:t>
            </a:r>
          </a:p>
        </p:txBody>
      </p:sp>
      <p:sp>
        <p:nvSpPr>
          <p:cNvPr id="6" name="TextBox 5"/>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8FA0BC"/>
                </a:solidFill>
                <a:latin typeface="Segoe UI Semibold"/>
                <a:ea typeface="Yu Gothic"/>
              </a:rPr>
              <a:t>22</a:t>
            </a:r>
          </a:p>
        </p:txBody>
      </p:sp>
      <p:pic>
        <p:nvPicPr>
          <p:cNvPr id="7" name="Picture 6" descr="04_konbini_shelves.png"/>
          <p:cNvPicPr>
            <a:picLocks noChangeAspect="1"/>
          </p:cNvPicPr>
          <p:nvPr/>
        </p:nvPicPr>
        <p:blipFill>
          <a:blip r:embed="rId4"/>
          <a:srcRect l="27500" r="27500"/>
          <a:stretch>
            <a:fillRect/>
          </a:stretch>
        </p:blipFill>
        <p:spPr>
          <a:xfrm>
            <a:off x="6705295" y="0"/>
            <a:ext cx="54864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04 · CÔNG CỤ LÀM GAME</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Công nghệ sử dụng</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23</a:t>
            </a:r>
          </a:p>
        </p:txBody>
      </p:sp>
      <p:sp>
        <p:nvSpPr>
          <p:cNvPr id="8" name="Rounded Rectangle 7"/>
          <p:cNvSpPr/>
          <p:nvPr/>
        </p:nvSpPr>
        <p:spPr>
          <a:xfrm>
            <a:off x="548640" y="1600200"/>
            <a:ext cx="2606040" cy="210312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59" y="1874519"/>
            <a:ext cx="640080" cy="640080"/>
          </a:xfrm>
          <a:prstGeom prst="roundRect">
            <a:avLst>
              <a:gd name="adj" fmla="val 25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874519"/>
            <a:ext cx="640080" cy="640080"/>
          </a:xfrm>
          <a:prstGeom prst="rect">
            <a:avLst/>
          </a:prstGeom>
          <a:noFill/>
        </p:spPr>
        <p:txBody>
          <a:bodyPr wrap="square" lIns="0" rIns="0" tIns="0" bIns="0" anchor="ctr">
            <a:spAutoFit/>
          </a:bodyPr>
          <a:lstStyle/>
          <a:p>
            <a:pPr algn="ctr">
              <a:lnSpc>
                <a:spcPct val="110000"/>
              </a:lnSpc>
              <a:spcAft>
                <a:spcPts val="0"/>
              </a:spcAft>
            </a:pPr>
            <a:r>
              <a:rPr sz="2200" b="0" i="0">
                <a:solidFill>
                  <a:srgbClr val="FFFFFF"/>
                </a:solidFill>
                <a:latin typeface="Segoe UI Semibold"/>
                <a:ea typeface="Yu Gothic"/>
              </a:rPr>
              <a:t>U</a:t>
            </a:r>
          </a:p>
        </p:txBody>
      </p:sp>
      <p:sp>
        <p:nvSpPr>
          <p:cNvPr id="11" name="TextBox 10"/>
          <p:cNvSpPr txBox="1"/>
          <p:nvPr/>
        </p:nvSpPr>
        <p:spPr>
          <a:xfrm>
            <a:off x="822959" y="2606040"/>
            <a:ext cx="2194560" cy="411480"/>
          </a:xfrm>
          <a:prstGeom prst="rect">
            <a:avLst/>
          </a:prstGeom>
          <a:noFill/>
        </p:spPr>
        <p:txBody>
          <a:bodyPr wrap="square" lIns="0" rIns="0" tIns="0" bIns="0" anchor="t">
            <a:spAutoFit/>
          </a:bodyPr>
          <a:lstStyle/>
          <a:p>
            <a:pPr algn="l">
              <a:lnSpc>
                <a:spcPct val="110000"/>
              </a:lnSpc>
              <a:spcAft>
                <a:spcPts val="0"/>
              </a:spcAft>
            </a:pPr>
            <a:r>
              <a:rPr sz="1400" b="0" i="0">
                <a:solidFill>
                  <a:srgbClr val="14213D"/>
                </a:solidFill>
                <a:latin typeface="Segoe UI Semibold"/>
                <a:ea typeface="Yu Gothic"/>
              </a:rPr>
              <a:t>Unity 6 · URP</a:t>
            </a:r>
          </a:p>
        </p:txBody>
      </p:sp>
      <p:sp>
        <p:nvSpPr>
          <p:cNvPr id="12" name="TextBox 11"/>
          <p:cNvSpPr txBox="1"/>
          <p:nvPr/>
        </p:nvSpPr>
        <p:spPr>
          <a:xfrm>
            <a:off x="822959" y="3017520"/>
            <a:ext cx="2194560" cy="640080"/>
          </a:xfrm>
          <a:prstGeom prst="rect">
            <a:avLst/>
          </a:prstGeom>
          <a:noFill/>
        </p:spPr>
        <p:txBody>
          <a:bodyPr wrap="square" lIns="0" rIns="0" tIns="0" bIns="0" anchor="t">
            <a:spAutoFit/>
          </a:bodyPr>
          <a:lstStyle/>
          <a:p>
            <a:pPr algn="l">
              <a:lnSpc>
                <a:spcPct val="110000"/>
              </a:lnSpc>
              <a:spcAft>
                <a:spcPts val="0"/>
              </a:spcAft>
            </a:pPr>
            <a:r>
              <a:rPr sz="1200" b="0" i="0">
                <a:solidFill>
                  <a:srgbClr val="5B6B82"/>
                </a:solidFill>
                <a:latin typeface="Segoe UI"/>
                <a:ea typeface="Yu Gothic"/>
              </a:rPr>
              <a:t>Engine 3D và render pipeline (6000.3.12f1)</a:t>
            </a:r>
          </a:p>
        </p:txBody>
      </p:sp>
      <p:sp>
        <p:nvSpPr>
          <p:cNvPr id="13" name="Rounded Rectangle 12"/>
          <p:cNvSpPr/>
          <p:nvPr/>
        </p:nvSpPr>
        <p:spPr>
          <a:xfrm>
            <a:off x="3355848" y="1600200"/>
            <a:ext cx="2606040" cy="210312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30168" y="1874519"/>
            <a:ext cx="640080" cy="640080"/>
          </a:xfrm>
          <a:prstGeom prst="roundRect">
            <a:avLst>
              <a:gd name="adj" fmla="val 25000"/>
            </a:avLst>
          </a:prstGeom>
          <a:solidFill>
            <a:srgbClr val="5B2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0168" y="1874519"/>
            <a:ext cx="640080" cy="640080"/>
          </a:xfrm>
          <a:prstGeom prst="rect">
            <a:avLst/>
          </a:prstGeom>
          <a:noFill/>
        </p:spPr>
        <p:txBody>
          <a:bodyPr wrap="square" lIns="0" rIns="0" tIns="0" bIns="0" anchor="ctr">
            <a:spAutoFit/>
          </a:bodyPr>
          <a:lstStyle/>
          <a:p>
            <a:pPr algn="ctr">
              <a:lnSpc>
                <a:spcPct val="110000"/>
              </a:lnSpc>
              <a:spcAft>
                <a:spcPts val="0"/>
              </a:spcAft>
            </a:pPr>
            <a:r>
              <a:rPr sz="2200" b="0" i="0">
                <a:solidFill>
                  <a:srgbClr val="FFFFFF"/>
                </a:solidFill>
                <a:latin typeface="Segoe UI Semibold"/>
                <a:ea typeface="Yu Gothic"/>
              </a:rPr>
              <a:t>C</a:t>
            </a:r>
          </a:p>
        </p:txBody>
      </p:sp>
      <p:sp>
        <p:nvSpPr>
          <p:cNvPr id="16" name="TextBox 15"/>
          <p:cNvSpPr txBox="1"/>
          <p:nvPr/>
        </p:nvSpPr>
        <p:spPr>
          <a:xfrm>
            <a:off x="3630168" y="2606040"/>
            <a:ext cx="2194560" cy="411480"/>
          </a:xfrm>
          <a:prstGeom prst="rect">
            <a:avLst/>
          </a:prstGeom>
          <a:noFill/>
        </p:spPr>
        <p:txBody>
          <a:bodyPr wrap="square" lIns="0" rIns="0" tIns="0" bIns="0" anchor="t">
            <a:spAutoFit/>
          </a:bodyPr>
          <a:lstStyle/>
          <a:p>
            <a:pPr algn="l">
              <a:lnSpc>
                <a:spcPct val="110000"/>
              </a:lnSpc>
              <a:spcAft>
                <a:spcPts val="0"/>
              </a:spcAft>
            </a:pPr>
            <a:r>
              <a:rPr sz="1400" b="0" i="0">
                <a:solidFill>
                  <a:srgbClr val="14213D"/>
                </a:solidFill>
                <a:latin typeface="Segoe UI Semibold"/>
                <a:ea typeface="Yu Gothic"/>
              </a:rPr>
              <a:t>C# / .NET</a:t>
            </a:r>
          </a:p>
        </p:txBody>
      </p:sp>
      <p:sp>
        <p:nvSpPr>
          <p:cNvPr id="17" name="TextBox 16"/>
          <p:cNvSpPr txBox="1"/>
          <p:nvPr/>
        </p:nvSpPr>
        <p:spPr>
          <a:xfrm>
            <a:off x="3630168" y="3017520"/>
            <a:ext cx="2194560" cy="640080"/>
          </a:xfrm>
          <a:prstGeom prst="rect">
            <a:avLst/>
          </a:prstGeom>
          <a:noFill/>
        </p:spPr>
        <p:txBody>
          <a:bodyPr wrap="square" lIns="0" rIns="0" tIns="0" bIns="0" anchor="t">
            <a:spAutoFit/>
          </a:bodyPr>
          <a:lstStyle/>
          <a:p>
            <a:pPr algn="l">
              <a:lnSpc>
                <a:spcPct val="110000"/>
              </a:lnSpc>
              <a:spcAft>
                <a:spcPts val="0"/>
              </a:spcAft>
            </a:pPr>
            <a:r>
              <a:rPr sz="1200" b="0" i="0">
                <a:solidFill>
                  <a:srgbClr val="5B6B82"/>
                </a:solidFill>
                <a:latin typeface="Segoe UI"/>
                <a:ea typeface="Yu Gothic"/>
              </a:rPr>
              <a:t>Toàn bộ gameplay, UI và dịch vụ</a:t>
            </a:r>
          </a:p>
        </p:txBody>
      </p:sp>
      <p:sp>
        <p:nvSpPr>
          <p:cNvPr id="18" name="Rounded Rectangle 17"/>
          <p:cNvSpPr/>
          <p:nvPr/>
        </p:nvSpPr>
        <p:spPr>
          <a:xfrm>
            <a:off x="6163055" y="1600200"/>
            <a:ext cx="2606040" cy="210312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37375" y="1874519"/>
            <a:ext cx="640080" cy="640080"/>
          </a:xfrm>
          <a:prstGeom prst="roundRect">
            <a:avLst>
              <a:gd name="adj" fmla="val 25000"/>
            </a:avLst>
          </a:prstGeom>
          <a:solidFill>
            <a:srgbClr val="98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5" y="1874519"/>
            <a:ext cx="640080" cy="640080"/>
          </a:xfrm>
          <a:prstGeom prst="rect">
            <a:avLst/>
          </a:prstGeom>
          <a:noFill/>
        </p:spPr>
        <p:txBody>
          <a:bodyPr wrap="square" lIns="0" rIns="0" tIns="0" bIns="0" anchor="ctr">
            <a:spAutoFit/>
          </a:bodyPr>
          <a:lstStyle/>
          <a:p>
            <a:pPr algn="ctr">
              <a:lnSpc>
                <a:spcPct val="110000"/>
              </a:lnSpc>
              <a:spcAft>
                <a:spcPts val="0"/>
              </a:spcAft>
            </a:pPr>
            <a:r>
              <a:rPr sz="2200" b="0" i="0">
                <a:solidFill>
                  <a:srgbClr val="FFFFFF"/>
                </a:solidFill>
                <a:latin typeface="Segoe UI Semibold"/>
                <a:ea typeface="Yu Gothic"/>
              </a:rPr>
              <a:t>S</a:t>
            </a:r>
          </a:p>
        </p:txBody>
      </p:sp>
      <p:sp>
        <p:nvSpPr>
          <p:cNvPr id="21" name="TextBox 20"/>
          <p:cNvSpPr txBox="1"/>
          <p:nvPr/>
        </p:nvSpPr>
        <p:spPr>
          <a:xfrm>
            <a:off x="6437375" y="2606040"/>
            <a:ext cx="2194560" cy="411480"/>
          </a:xfrm>
          <a:prstGeom prst="rect">
            <a:avLst/>
          </a:prstGeom>
          <a:noFill/>
        </p:spPr>
        <p:txBody>
          <a:bodyPr wrap="square" lIns="0" rIns="0" tIns="0" bIns="0" anchor="t">
            <a:spAutoFit/>
          </a:bodyPr>
          <a:lstStyle/>
          <a:p>
            <a:pPr algn="l">
              <a:lnSpc>
                <a:spcPct val="110000"/>
              </a:lnSpc>
              <a:spcAft>
                <a:spcPts val="0"/>
              </a:spcAft>
            </a:pPr>
            <a:r>
              <a:rPr sz="1400" b="0" i="0">
                <a:solidFill>
                  <a:srgbClr val="14213D"/>
                </a:solidFill>
                <a:latin typeface="Segoe UI Semibold"/>
                <a:ea typeface="Yu Gothic"/>
              </a:rPr>
              <a:t>ScriptableObject</a:t>
            </a:r>
          </a:p>
        </p:txBody>
      </p:sp>
      <p:sp>
        <p:nvSpPr>
          <p:cNvPr id="22" name="TextBox 21"/>
          <p:cNvSpPr txBox="1"/>
          <p:nvPr/>
        </p:nvSpPr>
        <p:spPr>
          <a:xfrm>
            <a:off x="6437375" y="3017520"/>
            <a:ext cx="2194560" cy="640080"/>
          </a:xfrm>
          <a:prstGeom prst="rect">
            <a:avLst/>
          </a:prstGeom>
          <a:noFill/>
        </p:spPr>
        <p:txBody>
          <a:bodyPr wrap="square" lIns="0" rIns="0" tIns="0" bIns="0" anchor="t">
            <a:spAutoFit/>
          </a:bodyPr>
          <a:lstStyle/>
          <a:p>
            <a:pPr algn="l">
              <a:lnSpc>
                <a:spcPct val="110000"/>
              </a:lnSpc>
              <a:spcAft>
                <a:spcPts val="0"/>
              </a:spcAft>
            </a:pPr>
            <a:r>
              <a:rPr sz="1200" b="0" i="0">
                <a:solidFill>
                  <a:srgbClr val="5B6B82"/>
                </a:solidFill>
                <a:latin typeface="Segoe UI"/>
                <a:ea typeface="Yu Gothic"/>
              </a:rPr>
              <a:t>Kịch bản, đề thi, thực đơn dưới dạng dữ liệu</a:t>
            </a:r>
          </a:p>
        </p:txBody>
      </p:sp>
      <p:sp>
        <p:nvSpPr>
          <p:cNvPr id="23" name="Rounded Rectangle 22"/>
          <p:cNvSpPr/>
          <p:nvPr/>
        </p:nvSpPr>
        <p:spPr>
          <a:xfrm>
            <a:off x="8970263" y="1600200"/>
            <a:ext cx="2606040" cy="210312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44584" y="1874519"/>
            <a:ext cx="640080" cy="640080"/>
          </a:xfrm>
          <a:prstGeom prst="roundRect">
            <a:avLst>
              <a:gd name="adj" fmla="val 25000"/>
            </a:avLst>
          </a:prstGeom>
          <a:solidFill>
            <a:srgbClr val="1F3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4584" y="1874519"/>
            <a:ext cx="640080" cy="640080"/>
          </a:xfrm>
          <a:prstGeom prst="rect">
            <a:avLst/>
          </a:prstGeom>
          <a:noFill/>
        </p:spPr>
        <p:txBody>
          <a:bodyPr wrap="square" lIns="0" rIns="0" tIns="0" bIns="0" anchor="ctr">
            <a:spAutoFit/>
          </a:bodyPr>
          <a:lstStyle/>
          <a:p>
            <a:pPr algn="ctr">
              <a:lnSpc>
                <a:spcPct val="110000"/>
              </a:lnSpc>
              <a:spcAft>
                <a:spcPts val="0"/>
              </a:spcAft>
            </a:pPr>
            <a:r>
              <a:rPr sz="2200" b="0" i="0">
                <a:solidFill>
                  <a:srgbClr val="FFFFFF"/>
                </a:solidFill>
                <a:latin typeface="Segoe UI Semibold"/>
                <a:ea typeface="Yu Gothic"/>
              </a:rPr>
              <a:t>E</a:t>
            </a:r>
          </a:p>
        </p:txBody>
      </p:sp>
      <p:sp>
        <p:nvSpPr>
          <p:cNvPr id="26" name="TextBox 25"/>
          <p:cNvSpPr txBox="1"/>
          <p:nvPr/>
        </p:nvSpPr>
        <p:spPr>
          <a:xfrm>
            <a:off x="9244584" y="2606040"/>
            <a:ext cx="2194560" cy="411480"/>
          </a:xfrm>
          <a:prstGeom prst="rect">
            <a:avLst/>
          </a:prstGeom>
          <a:noFill/>
        </p:spPr>
        <p:txBody>
          <a:bodyPr wrap="square" lIns="0" rIns="0" tIns="0" bIns="0" anchor="t">
            <a:spAutoFit/>
          </a:bodyPr>
          <a:lstStyle/>
          <a:p>
            <a:pPr algn="l">
              <a:lnSpc>
                <a:spcPct val="110000"/>
              </a:lnSpc>
              <a:spcAft>
                <a:spcPts val="0"/>
              </a:spcAft>
            </a:pPr>
            <a:r>
              <a:rPr sz="1400" b="0" i="0">
                <a:solidFill>
                  <a:srgbClr val="14213D"/>
                </a:solidFill>
                <a:latin typeface="Segoe UI Semibold"/>
                <a:ea typeface="Yu Gothic"/>
              </a:rPr>
              <a:t>Editor builder</a:t>
            </a:r>
          </a:p>
        </p:txBody>
      </p:sp>
      <p:sp>
        <p:nvSpPr>
          <p:cNvPr id="27" name="TextBox 26"/>
          <p:cNvSpPr txBox="1"/>
          <p:nvPr/>
        </p:nvSpPr>
        <p:spPr>
          <a:xfrm>
            <a:off x="9244584" y="3017520"/>
            <a:ext cx="2194560" cy="640080"/>
          </a:xfrm>
          <a:prstGeom prst="rect">
            <a:avLst/>
          </a:prstGeom>
          <a:noFill/>
        </p:spPr>
        <p:txBody>
          <a:bodyPr wrap="square" lIns="0" rIns="0" tIns="0" bIns="0" anchor="t">
            <a:spAutoFit/>
          </a:bodyPr>
          <a:lstStyle/>
          <a:p>
            <a:pPr algn="l">
              <a:lnSpc>
                <a:spcPct val="110000"/>
              </a:lnSpc>
              <a:spcAft>
                <a:spcPts val="0"/>
              </a:spcAft>
            </a:pPr>
            <a:r>
              <a:rPr sz="1200" b="0" i="0">
                <a:solidFill>
                  <a:srgbClr val="5B6B82"/>
                </a:solidFill>
                <a:latin typeface="Segoe UI"/>
                <a:ea typeface="Yu Gothic"/>
              </a:rPr>
              <a:t>Dựng scene bằng code, chạy batchmode</a:t>
            </a:r>
          </a:p>
        </p:txBody>
      </p:sp>
      <p:sp>
        <p:nvSpPr>
          <p:cNvPr id="28" name="Rounded Rectangle 27"/>
          <p:cNvSpPr/>
          <p:nvPr/>
        </p:nvSpPr>
        <p:spPr>
          <a:xfrm>
            <a:off x="548640" y="3931920"/>
            <a:ext cx="2606040" cy="210312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2959" y="4206240"/>
            <a:ext cx="640080" cy="640080"/>
          </a:xfrm>
          <a:prstGeom prst="roundRect">
            <a:avLst>
              <a:gd name="adj" fmla="val 25000"/>
            </a:avLst>
          </a:prstGeom>
          <a:solidFill>
            <a:srgbClr val="2E9E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59" y="4206240"/>
            <a:ext cx="640080" cy="640080"/>
          </a:xfrm>
          <a:prstGeom prst="rect">
            <a:avLst/>
          </a:prstGeom>
          <a:noFill/>
        </p:spPr>
        <p:txBody>
          <a:bodyPr wrap="square" lIns="0" rIns="0" tIns="0" bIns="0" anchor="ctr">
            <a:spAutoFit/>
          </a:bodyPr>
          <a:lstStyle/>
          <a:p>
            <a:pPr algn="ctr">
              <a:lnSpc>
                <a:spcPct val="110000"/>
              </a:lnSpc>
              <a:spcAft>
                <a:spcPts val="0"/>
              </a:spcAft>
            </a:pPr>
            <a:r>
              <a:rPr sz="2200" b="0" i="0">
                <a:solidFill>
                  <a:srgbClr val="FFFFFF"/>
                </a:solidFill>
                <a:latin typeface="Segoe UI Semibold"/>
                <a:ea typeface="Yu Gothic"/>
              </a:rPr>
              <a:t>S</a:t>
            </a:r>
          </a:p>
        </p:txBody>
      </p:sp>
      <p:sp>
        <p:nvSpPr>
          <p:cNvPr id="31" name="TextBox 30"/>
          <p:cNvSpPr txBox="1"/>
          <p:nvPr/>
        </p:nvSpPr>
        <p:spPr>
          <a:xfrm>
            <a:off x="822959" y="4937760"/>
            <a:ext cx="2194560" cy="411480"/>
          </a:xfrm>
          <a:prstGeom prst="rect">
            <a:avLst/>
          </a:prstGeom>
          <a:noFill/>
        </p:spPr>
        <p:txBody>
          <a:bodyPr wrap="square" lIns="0" rIns="0" tIns="0" bIns="0" anchor="t">
            <a:spAutoFit/>
          </a:bodyPr>
          <a:lstStyle/>
          <a:p>
            <a:pPr algn="l">
              <a:lnSpc>
                <a:spcPct val="110000"/>
              </a:lnSpc>
              <a:spcAft>
                <a:spcPts val="0"/>
              </a:spcAft>
            </a:pPr>
            <a:r>
              <a:rPr sz="1400" b="0" i="0">
                <a:solidFill>
                  <a:srgbClr val="14213D"/>
                </a:solidFill>
                <a:latin typeface="Segoe UI Semibold"/>
                <a:ea typeface="Yu Gothic"/>
              </a:rPr>
              <a:t>Supabase</a:t>
            </a:r>
          </a:p>
        </p:txBody>
      </p:sp>
      <p:sp>
        <p:nvSpPr>
          <p:cNvPr id="32" name="TextBox 31"/>
          <p:cNvSpPr txBox="1"/>
          <p:nvPr/>
        </p:nvSpPr>
        <p:spPr>
          <a:xfrm>
            <a:off x="822959" y="5349240"/>
            <a:ext cx="2194560" cy="640080"/>
          </a:xfrm>
          <a:prstGeom prst="rect">
            <a:avLst/>
          </a:prstGeom>
          <a:noFill/>
        </p:spPr>
        <p:txBody>
          <a:bodyPr wrap="square" lIns="0" rIns="0" tIns="0" bIns="0" anchor="t">
            <a:spAutoFit/>
          </a:bodyPr>
          <a:lstStyle/>
          <a:p>
            <a:pPr algn="l">
              <a:lnSpc>
                <a:spcPct val="110000"/>
              </a:lnSpc>
              <a:spcAft>
                <a:spcPts val="0"/>
              </a:spcAft>
            </a:pPr>
            <a:r>
              <a:rPr sz="1200" b="0" i="0">
                <a:solidFill>
                  <a:srgbClr val="5B6B82"/>
                </a:solidFill>
                <a:latin typeface="Segoe UI"/>
                <a:ea typeface="Yu Gothic"/>
              </a:rPr>
              <a:t>Đăng nhập, lưu tiến trình cloud, chat, xếp hạng</a:t>
            </a:r>
          </a:p>
        </p:txBody>
      </p:sp>
      <p:sp>
        <p:nvSpPr>
          <p:cNvPr id="33" name="Rounded Rectangle 32"/>
          <p:cNvSpPr/>
          <p:nvPr/>
        </p:nvSpPr>
        <p:spPr>
          <a:xfrm>
            <a:off x="3355848" y="3931920"/>
            <a:ext cx="2606040" cy="210312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630168" y="4206240"/>
            <a:ext cx="640080" cy="640080"/>
          </a:xfrm>
          <a:prstGeom prst="roundRect">
            <a:avLst>
              <a:gd name="adj" fmla="val 25000"/>
            </a:avLst>
          </a:prstGeom>
          <a:solidFill>
            <a:srgbClr val="3D6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30168" y="4206240"/>
            <a:ext cx="640080" cy="640080"/>
          </a:xfrm>
          <a:prstGeom prst="rect">
            <a:avLst/>
          </a:prstGeom>
          <a:noFill/>
        </p:spPr>
        <p:txBody>
          <a:bodyPr wrap="square" lIns="0" rIns="0" tIns="0" bIns="0" anchor="ctr">
            <a:spAutoFit/>
          </a:bodyPr>
          <a:lstStyle/>
          <a:p>
            <a:pPr algn="ctr">
              <a:lnSpc>
                <a:spcPct val="110000"/>
              </a:lnSpc>
              <a:spcAft>
                <a:spcPts val="0"/>
              </a:spcAft>
            </a:pPr>
            <a:r>
              <a:rPr sz="2200" b="0" i="0">
                <a:solidFill>
                  <a:srgbClr val="FFFFFF"/>
                </a:solidFill>
                <a:latin typeface="Segoe UI Semibold"/>
                <a:ea typeface="Yu Gothic"/>
              </a:rPr>
              <a:t>U</a:t>
            </a:r>
          </a:p>
        </p:txBody>
      </p:sp>
      <p:sp>
        <p:nvSpPr>
          <p:cNvPr id="36" name="TextBox 35"/>
          <p:cNvSpPr txBox="1"/>
          <p:nvPr/>
        </p:nvSpPr>
        <p:spPr>
          <a:xfrm>
            <a:off x="3630168" y="4937760"/>
            <a:ext cx="2194560" cy="411480"/>
          </a:xfrm>
          <a:prstGeom prst="rect">
            <a:avLst/>
          </a:prstGeom>
          <a:noFill/>
        </p:spPr>
        <p:txBody>
          <a:bodyPr wrap="square" lIns="0" rIns="0" tIns="0" bIns="0" anchor="t">
            <a:spAutoFit/>
          </a:bodyPr>
          <a:lstStyle/>
          <a:p>
            <a:pPr algn="l">
              <a:lnSpc>
                <a:spcPct val="110000"/>
              </a:lnSpc>
              <a:spcAft>
                <a:spcPts val="0"/>
              </a:spcAft>
            </a:pPr>
            <a:r>
              <a:rPr sz="1400" b="0" i="0">
                <a:solidFill>
                  <a:srgbClr val="14213D"/>
                </a:solidFill>
                <a:latin typeface="Segoe UI Semibold"/>
                <a:ea typeface="Yu Gothic"/>
              </a:rPr>
              <a:t>Unity Test Framework</a:t>
            </a:r>
          </a:p>
        </p:txBody>
      </p:sp>
      <p:sp>
        <p:nvSpPr>
          <p:cNvPr id="37" name="TextBox 36"/>
          <p:cNvSpPr txBox="1"/>
          <p:nvPr/>
        </p:nvSpPr>
        <p:spPr>
          <a:xfrm>
            <a:off x="3630168" y="5349240"/>
            <a:ext cx="2194560" cy="640080"/>
          </a:xfrm>
          <a:prstGeom prst="rect">
            <a:avLst/>
          </a:prstGeom>
          <a:noFill/>
        </p:spPr>
        <p:txBody>
          <a:bodyPr wrap="square" lIns="0" rIns="0" tIns="0" bIns="0" anchor="t">
            <a:spAutoFit/>
          </a:bodyPr>
          <a:lstStyle/>
          <a:p>
            <a:pPr algn="l">
              <a:lnSpc>
                <a:spcPct val="110000"/>
              </a:lnSpc>
              <a:spcAft>
                <a:spcPts val="0"/>
              </a:spcAft>
            </a:pPr>
            <a:r>
              <a:rPr sz="1200" b="0" i="0">
                <a:solidFill>
                  <a:srgbClr val="5B6B82"/>
                </a:solidFill>
                <a:latin typeface="Segoe UI"/>
                <a:ea typeface="Yu Gothic"/>
              </a:rPr>
              <a:t>Test Play Mode/EditMode tự động</a:t>
            </a:r>
          </a:p>
        </p:txBody>
      </p:sp>
      <p:sp>
        <p:nvSpPr>
          <p:cNvPr id="38" name="Rounded Rectangle 37"/>
          <p:cNvSpPr/>
          <p:nvPr/>
        </p:nvSpPr>
        <p:spPr>
          <a:xfrm>
            <a:off x="6163055" y="3931920"/>
            <a:ext cx="2606040" cy="210312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437375" y="4206240"/>
            <a:ext cx="640080" cy="640080"/>
          </a:xfrm>
          <a:prstGeom prst="roundRect">
            <a:avLst>
              <a:gd name="adj" fmla="val 25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7375" y="4206240"/>
            <a:ext cx="640080" cy="640080"/>
          </a:xfrm>
          <a:prstGeom prst="rect">
            <a:avLst/>
          </a:prstGeom>
          <a:noFill/>
        </p:spPr>
        <p:txBody>
          <a:bodyPr wrap="square" lIns="0" rIns="0" tIns="0" bIns="0" anchor="ctr">
            <a:spAutoFit/>
          </a:bodyPr>
          <a:lstStyle/>
          <a:p>
            <a:pPr algn="ctr">
              <a:lnSpc>
                <a:spcPct val="110000"/>
              </a:lnSpc>
              <a:spcAft>
                <a:spcPts val="0"/>
              </a:spcAft>
            </a:pPr>
            <a:r>
              <a:rPr sz="2200" b="0" i="0">
                <a:solidFill>
                  <a:srgbClr val="FFFFFF"/>
                </a:solidFill>
                <a:latin typeface="Segoe UI Semibold"/>
                <a:ea typeface="Yu Gothic"/>
              </a:rPr>
              <a:t>K</a:t>
            </a:r>
          </a:p>
        </p:txBody>
      </p:sp>
      <p:sp>
        <p:nvSpPr>
          <p:cNvPr id="41" name="TextBox 40"/>
          <p:cNvSpPr txBox="1"/>
          <p:nvPr/>
        </p:nvSpPr>
        <p:spPr>
          <a:xfrm>
            <a:off x="6437375" y="4937760"/>
            <a:ext cx="2194560" cy="411480"/>
          </a:xfrm>
          <a:prstGeom prst="rect">
            <a:avLst/>
          </a:prstGeom>
          <a:noFill/>
        </p:spPr>
        <p:txBody>
          <a:bodyPr wrap="square" lIns="0" rIns="0" tIns="0" bIns="0" anchor="t">
            <a:spAutoFit/>
          </a:bodyPr>
          <a:lstStyle/>
          <a:p>
            <a:pPr algn="l">
              <a:lnSpc>
                <a:spcPct val="110000"/>
              </a:lnSpc>
              <a:spcAft>
                <a:spcPts val="0"/>
              </a:spcAft>
            </a:pPr>
            <a:r>
              <a:rPr sz="1400" b="0" i="0">
                <a:solidFill>
                  <a:srgbClr val="14213D"/>
                </a:solidFill>
                <a:latin typeface="Segoe UI Semibold"/>
                <a:ea typeface="Yu Gothic"/>
              </a:rPr>
              <a:t>Kenney · Quaternius · Mixamo</a:t>
            </a:r>
          </a:p>
        </p:txBody>
      </p:sp>
      <p:sp>
        <p:nvSpPr>
          <p:cNvPr id="42" name="TextBox 41"/>
          <p:cNvSpPr txBox="1"/>
          <p:nvPr/>
        </p:nvSpPr>
        <p:spPr>
          <a:xfrm>
            <a:off x="6437375" y="5349240"/>
            <a:ext cx="2194560" cy="640080"/>
          </a:xfrm>
          <a:prstGeom prst="rect">
            <a:avLst/>
          </a:prstGeom>
          <a:noFill/>
        </p:spPr>
        <p:txBody>
          <a:bodyPr wrap="square" lIns="0" rIns="0" tIns="0" bIns="0" anchor="t">
            <a:spAutoFit/>
          </a:bodyPr>
          <a:lstStyle/>
          <a:p>
            <a:pPr algn="l">
              <a:lnSpc>
                <a:spcPct val="110000"/>
              </a:lnSpc>
              <a:spcAft>
                <a:spcPts val="0"/>
              </a:spcAft>
            </a:pPr>
            <a:r>
              <a:rPr sz="1200" b="0" i="0">
                <a:solidFill>
                  <a:srgbClr val="5B6B82"/>
                </a:solidFill>
                <a:latin typeface="Segoe UI"/>
                <a:ea typeface="Yu Gothic"/>
              </a:rPr>
              <a:t>Nội thất, nhà cửa, nhân vật, animation</a:t>
            </a:r>
          </a:p>
        </p:txBody>
      </p:sp>
      <p:sp>
        <p:nvSpPr>
          <p:cNvPr id="43" name="Rounded Rectangle 42"/>
          <p:cNvSpPr/>
          <p:nvPr/>
        </p:nvSpPr>
        <p:spPr>
          <a:xfrm>
            <a:off x="8970263" y="3931920"/>
            <a:ext cx="2606040" cy="2103120"/>
          </a:xfrm>
          <a:prstGeom prst="roundRect">
            <a:avLst>
              <a:gd name="adj" fmla="val 8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9244584" y="4206240"/>
            <a:ext cx="640080" cy="640080"/>
          </a:xfrm>
          <a:prstGeom prst="roundRect">
            <a:avLst>
              <a:gd name="adj" fmla="val 25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44584" y="4206240"/>
            <a:ext cx="640080" cy="640080"/>
          </a:xfrm>
          <a:prstGeom prst="rect">
            <a:avLst/>
          </a:prstGeom>
          <a:noFill/>
        </p:spPr>
        <p:txBody>
          <a:bodyPr wrap="square" lIns="0" rIns="0" tIns="0" bIns="0" anchor="ctr">
            <a:spAutoFit/>
          </a:bodyPr>
          <a:lstStyle/>
          <a:p>
            <a:pPr algn="ctr">
              <a:lnSpc>
                <a:spcPct val="110000"/>
              </a:lnSpc>
              <a:spcAft>
                <a:spcPts val="0"/>
              </a:spcAft>
            </a:pPr>
            <a:r>
              <a:rPr sz="2200" b="0" i="0">
                <a:solidFill>
                  <a:srgbClr val="FFFFFF"/>
                </a:solidFill>
                <a:latin typeface="Segoe UI Semibold"/>
                <a:ea typeface="Yu Gothic"/>
              </a:rPr>
              <a:t>G</a:t>
            </a:r>
          </a:p>
        </p:txBody>
      </p:sp>
      <p:sp>
        <p:nvSpPr>
          <p:cNvPr id="46" name="TextBox 45"/>
          <p:cNvSpPr txBox="1"/>
          <p:nvPr/>
        </p:nvSpPr>
        <p:spPr>
          <a:xfrm>
            <a:off x="9244584" y="4937760"/>
            <a:ext cx="2194560" cy="411480"/>
          </a:xfrm>
          <a:prstGeom prst="rect">
            <a:avLst/>
          </a:prstGeom>
          <a:noFill/>
        </p:spPr>
        <p:txBody>
          <a:bodyPr wrap="square" lIns="0" rIns="0" tIns="0" bIns="0" anchor="t">
            <a:spAutoFit/>
          </a:bodyPr>
          <a:lstStyle/>
          <a:p>
            <a:pPr algn="l">
              <a:lnSpc>
                <a:spcPct val="110000"/>
              </a:lnSpc>
              <a:spcAft>
                <a:spcPts val="0"/>
              </a:spcAft>
            </a:pPr>
            <a:r>
              <a:rPr sz="1400" b="0" i="0">
                <a:solidFill>
                  <a:srgbClr val="14213D"/>
                </a:solidFill>
                <a:latin typeface="Segoe UI Semibold"/>
                <a:ea typeface="Yu Gothic"/>
              </a:rPr>
              <a:t>Git · GitHub</a:t>
            </a:r>
          </a:p>
        </p:txBody>
      </p:sp>
      <p:sp>
        <p:nvSpPr>
          <p:cNvPr id="47" name="TextBox 46"/>
          <p:cNvSpPr txBox="1"/>
          <p:nvPr/>
        </p:nvSpPr>
        <p:spPr>
          <a:xfrm>
            <a:off x="9244584" y="5349240"/>
            <a:ext cx="2194560" cy="640080"/>
          </a:xfrm>
          <a:prstGeom prst="rect">
            <a:avLst/>
          </a:prstGeom>
          <a:noFill/>
        </p:spPr>
        <p:txBody>
          <a:bodyPr wrap="square" lIns="0" rIns="0" tIns="0" bIns="0" anchor="t">
            <a:spAutoFit/>
          </a:bodyPr>
          <a:lstStyle/>
          <a:p>
            <a:pPr algn="l">
              <a:lnSpc>
                <a:spcPct val="110000"/>
              </a:lnSpc>
              <a:spcAft>
                <a:spcPts val="0"/>
              </a:spcAft>
            </a:pPr>
            <a:r>
              <a:rPr sz="1200" b="0" i="0">
                <a:solidFill>
                  <a:srgbClr val="5B6B82"/>
                </a:solidFill>
                <a:latin typeface="Segoe UI"/>
                <a:ea typeface="Yu Gothic"/>
              </a:rPr>
              <a:t>Quản lý mã nguồn, làm việc nhóm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pic>
        <p:nvPicPr>
          <p:cNvPr id="2" name="Picture 1" descr="logo_dark.png"/>
          <p:cNvPicPr>
            <a:picLocks noChangeAspect="1"/>
          </p:cNvPicPr>
          <p:nvPr/>
        </p:nvPicPr>
        <p:blipFill>
          <a:blip r:embed="rId2"/>
          <a:stretch>
            <a:fillRect/>
          </a:stretch>
        </p:blipFill>
        <p:spPr>
          <a:xfrm>
            <a:off x="640080" y="548640"/>
            <a:ext cx="2040940" cy="566928"/>
          </a:xfrm>
          <a:prstGeom prst="rect">
            <a:avLst/>
          </a:prstGeom>
        </p:spPr>
      </p:pic>
      <p:sp>
        <p:nvSpPr>
          <p:cNvPr id="3" name="TextBox 2"/>
          <p:cNvSpPr txBox="1"/>
          <p:nvPr/>
        </p:nvSpPr>
        <p:spPr>
          <a:xfrm>
            <a:off x="640080" y="2057400"/>
            <a:ext cx="5486400" cy="1463040"/>
          </a:xfrm>
          <a:prstGeom prst="rect">
            <a:avLst/>
          </a:prstGeom>
          <a:noFill/>
        </p:spPr>
        <p:txBody>
          <a:bodyPr wrap="square" lIns="0" rIns="0" tIns="0" bIns="0" anchor="t">
            <a:spAutoFit/>
          </a:bodyPr>
          <a:lstStyle/>
          <a:p>
            <a:pPr algn="l">
              <a:lnSpc>
                <a:spcPct val="110000"/>
              </a:lnSpc>
              <a:spcAft>
                <a:spcPts val="0"/>
              </a:spcAft>
            </a:pPr>
            <a:r>
              <a:rPr sz="11000" b="0" i="0">
                <a:solidFill>
                  <a:srgbClr val="F2B233"/>
                </a:solidFill>
                <a:latin typeface="Segoe UI Semibold"/>
                <a:ea typeface="Yu Gothic"/>
              </a:rPr>
              <a:t>05</a:t>
            </a:r>
          </a:p>
        </p:txBody>
      </p:sp>
      <p:sp>
        <p:nvSpPr>
          <p:cNvPr id="4" name="TextBox 3"/>
          <p:cNvSpPr txBox="1"/>
          <p:nvPr/>
        </p:nvSpPr>
        <p:spPr>
          <a:xfrm>
            <a:off x="640080" y="3611880"/>
            <a:ext cx="5486400" cy="1280160"/>
          </a:xfrm>
          <a:prstGeom prst="rect">
            <a:avLst/>
          </a:prstGeom>
          <a:noFill/>
        </p:spPr>
        <p:txBody>
          <a:bodyPr wrap="square" lIns="0" rIns="0" tIns="0" bIns="0" anchor="t">
            <a:spAutoFit/>
          </a:bodyPr>
          <a:lstStyle/>
          <a:p>
            <a:pPr algn="l">
              <a:lnSpc>
                <a:spcPct val="110000"/>
              </a:lnSpc>
              <a:spcAft>
                <a:spcPts val="0"/>
              </a:spcAft>
            </a:pPr>
            <a:r>
              <a:rPr sz="4000" b="0" i="0">
                <a:solidFill>
                  <a:srgbClr val="FFFFFF"/>
                </a:solidFill>
                <a:latin typeface="Segoe UI Semibold"/>
                <a:ea typeface="Yu Gothic"/>
              </a:rPr>
              <a:t>Thiết kế &amp; kiểm thử</a:t>
            </a:r>
          </a:p>
        </p:txBody>
      </p:sp>
      <p:sp>
        <p:nvSpPr>
          <p:cNvPr id="5" name="TextBox 4"/>
          <p:cNvSpPr txBox="1"/>
          <p:nvPr/>
        </p:nvSpPr>
        <p:spPr>
          <a:xfrm>
            <a:off x="640080" y="4800600"/>
            <a:ext cx="5303520" cy="914400"/>
          </a:xfrm>
          <a:prstGeom prst="rect">
            <a:avLst/>
          </a:prstGeom>
          <a:noFill/>
        </p:spPr>
        <p:txBody>
          <a:bodyPr wrap="square" lIns="0" rIns="0" tIns="0" bIns="0" anchor="t">
            <a:spAutoFit/>
          </a:bodyPr>
          <a:lstStyle/>
          <a:p>
            <a:pPr algn="l">
              <a:lnSpc>
                <a:spcPct val="110000"/>
              </a:lnSpc>
              <a:spcAft>
                <a:spcPts val="0"/>
              </a:spcAft>
            </a:pPr>
            <a:r>
              <a:rPr sz="1600" b="0" i="0">
                <a:solidFill>
                  <a:srgbClr val="C8D3E6"/>
                </a:solidFill>
                <a:latin typeface="Segoe UI"/>
                <a:ea typeface="Yu Gothic"/>
              </a:rPr>
              <a:t>Use case, activity diagram, kiến trúc phân lớp, test Play Mode.</a:t>
            </a:r>
          </a:p>
        </p:txBody>
      </p:sp>
      <p:sp>
        <p:nvSpPr>
          <p:cNvPr id="6" name="TextBox 5"/>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8FA0BC"/>
                </a:solidFill>
                <a:latin typeface="Segoe UI Semibold"/>
                <a:ea typeface="Yu Gothic"/>
              </a:rPr>
              <a:t>24</a:t>
            </a:r>
          </a:p>
        </p:txBody>
      </p:sp>
      <p:pic>
        <p:nvPicPr>
          <p:cNvPr id="7" name="Picture 6" descr="s03_classroom.png"/>
          <p:cNvPicPr>
            <a:picLocks noChangeAspect="1"/>
          </p:cNvPicPr>
          <p:nvPr/>
        </p:nvPicPr>
        <p:blipFill>
          <a:blip r:embed="rId4"/>
          <a:srcRect l="27500" r="27500"/>
          <a:stretch>
            <a:fillRect/>
          </a:stretch>
        </p:blipFill>
        <p:spPr>
          <a:xfrm>
            <a:off x="6705295" y="0"/>
            <a:ext cx="54864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05 · PHÂN TÍCH &amp; THIẾT KẾ</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Use case chính</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25</a:t>
            </a:r>
          </a:p>
        </p:txBody>
      </p:sp>
      <p:graphicFrame>
        <p:nvGraphicFramePr>
          <p:cNvPr id="8" name="Table 7"/>
          <p:cNvGraphicFramePr>
            <a:graphicFrameLocks noGrp="1"/>
          </p:cNvGraphicFramePr>
          <p:nvPr/>
        </p:nvGraphicFramePr>
        <p:xfrm>
          <a:off x="548640" y="1554480"/>
          <a:ext cx="11091670" cy="4389120"/>
        </p:xfrm>
        <a:graphic>
          <a:graphicData uri="http://schemas.openxmlformats.org/drawingml/2006/table">
            <a:tbl>
              <a:tblPr firstRow="1" bandRow="0"/>
              <a:tblGrid>
                <a:gridCol w="1100000"/>
                <a:gridCol w="4125001"/>
                <a:gridCol w="5866669"/>
              </a:tblGrid>
              <a:tr h="548640">
                <a:tc>
                  <a:txBody>
                    <a:bodyPr wrap="square"/>
                    <a:lstStyle/>
                    <a:p>
                      <a:r>
                        <a:rPr sz="1500">
                          <a:solidFill>
                            <a:srgbClr val="FFFFFF"/>
                          </a:solidFill>
                          <a:latin typeface="Segoe UI Semibold"/>
                        </a:rPr>
                        <a:t>Mã</a:t>
                      </a:r>
                    </a:p>
                  </a:txBody>
                  <a:tcPr marL="109728" marR="109728" marT="45720" marB="45720" anchor="ctr">
                    <a:solidFill>
                      <a:srgbClr val="14213D"/>
                    </a:solidFill>
                  </a:tcPr>
                </a:tc>
                <a:tc>
                  <a:txBody>
                    <a:bodyPr wrap="square"/>
                    <a:lstStyle/>
                    <a:p>
                      <a:r>
                        <a:rPr sz="1500">
                          <a:solidFill>
                            <a:srgbClr val="FFFFFF"/>
                          </a:solidFill>
                          <a:latin typeface="Segoe UI Semibold"/>
                        </a:rPr>
                        <a:t>Use case</a:t>
                      </a:r>
                    </a:p>
                  </a:txBody>
                  <a:tcPr marL="109728" marR="109728" marT="45720" marB="45720" anchor="ctr">
                    <a:solidFill>
                      <a:srgbClr val="14213D"/>
                    </a:solidFill>
                  </a:tcPr>
                </a:tc>
                <a:tc>
                  <a:txBody>
                    <a:bodyPr wrap="square"/>
                    <a:lstStyle/>
                    <a:p>
                      <a:r>
                        <a:rPr sz="1500">
                          <a:solidFill>
                            <a:srgbClr val="FFFFFF"/>
                          </a:solidFill>
                          <a:latin typeface="Segoe UI Semibold"/>
                        </a:rPr>
                        <a:t>Điều kiện kết thúc</a:t>
                      </a:r>
                    </a:p>
                  </a:txBody>
                  <a:tcPr marL="109728" marR="109728" marT="45720" marB="45720" anchor="ctr">
                    <a:solidFill>
                      <a:srgbClr val="14213D"/>
                    </a:solidFill>
                  </a:tcPr>
                </a:tc>
              </a:tr>
              <a:tr h="548640">
                <a:tc>
                  <a:txBody>
                    <a:bodyPr wrap="square"/>
                    <a:lstStyle/>
                    <a:p>
                      <a:r>
                        <a:rPr sz="1500">
                          <a:solidFill>
                            <a:srgbClr val="14213D"/>
                          </a:solidFill>
                          <a:latin typeface="Segoe UI Semibold"/>
                        </a:rPr>
                        <a:t>UC01</a:t>
                      </a:r>
                    </a:p>
                  </a:txBody>
                  <a:tcPr marL="109728" marR="109728" marT="45720" marB="45720" anchor="ctr">
                    <a:solidFill>
                      <a:srgbClr val="FFFFFF"/>
                    </a:solidFill>
                  </a:tcPr>
                </a:tc>
                <a:tc>
                  <a:txBody>
                    <a:bodyPr wrap="square"/>
                    <a:lstStyle/>
                    <a:p>
                      <a:r>
                        <a:rPr sz="1500">
                          <a:solidFill>
                            <a:srgbClr val="22304A"/>
                          </a:solidFill>
                          <a:latin typeface="Segoe UI"/>
                        </a:rPr>
                        <a:t>Bắt đầu / chọn nhân vật</a:t>
                      </a:r>
                    </a:p>
                  </a:txBody>
                  <a:tcPr marL="109728" marR="109728" marT="45720" marB="45720" anchor="ctr">
                    <a:solidFill>
                      <a:srgbClr val="FFFFFF"/>
                    </a:solidFill>
                  </a:tcPr>
                </a:tc>
                <a:tc>
                  <a:txBody>
                    <a:bodyPr wrap="square"/>
                    <a:lstStyle/>
                    <a:p>
                      <a:r>
                        <a:rPr sz="1500">
                          <a:solidFill>
                            <a:srgbClr val="22304A"/>
                          </a:solidFill>
                          <a:latin typeface="Segoe UI"/>
                        </a:rPr>
                        <a:t>Nhân vật hợp lệ đi vào gameplay</a:t>
                      </a:r>
                    </a:p>
                  </a:txBody>
                  <a:tcPr marL="109728" marR="109728" marT="45720" marB="45720" anchor="ctr">
                    <a:solidFill>
                      <a:srgbClr val="FFFFFF"/>
                    </a:solidFill>
                  </a:tcPr>
                </a:tc>
              </a:tr>
              <a:tr h="548640">
                <a:tc>
                  <a:txBody>
                    <a:bodyPr wrap="square"/>
                    <a:lstStyle/>
                    <a:p>
                      <a:r>
                        <a:rPr sz="1500">
                          <a:solidFill>
                            <a:srgbClr val="14213D"/>
                          </a:solidFill>
                          <a:latin typeface="Segoe UI Semibold"/>
                        </a:rPr>
                        <a:t>UC02</a:t>
                      </a:r>
                    </a:p>
                  </a:txBody>
                  <a:tcPr marL="109728" marR="109728" marT="45720" marB="45720" anchor="ctr">
                    <a:solidFill>
                      <a:srgbClr val="F2F5FA"/>
                    </a:solidFill>
                  </a:tcPr>
                </a:tc>
                <a:tc>
                  <a:txBody>
                    <a:bodyPr wrap="square"/>
                    <a:lstStyle/>
                    <a:p>
                      <a:r>
                        <a:rPr sz="1500">
                          <a:solidFill>
                            <a:srgbClr val="22304A"/>
                          </a:solidFill>
                          <a:latin typeface="Segoe UI"/>
                        </a:rPr>
                        <a:t>Thực hiện tình huống (scenario)</a:t>
                      </a:r>
                    </a:p>
                  </a:txBody>
                  <a:tcPr marL="109728" marR="109728" marT="45720" marB="45720" anchor="ctr">
                    <a:solidFill>
                      <a:srgbClr val="F2F5FA"/>
                    </a:solidFill>
                  </a:tcPr>
                </a:tc>
                <a:tc>
                  <a:txBody>
                    <a:bodyPr wrap="square"/>
                    <a:lstStyle/>
                    <a:p>
                      <a:r>
                        <a:rPr sz="1500">
                          <a:solidFill>
                            <a:srgbClr val="22304A"/>
                          </a:solidFill>
                          <a:latin typeface="Segoe UI"/>
                        </a:rPr>
                        <a:t>Mục tiêu và node kết thúc được ghi nhận</a:t>
                      </a:r>
                    </a:p>
                  </a:txBody>
                  <a:tcPr marL="109728" marR="109728" marT="45720" marB="45720" anchor="ctr">
                    <a:solidFill>
                      <a:srgbClr val="F2F5FA"/>
                    </a:solidFill>
                  </a:tcPr>
                </a:tc>
              </a:tr>
              <a:tr h="548640">
                <a:tc>
                  <a:txBody>
                    <a:bodyPr wrap="square"/>
                    <a:lstStyle/>
                    <a:p>
                      <a:r>
                        <a:rPr sz="1500">
                          <a:solidFill>
                            <a:srgbClr val="14213D"/>
                          </a:solidFill>
                          <a:latin typeface="Segoe UI Semibold"/>
                        </a:rPr>
                        <a:t>UC03</a:t>
                      </a:r>
                    </a:p>
                  </a:txBody>
                  <a:tcPr marL="109728" marR="109728" marT="45720" marB="45720" anchor="ctr">
                    <a:solidFill>
                      <a:srgbClr val="FFFFFF"/>
                    </a:solidFill>
                  </a:tcPr>
                </a:tc>
                <a:tc>
                  <a:txBody>
                    <a:bodyPr wrap="square"/>
                    <a:lstStyle/>
                    <a:p>
                      <a:r>
                        <a:rPr sz="1500">
                          <a:solidFill>
                            <a:srgbClr val="22304A"/>
                          </a:solidFill>
                          <a:latin typeface="Segoe UI"/>
                        </a:rPr>
                        <a:t>Mua đồ ở konbini, dùng ở tủ lạnh</a:t>
                      </a:r>
                    </a:p>
                  </a:txBody>
                  <a:tcPr marL="109728" marR="109728" marT="45720" marB="45720" anchor="ctr">
                    <a:solidFill>
                      <a:srgbClr val="FFFFFF"/>
                    </a:solidFill>
                  </a:tcPr>
                </a:tc>
                <a:tc>
                  <a:txBody>
                    <a:bodyPr wrap="square"/>
                    <a:lstStyle/>
                    <a:p>
                      <a:r>
                        <a:rPr sz="1500">
                          <a:solidFill>
                            <a:srgbClr val="22304A"/>
                          </a:solidFill>
                          <a:latin typeface="Segoe UI"/>
                        </a:rPr>
                        <a:t>Tiền, số lượng và chỉ số luôn nhất quán</a:t>
                      </a:r>
                    </a:p>
                  </a:txBody>
                  <a:tcPr marL="109728" marR="109728" marT="45720" marB="45720" anchor="ctr">
                    <a:solidFill>
                      <a:srgbClr val="FFFFFF"/>
                    </a:solidFill>
                  </a:tcPr>
                </a:tc>
              </a:tr>
              <a:tr h="548640">
                <a:tc>
                  <a:txBody>
                    <a:bodyPr wrap="square"/>
                    <a:lstStyle/>
                    <a:p>
                      <a:r>
                        <a:rPr sz="1500">
                          <a:solidFill>
                            <a:srgbClr val="14213D"/>
                          </a:solidFill>
                          <a:latin typeface="Segoe UI Semibold"/>
                        </a:rPr>
                        <a:t>UC04</a:t>
                      </a:r>
                    </a:p>
                  </a:txBody>
                  <a:tcPr marL="109728" marR="109728" marT="45720" marB="45720" anchor="ctr">
                    <a:solidFill>
                      <a:srgbClr val="F2F5FA"/>
                    </a:solidFill>
                  </a:tcPr>
                </a:tc>
                <a:tc>
                  <a:txBody>
                    <a:bodyPr wrap="square"/>
                    <a:lstStyle/>
                    <a:p>
                      <a:r>
                        <a:rPr sz="1500">
                          <a:solidFill>
                            <a:srgbClr val="22304A"/>
                          </a:solidFill>
                          <a:latin typeface="Segoe UI"/>
                        </a:rPr>
                        <a:t>Di chuyển giữa thành phố và các khu</a:t>
                      </a:r>
                    </a:p>
                  </a:txBody>
                  <a:tcPr marL="109728" marR="109728" marT="45720" marB="45720" anchor="ctr">
                    <a:solidFill>
                      <a:srgbClr val="F2F5FA"/>
                    </a:solidFill>
                  </a:tcPr>
                </a:tc>
                <a:tc>
                  <a:txBody>
                    <a:bodyPr wrap="square"/>
                    <a:lstStyle/>
                    <a:p>
                      <a:r>
                        <a:rPr sz="1500">
                          <a:solidFill>
                            <a:srgbClr val="22304A"/>
                          </a:solidFill>
                          <a:latin typeface="Segoe UI"/>
                        </a:rPr>
                        <a:t>Vào/ra đúng cửa, đúng điểm xuất hiện</a:t>
                      </a:r>
                    </a:p>
                  </a:txBody>
                  <a:tcPr marL="109728" marR="109728" marT="45720" marB="45720" anchor="ctr">
                    <a:solidFill>
                      <a:srgbClr val="F2F5FA"/>
                    </a:solidFill>
                  </a:tcPr>
                </a:tc>
              </a:tr>
              <a:tr h="548640">
                <a:tc>
                  <a:txBody>
                    <a:bodyPr wrap="square"/>
                    <a:lstStyle/>
                    <a:p>
                      <a:r>
                        <a:rPr sz="1500">
                          <a:solidFill>
                            <a:srgbClr val="14213D"/>
                          </a:solidFill>
                          <a:latin typeface="Segoe UI Semibold"/>
                        </a:rPr>
                        <a:t>UC05</a:t>
                      </a:r>
                    </a:p>
                  </a:txBody>
                  <a:tcPr marL="109728" marR="109728" marT="45720" marB="45720" anchor="ctr">
                    <a:solidFill>
                      <a:srgbClr val="FFFFFF"/>
                    </a:solidFill>
                  </a:tcPr>
                </a:tc>
                <a:tc>
                  <a:txBody>
                    <a:bodyPr wrap="square"/>
                    <a:lstStyle/>
                    <a:p>
                      <a:r>
                        <a:rPr sz="1500">
                          <a:solidFill>
                            <a:srgbClr val="22304A"/>
                          </a:solidFill>
                          <a:latin typeface="Segoe UI"/>
                        </a:rPr>
                        <a:t>Sinh hoạt ở phòng trọ (ngủ, học)</a:t>
                      </a:r>
                    </a:p>
                  </a:txBody>
                  <a:tcPr marL="109728" marR="109728" marT="45720" marB="45720" anchor="ctr">
                    <a:solidFill>
                      <a:srgbClr val="FFFFFF"/>
                    </a:solidFill>
                  </a:tcPr>
                </a:tc>
                <a:tc>
                  <a:txBody>
                    <a:bodyPr wrap="square"/>
                    <a:lstStyle/>
                    <a:p>
                      <a:r>
                        <a:rPr sz="1500">
                          <a:solidFill>
                            <a:srgbClr val="22304A"/>
                          </a:solidFill>
                          <a:latin typeface="Segoe UI"/>
                        </a:rPr>
                        <a:t>Năng lượng hồi, Kiến thức tăng, game được lưu</a:t>
                      </a:r>
                    </a:p>
                  </a:txBody>
                  <a:tcPr marL="109728" marR="109728" marT="45720" marB="45720" anchor="ctr">
                    <a:solidFill>
                      <a:srgbClr val="FFFFFF"/>
                    </a:solidFill>
                  </a:tcPr>
                </a:tc>
              </a:tr>
              <a:tr h="548640">
                <a:tc>
                  <a:txBody>
                    <a:bodyPr wrap="square"/>
                    <a:lstStyle/>
                    <a:p>
                      <a:r>
                        <a:rPr sz="1500">
                          <a:solidFill>
                            <a:srgbClr val="14213D"/>
                          </a:solidFill>
                          <a:latin typeface="Segoe UI Semibold"/>
                        </a:rPr>
                        <a:t>UC06</a:t>
                      </a:r>
                    </a:p>
                  </a:txBody>
                  <a:tcPr marL="109728" marR="109728" marT="45720" marB="45720" anchor="ctr">
                    <a:solidFill>
                      <a:srgbClr val="F2F5FA"/>
                    </a:solidFill>
                  </a:tcPr>
                </a:tc>
                <a:tc>
                  <a:txBody>
                    <a:bodyPr wrap="square"/>
                    <a:lstStyle/>
                    <a:p>
                      <a:r>
                        <a:rPr sz="1500">
                          <a:solidFill>
                            <a:srgbClr val="22304A"/>
                          </a:solidFill>
                          <a:latin typeface="Segoe UI"/>
                        </a:rPr>
                        <a:t>Làm bài luyện thi</a:t>
                      </a:r>
                    </a:p>
                  </a:txBody>
                  <a:tcPr marL="109728" marR="109728" marT="45720" marB="45720" anchor="ctr">
                    <a:solidFill>
                      <a:srgbClr val="F2F5FA"/>
                    </a:solidFill>
                  </a:tcPr>
                </a:tc>
                <a:tc>
                  <a:txBody>
                    <a:bodyPr wrap="square"/>
                    <a:lstStyle/>
                    <a:p>
                      <a:r>
                        <a:rPr sz="1500">
                          <a:solidFill>
                            <a:srgbClr val="22304A"/>
                          </a:solidFill>
                          <a:latin typeface="Segoe UI"/>
                        </a:rPr>
                        <a:t>Lượt làm bài có kết quả và lịch sử</a:t>
                      </a:r>
                    </a:p>
                  </a:txBody>
                  <a:tcPr marL="109728" marR="109728" marT="45720" marB="45720" anchor="ctr">
                    <a:solidFill>
                      <a:srgbClr val="F2F5FA"/>
                    </a:solidFill>
                  </a:tcPr>
                </a:tc>
              </a:tr>
              <a:tr h="548640">
                <a:tc>
                  <a:txBody>
                    <a:bodyPr wrap="square"/>
                    <a:lstStyle/>
                    <a:p>
                      <a:r>
                        <a:rPr sz="1500">
                          <a:solidFill>
                            <a:srgbClr val="14213D"/>
                          </a:solidFill>
                          <a:latin typeface="Segoe UI Semibold"/>
                        </a:rPr>
                        <a:t>UC07</a:t>
                      </a:r>
                    </a:p>
                  </a:txBody>
                  <a:tcPr marL="109728" marR="109728" marT="45720" marB="45720" anchor="ctr">
                    <a:solidFill>
                      <a:srgbClr val="FFFFFF"/>
                    </a:solidFill>
                  </a:tcPr>
                </a:tc>
                <a:tc>
                  <a:txBody>
                    <a:bodyPr wrap="square"/>
                    <a:lstStyle/>
                    <a:p>
                      <a:r>
                        <a:rPr sz="1500">
                          <a:solidFill>
                            <a:srgbClr val="22304A"/>
                          </a:solidFill>
                          <a:latin typeface="Segoe UI"/>
                        </a:rPr>
                        <a:t>Tham gia tính năng online</a:t>
                      </a:r>
                    </a:p>
                  </a:txBody>
                  <a:tcPr marL="109728" marR="109728" marT="45720" marB="45720" anchor="ctr">
                    <a:solidFill>
                      <a:srgbClr val="FFFFFF"/>
                    </a:solidFill>
                  </a:tcPr>
                </a:tc>
                <a:tc>
                  <a:txBody>
                    <a:bodyPr wrap="square"/>
                    <a:lstStyle/>
                    <a:p>
                      <a:r>
                        <a:rPr sz="1500">
                          <a:solidFill>
                            <a:srgbClr val="22304A"/>
                          </a:solidFill>
                          <a:latin typeface="Segoe UI"/>
                        </a:rPr>
                        <a:t>Kết nối được xác thực, trạng thái rõ ràng</a:t>
                      </a:r>
                    </a:p>
                  </a:txBody>
                  <a:tcPr marL="109728" marR="109728" marT="45720" marB="45720" anchor="ctr">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05 · PHÂN TÍCH &amp; THIẾT KẾ</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Activity diagram: hội thoại học tập</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26</a:t>
            </a:r>
          </a:p>
        </p:txBody>
      </p:sp>
      <p:pic>
        <p:nvPicPr>
          <p:cNvPr id="8" name="Picture 7" descr="d04_dialogue_flow.png"/>
          <p:cNvPicPr>
            <a:picLocks noChangeAspect="1"/>
          </p:cNvPicPr>
          <p:nvPr/>
        </p:nvPicPr>
        <p:blipFill>
          <a:blip r:embed="rId4"/>
          <a:stretch>
            <a:fillRect/>
          </a:stretch>
        </p:blipFill>
        <p:spPr>
          <a:xfrm>
            <a:off x="649172" y="1417320"/>
            <a:ext cx="10890606" cy="48463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05 · PHÂN TÍCH &amp; THIẾT KẾ</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Activity diagram: nhà hàng và luyện thi</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27</a:t>
            </a:r>
          </a:p>
        </p:txBody>
      </p:sp>
      <p:pic>
        <p:nvPicPr>
          <p:cNvPr id="8" name="Picture 7" descr="d06_restaurant_flow.png"/>
          <p:cNvPicPr>
            <a:picLocks noChangeAspect="1"/>
          </p:cNvPicPr>
          <p:nvPr/>
        </p:nvPicPr>
        <p:blipFill>
          <a:blip r:embed="rId4"/>
          <a:stretch>
            <a:fillRect/>
          </a:stretch>
        </p:blipFill>
        <p:spPr>
          <a:xfrm>
            <a:off x="548640" y="2574036"/>
            <a:ext cx="5486400" cy="2441448"/>
          </a:xfrm>
          <a:prstGeom prst="rect">
            <a:avLst/>
          </a:prstGeom>
        </p:spPr>
      </p:pic>
      <p:pic>
        <p:nvPicPr>
          <p:cNvPr id="9" name="Picture 8" descr="d07_exam_flow.png"/>
          <p:cNvPicPr>
            <a:picLocks noChangeAspect="1"/>
          </p:cNvPicPr>
          <p:nvPr/>
        </p:nvPicPr>
        <p:blipFill>
          <a:blip r:embed="rId5"/>
          <a:stretch>
            <a:fillRect/>
          </a:stretch>
        </p:blipFill>
        <p:spPr>
          <a:xfrm>
            <a:off x="6153912" y="2574036"/>
            <a:ext cx="5486400" cy="2441448"/>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05 · PHÂN TÍCH &amp; THIẾT KẾ</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Kiến trúc phân lớp</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28</a:t>
            </a:r>
          </a:p>
        </p:txBody>
      </p:sp>
      <p:pic>
        <p:nvPicPr>
          <p:cNvPr id="8" name="Picture 7" descr="d08_architecture.png"/>
          <p:cNvPicPr>
            <a:picLocks noChangeAspect="1"/>
          </p:cNvPicPr>
          <p:nvPr/>
        </p:nvPicPr>
        <p:blipFill>
          <a:blip r:embed="rId4"/>
          <a:stretch>
            <a:fillRect/>
          </a:stretch>
        </p:blipFill>
        <p:spPr>
          <a:xfrm>
            <a:off x="548640" y="1645920"/>
            <a:ext cx="6949440" cy="4343400"/>
          </a:xfrm>
          <a:prstGeom prst="rect">
            <a:avLst/>
          </a:prstGeom>
        </p:spPr>
      </p:pic>
      <p:sp>
        <p:nvSpPr>
          <p:cNvPr id="9" name="TextBox 8"/>
          <p:cNvSpPr txBox="1"/>
          <p:nvPr/>
        </p:nvSpPr>
        <p:spPr>
          <a:xfrm>
            <a:off x="7818120" y="1645920"/>
            <a:ext cx="3840480" cy="4480560"/>
          </a:xfrm>
          <a:prstGeom prst="rect">
            <a:avLst/>
          </a:prstGeom>
          <a:noFill/>
        </p:spPr>
        <p:txBody>
          <a:bodyPr wrap="square" lIns="0" rIns="0" tIns="0" bIns="0">
            <a:spAutoFit/>
          </a:bodyPr>
          <a:lstStyle/>
          <a:p>
            <a:pPr marL="256032" indent="-256032">
              <a:lnSpc>
                <a:spcPct val="110000"/>
              </a:lnSpc>
              <a:spcAft>
                <a:spcPts val="1200"/>
              </a:spcAft>
              <a:buClr>
                <a:srgbClr val="F2B233"/>
              </a:buClr>
              <a:buFont typeface="Arial"/>
              <a:buChar char="●"/>
            </a:pPr>
            <a:r>
              <a:rPr b="1" sz="1400">
                <a:solidFill>
                  <a:srgbClr val="14213D"/>
                </a:solidFill>
                <a:latin typeface="Segoe UI Semibold"/>
              </a:rPr>
              <a:t>Bootstrap:  </a:t>
            </a:r>
            <a:r>
              <a:rPr sz="1400">
                <a:solidFill>
                  <a:srgbClr val="22304A"/>
                </a:solidFill>
                <a:latin typeface="Segoe UI"/>
                <a:ea typeface="Yu Gothic"/>
              </a:rPr>
              <a:t>AppRoot đăng ký GameServices sống xuyên scene.</a:t>
            </a:r>
          </a:p>
          <a:p>
            <a:pPr marL="256032" indent="-256032">
              <a:lnSpc>
                <a:spcPct val="110000"/>
              </a:lnSpc>
              <a:spcAft>
                <a:spcPts val="1200"/>
              </a:spcAft>
              <a:buClr>
                <a:srgbClr val="F2B233"/>
              </a:buClr>
              <a:buFont typeface="Arial"/>
              <a:buChar char="●"/>
            </a:pPr>
            <a:r>
              <a:rPr b="1" sz="1400">
                <a:solidFill>
                  <a:srgbClr val="14213D"/>
                </a:solidFill>
                <a:latin typeface="Segoe UI Semibold"/>
              </a:rPr>
              <a:t>Zone additive:  </a:t>
            </a:r>
            <a:r>
              <a:rPr sz="1400">
                <a:solidFill>
                  <a:srgbClr val="22304A"/>
                </a:solidFill>
                <a:latin typeface="Segoe UI"/>
                <a:ea typeface="Yu Gothic"/>
              </a:rPr>
              <a:t>khu vực nạp thêm, thành phố ẩn qua SceneZoneVisibility.</a:t>
            </a:r>
          </a:p>
          <a:p>
            <a:pPr marL="256032" indent="-256032">
              <a:lnSpc>
                <a:spcPct val="110000"/>
              </a:lnSpc>
              <a:spcAft>
                <a:spcPts val="1200"/>
              </a:spcAft>
              <a:buClr>
                <a:srgbClr val="F2B233"/>
              </a:buClr>
              <a:buFont typeface="Arial"/>
              <a:buChar char="●"/>
            </a:pPr>
            <a:r>
              <a:rPr b="1" sz="1400">
                <a:solidFill>
                  <a:srgbClr val="14213D"/>
                </a:solidFill>
                <a:latin typeface="Segoe UI Semibold"/>
              </a:rPr>
              <a:t>Data-driven:  </a:t>
            </a:r>
            <a:r>
              <a:rPr sz="1400">
                <a:solidFill>
                  <a:srgbClr val="22304A"/>
                </a:solidFill>
                <a:latin typeface="Segoe UI"/>
                <a:ea typeface="Yu Gothic"/>
              </a:rPr>
              <a:t>kịch bản, đề thi, thực đơn là ScriptableObject.</a:t>
            </a:r>
          </a:p>
          <a:p>
            <a:pPr marL="256032" indent="-256032">
              <a:lnSpc>
                <a:spcPct val="110000"/>
              </a:lnSpc>
              <a:spcAft>
                <a:spcPts val="1200"/>
              </a:spcAft>
              <a:buClr>
                <a:srgbClr val="F2B233"/>
              </a:buClr>
              <a:buFont typeface="Arial"/>
              <a:buChar char="●"/>
            </a:pPr>
            <a:r>
              <a:rPr b="1" sz="1400">
                <a:solidFill>
                  <a:srgbClr val="14213D"/>
                </a:solidFill>
                <a:latin typeface="Segoe UI Semibold"/>
              </a:rPr>
              <a:t>Scene builder:  </a:t>
            </a:r>
            <a:r>
              <a:rPr sz="1400">
                <a:solidFill>
                  <a:srgbClr val="22304A"/>
                </a:solidFill>
                <a:latin typeface="Segoe UI"/>
                <a:ea typeface="Yu Gothic"/>
              </a:rPr>
              <a:t>dựng &amp; dọn scene bằng code, chạy lại không bị chồng.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05 · PHÂN TÍCH &amp; THIẾT KẾ</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Engine kịch bản và cách tính điểm</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29</a:t>
            </a:r>
          </a:p>
        </p:txBody>
      </p:sp>
      <p:pic>
        <p:nvPicPr>
          <p:cNvPr id="8" name="Picture 7" descr="d09_scenario_pipeline.png"/>
          <p:cNvPicPr>
            <a:picLocks noChangeAspect="1"/>
          </p:cNvPicPr>
          <p:nvPr/>
        </p:nvPicPr>
        <p:blipFill>
          <a:blip r:embed="rId4"/>
          <a:stretch>
            <a:fillRect/>
          </a:stretch>
        </p:blipFill>
        <p:spPr>
          <a:xfrm>
            <a:off x="548640" y="1944928"/>
            <a:ext cx="6309360" cy="2145182"/>
          </a:xfrm>
          <a:prstGeom prst="rect">
            <a:avLst/>
          </a:prstGeom>
        </p:spPr>
      </p:pic>
      <p:graphicFrame>
        <p:nvGraphicFramePr>
          <p:cNvPr id="9" name="Table 8"/>
          <p:cNvGraphicFramePr>
            <a:graphicFrameLocks noGrp="1"/>
          </p:cNvGraphicFramePr>
          <p:nvPr/>
        </p:nvGraphicFramePr>
        <p:xfrm>
          <a:off x="7132320" y="1554480"/>
          <a:ext cx="4507991" cy="2743200"/>
        </p:xfrm>
        <a:graphic>
          <a:graphicData uri="http://schemas.openxmlformats.org/drawingml/2006/table">
            <a:tbl>
              <a:tblPr firstRow="1" bandRow="0"/>
              <a:tblGrid>
                <a:gridCol w="2115996"/>
                <a:gridCol w="2391995"/>
              </a:tblGrid>
              <a:tr h="457200">
                <a:tc>
                  <a:txBody>
                    <a:bodyPr wrap="square"/>
                    <a:lstStyle/>
                    <a:p>
                      <a:r>
                        <a:rPr sz="1300">
                          <a:solidFill>
                            <a:srgbClr val="FFFFFF"/>
                          </a:solidFill>
                          <a:latin typeface="Segoe UI Semibold"/>
                        </a:rPr>
                        <a:t>Nhóm điểm</a:t>
                      </a:r>
                    </a:p>
                  </a:txBody>
                  <a:tcPr marL="109728" marR="109728" marT="45720" marB="45720" anchor="ctr">
                    <a:solidFill>
                      <a:srgbClr val="14213D"/>
                    </a:solidFill>
                  </a:tcPr>
                </a:tc>
                <a:tc>
                  <a:txBody>
                    <a:bodyPr wrap="square"/>
                    <a:lstStyle/>
                    <a:p>
                      <a:r>
                        <a:rPr sz="1300">
                          <a:solidFill>
                            <a:srgbClr val="FFFFFF"/>
                          </a:solidFill>
                          <a:latin typeface="Segoe UI Semibold"/>
                        </a:rPr>
                        <a:t>Ghi nhận</a:t>
                      </a:r>
                    </a:p>
                  </a:txBody>
                  <a:tcPr marL="109728" marR="109728" marT="45720" marB="45720" anchor="ctr">
                    <a:solidFill>
                      <a:srgbClr val="14213D"/>
                    </a:solidFill>
                  </a:tcPr>
                </a:tc>
              </a:tr>
              <a:tr h="457200">
                <a:tc>
                  <a:txBody>
                    <a:bodyPr wrap="square"/>
                    <a:lstStyle/>
                    <a:p>
                      <a:r>
                        <a:rPr sz="1300">
                          <a:solidFill>
                            <a:srgbClr val="14213D"/>
                          </a:solidFill>
                          <a:latin typeface="Segoe UI Semibold"/>
                        </a:rPr>
                        <a:t>Vocabulary</a:t>
                      </a:r>
                    </a:p>
                  </a:txBody>
                  <a:tcPr marL="109728" marR="109728" marT="45720" marB="45720" anchor="ctr">
                    <a:solidFill>
                      <a:srgbClr val="FFFFFF"/>
                    </a:solidFill>
                  </a:tcPr>
                </a:tc>
                <a:tc>
                  <a:txBody>
                    <a:bodyPr wrap="square"/>
                    <a:lstStyle/>
                    <a:p>
                      <a:r>
                        <a:rPr sz="1300">
                          <a:solidFill>
                            <a:srgbClr val="22304A"/>
                          </a:solidFill>
                          <a:latin typeface="Segoe UI"/>
                        </a:rPr>
                        <a:t>Dùng đúng từ vựng</a:t>
                      </a:r>
                    </a:p>
                  </a:txBody>
                  <a:tcPr marL="109728" marR="109728" marT="45720" marB="45720" anchor="ctr">
                    <a:solidFill>
                      <a:srgbClr val="FFFFFF"/>
                    </a:solidFill>
                  </a:tcPr>
                </a:tc>
              </a:tr>
              <a:tr h="457200">
                <a:tc>
                  <a:txBody>
                    <a:bodyPr wrap="square"/>
                    <a:lstStyle/>
                    <a:p>
                      <a:r>
                        <a:rPr sz="1300">
                          <a:solidFill>
                            <a:srgbClr val="14213D"/>
                          </a:solidFill>
                          <a:latin typeface="Segoe UI Semibold"/>
                        </a:rPr>
                        <a:t>Grammar</a:t>
                      </a:r>
                    </a:p>
                  </a:txBody>
                  <a:tcPr marL="109728" marR="109728" marT="45720" marB="45720" anchor="ctr">
                    <a:solidFill>
                      <a:srgbClr val="F2F5FA"/>
                    </a:solidFill>
                  </a:tcPr>
                </a:tc>
                <a:tc>
                  <a:txBody>
                    <a:bodyPr wrap="square"/>
                    <a:lstStyle/>
                    <a:p>
                      <a:r>
                        <a:rPr sz="1300">
                          <a:solidFill>
                            <a:srgbClr val="22304A"/>
                          </a:solidFill>
                          <a:latin typeface="Segoe UI"/>
                        </a:rPr>
                        <a:t>Dùng đúng mẫu câu</a:t>
                      </a:r>
                    </a:p>
                  </a:txBody>
                  <a:tcPr marL="109728" marR="109728" marT="45720" marB="45720" anchor="ctr">
                    <a:solidFill>
                      <a:srgbClr val="F2F5FA"/>
                    </a:solidFill>
                  </a:tcPr>
                </a:tc>
              </a:tr>
              <a:tr h="457200">
                <a:tc>
                  <a:txBody>
                    <a:bodyPr wrap="square"/>
                    <a:lstStyle/>
                    <a:p>
                      <a:r>
                        <a:rPr sz="1300">
                          <a:solidFill>
                            <a:srgbClr val="14213D"/>
                          </a:solidFill>
                          <a:latin typeface="Segoe UI Semibold"/>
                        </a:rPr>
                        <a:t>Listening</a:t>
                      </a:r>
                    </a:p>
                  </a:txBody>
                  <a:tcPr marL="109728" marR="109728" marT="45720" marB="45720" anchor="ctr">
                    <a:solidFill>
                      <a:srgbClr val="FFFFFF"/>
                    </a:solidFill>
                  </a:tcPr>
                </a:tc>
                <a:tc>
                  <a:txBody>
                    <a:bodyPr wrap="square"/>
                    <a:lstStyle/>
                    <a:p>
                      <a:r>
                        <a:rPr sz="1300">
                          <a:solidFill>
                            <a:srgbClr val="22304A"/>
                          </a:solidFill>
                          <a:latin typeface="Segoe UI"/>
                        </a:rPr>
                        <a:t>Nghe hiểu câu NPC</a:t>
                      </a:r>
                    </a:p>
                  </a:txBody>
                  <a:tcPr marL="109728" marR="109728" marT="45720" marB="45720" anchor="ctr">
                    <a:solidFill>
                      <a:srgbClr val="FFFFFF"/>
                    </a:solidFill>
                  </a:tcPr>
                </a:tc>
              </a:tr>
              <a:tr h="457200">
                <a:tc>
                  <a:txBody>
                    <a:bodyPr wrap="square"/>
                    <a:lstStyle/>
                    <a:p>
                      <a:r>
                        <a:rPr sz="1300">
                          <a:solidFill>
                            <a:srgbClr val="14213D"/>
                          </a:solidFill>
                          <a:latin typeface="Segoe UI Semibold"/>
                        </a:rPr>
                        <a:t>ResponseAccuracy</a:t>
                      </a:r>
                    </a:p>
                  </a:txBody>
                  <a:tcPr marL="109728" marR="109728" marT="45720" marB="45720" anchor="ctr">
                    <a:solidFill>
                      <a:srgbClr val="F2F5FA"/>
                    </a:solidFill>
                  </a:tcPr>
                </a:tc>
                <a:tc>
                  <a:txBody>
                    <a:bodyPr wrap="square"/>
                    <a:lstStyle/>
                    <a:p>
                      <a:r>
                        <a:rPr sz="1300">
                          <a:solidFill>
                            <a:srgbClr val="22304A"/>
                          </a:solidFill>
                          <a:latin typeface="Segoe UI"/>
                        </a:rPr>
                        <a:t>Đúng ngữ cảnh, lịch sự</a:t>
                      </a:r>
                    </a:p>
                  </a:txBody>
                  <a:tcPr marL="109728" marR="109728" marT="45720" marB="45720" anchor="ctr">
                    <a:solidFill>
                      <a:srgbClr val="F2F5FA"/>
                    </a:solidFill>
                  </a:tcPr>
                </a:tc>
              </a:tr>
              <a:tr h="457200">
                <a:tc>
                  <a:txBody>
                    <a:bodyPr wrap="square"/>
                    <a:lstStyle/>
                    <a:p>
                      <a:r>
                        <a:rPr sz="1300">
                          <a:solidFill>
                            <a:srgbClr val="14213D"/>
                          </a:solidFill>
                          <a:latin typeface="Segoe UI Semibold"/>
                        </a:rPr>
                        <a:t>TaskCompletion</a:t>
                      </a:r>
                    </a:p>
                  </a:txBody>
                  <a:tcPr marL="109728" marR="109728" marT="45720" marB="45720" anchor="ctr">
                    <a:solidFill>
                      <a:srgbClr val="FFFFFF"/>
                    </a:solidFill>
                  </a:tcPr>
                </a:tc>
                <a:tc>
                  <a:txBody>
                    <a:bodyPr wrap="square"/>
                    <a:lstStyle/>
                    <a:p>
                      <a:r>
                        <a:rPr sz="1300">
                          <a:solidFill>
                            <a:srgbClr val="22304A"/>
                          </a:solidFill>
                          <a:latin typeface="Segoe UI"/>
                        </a:rPr>
                        <a:t>Hoàn thành mục tiêu</a:t>
                      </a:r>
                    </a:p>
                  </a:txBody>
                  <a:tcPr marL="109728" marR="109728" marT="45720" marB="45720" anchor="ctr">
                    <a:solidFill>
                      <a:srgbClr val="FFFFFF"/>
                    </a:solidFill>
                  </a:tcPr>
                </a:tc>
              </a:tr>
            </a:tbl>
          </a:graphicData>
        </a:graphic>
      </p:graphicFrame>
      <p:sp>
        <p:nvSpPr>
          <p:cNvPr id="10" name="Rounded Rectangle 9"/>
          <p:cNvSpPr/>
          <p:nvPr/>
        </p:nvSpPr>
        <p:spPr>
          <a:xfrm>
            <a:off x="548640" y="4892040"/>
            <a:ext cx="11091672" cy="1234440"/>
          </a:xfrm>
          <a:prstGeom prst="roundRect">
            <a:avLst>
              <a:gd name="adj" fmla="val 10000"/>
            </a:avLst>
          </a:prstGeom>
          <a:solidFill>
            <a:srgbClr val="FFF8E6"/>
          </a:solidFill>
          <a:ln w="12700">
            <a:solidFill>
              <a:srgbClr val="F2D4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892040"/>
            <a:ext cx="10607040" cy="1234440"/>
          </a:xfrm>
          <a:prstGeom prst="rect">
            <a:avLst/>
          </a:prstGeom>
          <a:noFill/>
        </p:spPr>
        <p:txBody>
          <a:bodyPr wrap="square" lIns="0" rIns="0" tIns="0" bIns="0" anchor="ctr">
            <a:spAutoFit/>
          </a:bodyPr>
          <a:lstStyle/>
          <a:p>
            <a:pPr algn="l">
              <a:lnSpc>
                <a:spcPct val="110000"/>
              </a:lnSpc>
              <a:spcAft>
                <a:spcPts val="0"/>
              </a:spcAft>
            </a:pPr>
            <a:r>
              <a:rPr sz="1500" b="1" i="0">
                <a:solidFill>
                  <a:srgbClr val="B07D12"/>
                </a:solidFill>
                <a:latin typeface="Segoe UI Semibold"/>
                <a:ea typeface="Yu Gothic"/>
              </a:rPr>
              <a:t>Không có trạng thái thua.  </a:t>
            </a:r>
            <a:r>
              <a:rPr sz="1500" b="0" i="0">
                <a:solidFill>
                  <a:srgbClr val="22304A"/>
                </a:solidFill>
                <a:latin typeface="Segoe UI"/>
                <a:ea typeface="Yu Gothic"/>
              </a:rPr>
              <a:t>Mỗi nhóm điểm trong khoảng 0–100, điểm tổng là trung bình 5 nhóm. Chọn sai chỉ trừ điểm nhóm tương ứng và mở nhánh giải thích.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05 · KIỂM THỬ</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Lỗi phát hiện qua test Play Mode và đã sửa</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30</a:t>
            </a:r>
          </a:p>
        </p:txBody>
      </p:sp>
      <p:graphicFrame>
        <p:nvGraphicFramePr>
          <p:cNvPr id="8" name="Table 7"/>
          <p:cNvGraphicFramePr>
            <a:graphicFrameLocks noGrp="1"/>
          </p:cNvGraphicFramePr>
          <p:nvPr/>
        </p:nvGraphicFramePr>
        <p:xfrm>
          <a:off x="548640" y="1417320"/>
          <a:ext cx="11091672" cy="3328416"/>
        </p:xfrm>
        <a:graphic>
          <a:graphicData uri="http://schemas.openxmlformats.org/drawingml/2006/table">
            <a:tbl>
              <a:tblPr firstRow="1" bandRow="0"/>
              <a:tblGrid>
                <a:gridCol w="2926080"/>
                <a:gridCol w="3657600"/>
                <a:gridCol w="4507992"/>
              </a:tblGrid>
              <a:tr h="475488">
                <a:tc>
                  <a:txBody>
                    <a:bodyPr wrap="square"/>
                    <a:lstStyle/>
                    <a:p>
                      <a:r>
                        <a:rPr sz="1200">
                          <a:solidFill>
                            <a:srgbClr val="FFFFFF"/>
                          </a:solidFill>
                          <a:latin typeface="Segoe UI Semibold"/>
                        </a:rPr>
                        <a:t>Lỗi phát hiện</a:t>
                      </a:r>
                    </a:p>
                  </a:txBody>
                  <a:tcPr marL="109728" marR="109728" marT="45720" marB="45720" anchor="ctr">
                    <a:solidFill>
                      <a:srgbClr val="14213D"/>
                    </a:solidFill>
                  </a:tcPr>
                </a:tc>
                <a:tc>
                  <a:txBody>
                    <a:bodyPr wrap="square"/>
                    <a:lstStyle/>
                    <a:p>
                      <a:r>
                        <a:rPr sz="1200">
                          <a:solidFill>
                            <a:srgbClr val="FFFFFF"/>
                          </a:solidFill>
                          <a:latin typeface="Segoe UI Semibold"/>
                        </a:rPr>
                        <a:t>Nguyên nhân</a:t>
                      </a:r>
                    </a:p>
                  </a:txBody>
                  <a:tcPr marL="109728" marR="109728" marT="45720" marB="45720" anchor="ctr">
                    <a:solidFill>
                      <a:srgbClr val="14213D"/>
                    </a:solidFill>
                  </a:tcPr>
                </a:tc>
                <a:tc>
                  <a:txBody>
                    <a:bodyPr wrap="square"/>
                    <a:lstStyle/>
                    <a:p>
                      <a:r>
                        <a:rPr sz="1200">
                          <a:solidFill>
                            <a:srgbClr val="FFFFFF"/>
                          </a:solidFill>
                          <a:latin typeface="Segoe UI Semibold"/>
                        </a:rPr>
                        <a:t>Cách sửa</a:t>
                      </a:r>
                    </a:p>
                  </a:txBody>
                  <a:tcPr marL="109728" marR="109728" marT="45720" marB="45720" anchor="ctr">
                    <a:solidFill>
                      <a:srgbClr val="14213D"/>
                    </a:solidFill>
                  </a:tcPr>
                </a:tc>
              </a:tr>
              <a:tr h="475488">
                <a:tc>
                  <a:txBody>
                    <a:bodyPr wrap="square"/>
                    <a:lstStyle/>
                    <a:p>
                      <a:r>
                        <a:rPr sz="1200">
                          <a:solidFill>
                            <a:srgbClr val="14213D"/>
                          </a:solidFill>
                          <a:latin typeface="Segoe UI Semibold"/>
                        </a:rPr>
                        <a:t>Nhấn F ở giường không ngủ</a:t>
                      </a:r>
                    </a:p>
                  </a:txBody>
                  <a:tcPr marL="109728" marR="109728" marT="45720" marB="45720" anchor="ctr">
                    <a:solidFill>
                      <a:srgbClr val="FFFFFF"/>
                    </a:solidFill>
                  </a:tcPr>
                </a:tc>
                <a:tc>
                  <a:txBody>
                    <a:bodyPr wrap="square"/>
                    <a:lstStyle/>
                    <a:p>
                      <a:r>
                        <a:rPr sz="1200">
                          <a:solidFill>
                            <a:srgbClr val="22304A"/>
                          </a:solidFill>
                          <a:latin typeface="Segoe UI"/>
                        </a:rPr>
                        <a:t>Giường không có script tương tác</a:t>
                      </a:r>
                    </a:p>
                  </a:txBody>
                  <a:tcPr marL="109728" marR="109728" marT="45720" marB="45720" anchor="ctr">
                    <a:solidFill>
                      <a:srgbClr val="FFFFFF"/>
                    </a:solidFill>
                  </a:tcPr>
                </a:tc>
                <a:tc>
                  <a:txBody>
                    <a:bodyPr wrap="square"/>
                    <a:lstStyle/>
                    <a:p>
                      <a:r>
                        <a:rPr sz="1200">
                          <a:solidFill>
                            <a:srgbClr val="22304A"/>
                          </a:solidFill>
                          <a:latin typeface="Segoe UI"/>
                        </a:rPr>
                        <a:t>Gắn BedroomRestInteractable, điểm nằm/đứng, màn đêm → sáng</a:t>
                      </a:r>
                    </a:p>
                  </a:txBody>
                  <a:tcPr marL="109728" marR="109728" marT="45720" marB="45720" anchor="ctr">
                    <a:solidFill>
                      <a:srgbClr val="FFFFFF"/>
                    </a:solidFill>
                  </a:tcPr>
                </a:tc>
              </a:tr>
              <a:tr h="475488">
                <a:tc>
                  <a:txBody>
                    <a:bodyPr wrap="square"/>
                    <a:lstStyle/>
                    <a:p>
                      <a:r>
                        <a:rPr sz="1200">
                          <a:solidFill>
                            <a:srgbClr val="14213D"/>
                          </a:solidFill>
                          <a:latin typeface="Segoe UI Semibold"/>
                        </a:rPr>
                        <a:t>Nhân vật T-pose khi ngủ/ngồi</a:t>
                      </a:r>
                    </a:p>
                  </a:txBody>
                  <a:tcPr marL="109728" marR="109728" marT="45720" marB="45720" anchor="ctr">
                    <a:solidFill>
                      <a:srgbClr val="F2F5FA"/>
                    </a:solidFill>
                  </a:tcPr>
                </a:tc>
                <a:tc>
                  <a:txBody>
                    <a:bodyPr wrap="square"/>
                    <a:lstStyle/>
                    <a:p>
                      <a:r>
                        <a:rPr sz="1200">
                          <a:solidFill>
                            <a:srgbClr val="22304A"/>
                          </a:solidFill>
                          <a:latin typeface="Segoe UI"/>
                        </a:rPr>
                        <a:t>Clip Sitting/Laying import kiểu Generic</a:t>
                      </a:r>
                    </a:p>
                  </a:txBody>
                  <a:tcPr marL="109728" marR="109728" marT="45720" marB="45720" anchor="ctr">
                    <a:solidFill>
                      <a:srgbClr val="F2F5FA"/>
                    </a:solidFill>
                  </a:tcPr>
                </a:tc>
                <a:tc>
                  <a:txBody>
                    <a:bodyPr wrap="square"/>
                    <a:lstStyle/>
                    <a:p>
                      <a:r>
                        <a:rPr sz="1200">
                          <a:solidFill>
                            <a:srgbClr val="22304A"/>
                          </a:solidFill>
                          <a:latin typeface="Segoe UI"/>
                        </a:rPr>
                        <a:t>Chuyển Humanoid, thêm state Sit/Lay vào animator</a:t>
                      </a:r>
                    </a:p>
                  </a:txBody>
                  <a:tcPr marL="109728" marR="109728" marT="45720" marB="45720" anchor="ctr">
                    <a:solidFill>
                      <a:srgbClr val="F2F5FA"/>
                    </a:solidFill>
                  </a:tcPr>
                </a:tc>
              </a:tr>
              <a:tr h="475488">
                <a:tc>
                  <a:txBody>
                    <a:bodyPr wrap="square"/>
                    <a:lstStyle/>
                    <a:p>
                      <a:r>
                        <a:rPr sz="1200">
                          <a:solidFill>
                            <a:srgbClr val="14213D"/>
                          </a:solidFill>
                          <a:latin typeface="Segoe UI Semibold"/>
                        </a:rPr>
                        <a:t>Siêu thị lộ thiên, kẹt lối đi</a:t>
                      </a:r>
                    </a:p>
                  </a:txBody>
                  <a:tcPr marL="109728" marR="109728" marT="45720" marB="45720" anchor="ctr">
                    <a:solidFill>
                      <a:srgbClr val="FFFFFF"/>
                    </a:solidFill>
                  </a:tcPr>
                </a:tc>
                <a:tc>
                  <a:txBody>
                    <a:bodyPr wrap="square"/>
                    <a:lstStyle/>
                    <a:p>
                      <a:r>
                        <a:rPr sz="1200">
                          <a:solidFill>
                            <a:srgbClr val="22304A"/>
                          </a:solidFill>
                          <a:latin typeface="Segoe UI"/>
                        </a:rPr>
                        <a:t>61 object nhân bản + 3 tường vô hình</a:t>
                      </a:r>
                    </a:p>
                  </a:txBody>
                  <a:tcPr marL="109728" marR="109728" marT="45720" marB="45720" anchor="ctr">
                    <a:solidFill>
                      <a:srgbClr val="FFFFFF"/>
                    </a:solidFill>
                  </a:tcPr>
                </a:tc>
                <a:tc>
                  <a:txBody>
                    <a:bodyPr wrap="square"/>
                    <a:lstStyle/>
                    <a:p>
                      <a:r>
                        <a:rPr sz="1200">
                          <a:solidFill>
                            <a:srgbClr val="22304A"/>
                          </a:solidFill>
                          <a:latin typeface="Segoe UI"/>
                        </a:rPr>
                        <a:t>Dựng tòa nhà ひばりマート, dọn rác, test lối đi</a:t>
                      </a:r>
                    </a:p>
                  </a:txBody>
                  <a:tcPr marL="109728" marR="109728" marT="45720" marB="45720" anchor="ctr">
                    <a:solidFill>
                      <a:srgbClr val="FFFFFF"/>
                    </a:solidFill>
                  </a:tcPr>
                </a:tc>
              </a:tr>
              <a:tr h="475488">
                <a:tc>
                  <a:txBody>
                    <a:bodyPr wrap="square"/>
                    <a:lstStyle/>
                    <a:p>
                      <a:r>
                        <a:rPr sz="1200">
                          <a:solidFill>
                            <a:srgbClr val="14213D"/>
                          </a:solidFill>
                          <a:latin typeface="Segoe UI Semibold"/>
                        </a:rPr>
                        <a:t>Nhiệm vụ konbini bị kẹt</a:t>
                      </a:r>
                    </a:p>
                  </a:txBody>
                  <a:tcPr marL="109728" marR="109728" marT="45720" marB="45720" anchor="ctr">
                    <a:solidFill>
                      <a:srgbClr val="F2F5FA"/>
                    </a:solidFill>
                  </a:tcPr>
                </a:tc>
                <a:tc>
                  <a:txBody>
                    <a:bodyPr wrap="square"/>
                    <a:lstStyle/>
                    <a:p>
                      <a:r>
                        <a:rPr sz="1200">
                          <a:solidFill>
                            <a:srgbClr val="22304A"/>
                          </a:solidFill>
                          <a:latin typeface="Segoe UI"/>
                        </a:rPr>
                        <a:t>Thiếu NPC thu ngân npc_cashier</a:t>
                      </a:r>
                    </a:p>
                  </a:txBody>
                  <a:tcPr marL="109728" marR="109728" marT="45720" marB="45720" anchor="ctr">
                    <a:solidFill>
                      <a:srgbClr val="F2F5FA"/>
                    </a:solidFill>
                  </a:tcPr>
                </a:tc>
                <a:tc>
                  <a:txBody>
                    <a:bodyPr wrap="square"/>
                    <a:lstStyle/>
                    <a:p>
                      <a:r>
                        <a:rPr sz="1200">
                          <a:solidFill>
                            <a:srgbClr val="22304A"/>
                          </a:solidFill>
                          <a:latin typeface="Segoe UI"/>
                        </a:rPr>
                        <a:t>Thêm chị Ito sau quầy</a:t>
                      </a:r>
                    </a:p>
                  </a:txBody>
                  <a:tcPr marL="109728" marR="109728" marT="45720" marB="45720" anchor="ctr">
                    <a:solidFill>
                      <a:srgbClr val="F2F5FA"/>
                    </a:solidFill>
                  </a:tcPr>
                </a:tc>
              </a:tr>
              <a:tr h="475488">
                <a:tc>
                  <a:txBody>
                    <a:bodyPr wrap="square"/>
                    <a:lstStyle/>
                    <a:p>
                      <a:r>
                        <a:rPr sz="1200">
                          <a:solidFill>
                            <a:srgbClr val="14213D"/>
                          </a:solidFill>
                          <a:latin typeface="Segoe UI Semibold"/>
                        </a:rPr>
                        <a:t>Thu ngân / đầu bếp T-pose</a:t>
                      </a:r>
                    </a:p>
                  </a:txBody>
                  <a:tcPr marL="109728" marR="109728" marT="45720" marB="45720" anchor="ctr">
                    <a:solidFill>
                      <a:srgbClr val="FFFFFF"/>
                    </a:solidFill>
                  </a:tcPr>
                </a:tc>
                <a:tc>
                  <a:txBody>
                    <a:bodyPr wrap="square"/>
                    <a:lstStyle/>
                    <a:p>
                      <a:r>
                        <a:rPr sz="1200">
                          <a:solidFill>
                            <a:srgbClr val="22304A"/>
                          </a:solidFill>
                          <a:latin typeface="Segoe UI"/>
                        </a:rPr>
                        <a:t>Mô hình NL_Cashier không có xương</a:t>
                      </a:r>
                    </a:p>
                  </a:txBody>
                  <a:tcPr marL="109728" marR="109728" marT="45720" marB="45720" anchor="ctr">
                    <a:solidFill>
                      <a:srgbClr val="FFFFFF"/>
                    </a:solidFill>
                  </a:tcPr>
                </a:tc>
                <a:tc>
                  <a:txBody>
                    <a:bodyPr wrap="square"/>
                    <a:lstStyle/>
                    <a:p>
                      <a:r>
                        <a:rPr sz="1200">
                          <a:solidFill>
                            <a:srgbClr val="22304A"/>
                          </a:solidFill>
                          <a:latin typeface="Segoe UI"/>
                        </a:rPr>
                        <a:t>Dựng lại prefab từ mô hình có xương + tạp dề</a:t>
                      </a:r>
                    </a:p>
                  </a:txBody>
                  <a:tcPr marL="109728" marR="109728" marT="45720" marB="45720" anchor="ctr">
                    <a:solidFill>
                      <a:srgbClr val="FFFFFF"/>
                    </a:solidFill>
                  </a:tcPr>
                </a:tc>
              </a:tr>
              <a:tr h="475488">
                <a:tc>
                  <a:txBody>
                    <a:bodyPr wrap="square"/>
                    <a:lstStyle/>
                    <a:p>
                      <a:r>
                        <a:rPr sz="1200">
                          <a:solidFill>
                            <a:srgbClr val="14213D"/>
                          </a:solidFill>
                          <a:latin typeface="Segoe UI Semibold"/>
                        </a:rPr>
                        <a:t>Trung tâm luyện thi trống</a:t>
                      </a:r>
                    </a:p>
                  </a:txBody>
                  <a:tcPr marL="109728" marR="109728" marT="45720" marB="45720" anchor="ctr">
                    <a:solidFill>
                      <a:srgbClr val="F2F5FA"/>
                    </a:solidFill>
                  </a:tcPr>
                </a:tc>
                <a:tc>
                  <a:txBody>
                    <a:bodyPr wrap="square"/>
                    <a:lstStyle/>
                    <a:p>
                      <a:r>
                        <a:rPr sz="1200">
                          <a:solidFill>
                            <a:srgbClr val="22304A"/>
                          </a:solidFill>
                          <a:latin typeface="Segoe UI"/>
                        </a:rPr>
                        <a:t>ExamDefinition nằm sai file</a:t>
                      </a:r>
                    </a:p>
                  </a:txBody>
                  <a:tcPr marL="109728" marR="109728" marT="45720" marB="45720" anchor="ctr">
                    <a:solidFill>
                      <a:srgbClr val="F2F5FA"/>
                    </a:solidFill>
                  </a:tcPr>
                </a:tc>
                <a:tc>
                  <a:txBody>
                    <a:bodyPr wrap="square"/>
                    <a:lstStyle/>
                    <a:p>
                      <a:r>
                        <a:rPr sz="1200">
                          <a:solidFill>
                            <a:srgbClr val="22304A"/>
                          </a:solidFill>
                          <a:latin typeface="Segoe UI"/>
                        </a:rPr>
                        <a:t>Tách ExamDefinition.cs, giữ GUID</a:t>
                      </a:r>
                    </a:p>
                  </a:txBody>
                  <a:tcPr marL="109728" marR="109728" marT="45720" marB="45720" anchor="ctr">
                    <a:solidFill>
                      <a:srgbClr val="F2F5FA"/>
                    </a:solidFill>
                  </a:tcPr>
                </a:tc>
              </a:tr>
            </a:tbl>
          </a:graphicData>
        </a:graphic>
      </p:graphicFrame>
      <p:sp>
        <p:nvSpPr>
          <p:cNvPr id="9" name="TextBox 8"/>
          <p:cNvSpPr txBox="1"/>
          <p:nvPr/>
        </p:nvSpPr>
        <p:spPr>
          <a:xfrm>
            <a:off x="548640" y="4937760"/>
            <a:ext cx="3474720" cy="822960"/>
          </a:xfrm>
          <a:prstGeom prst="rect">
            <a:avLst/>
          </a:prstGeom>
          <a:noFill/>
        </p:spPr>
        <p:txBody>
          <a:bodyPr wrap="square" lIns="0" rIns="0" tIns="0" bIns="0" anchor="t">
            <a:spAutoFit/>
          </a:bodyPr>
          <a:lstStyle/>
          <a:p>
            <a:pPr algn="l">
              <a:lnSpc>
                <a:spcPct val="110000"/>
              </a:lnSpc>
              <a:spcAft>
                <a:spcPts val="0"/>
              </a:spcAft>
            </a:pPr>
            <a:r>
              <a:rPr sz="4000" b="0" i="0">
                <a:solidFill>
                  <a:srgbClr val="C8463D"/>
                </a:solidFill>
                <a:latin typeface="Segoe UI Semibold"/>
                <a:ea typeface="Yu Gothic"/>
              </a:rPr>
              <a:t>5/5</a:t>
            </a:r>
          </a:p>
        </p:txBody>
      </p:sp>
      <p:sp>
        <p:nvSpPr>
          <p:cNvPr id="10" name="TextBox 9"/>
          <p:cNvSpPr txBox="1"/>
          <p:nvPr/>
        </p:nvSpPr>
        <p:spPr>
          <a:xfrm>
            <a:off x="548640" y="5669280"/>
            <a:ext cx="3474720" cy="457200"/>
          </a:xfrm>
          <a:prstGeom prst="rect">
            <a:avLst/>
          </a:prstGeom>
          <a:noFill/>
        </p:spPr>
        <p:txBody>
          <a:bodyPr wrap="square" lIns="0" rIns="0" tIns="0" bIns="0" anchor="t">
            <a:spAutoFit/>
          </a:bodyPr>
          <a:lstStyle/>
          <a:p>
            <a:pPr algn="l">
              <a:lnSpc>
                <a:spcPct val="110000"/>
              </a:lnSpc>
              <a:spcAft>
                <a:spcPts val="0"/>
              </a:spcAft>
            </a:pPr>
            <a:r>
              <a:rPr sz="1400" b="0" i="0">
                <a:solidFill>
                  <a:srgbClr val="5B6B82"/>
                </a:solidFill>
                <a:latin typeface="Segoe UI"/>
                <a:ea typeface="Yu Gothic"/>
              </a:rPr>
              <a:t>Play Mode test đạt</a:t>
            </a:r>
          </a:p>
        </p:txBody>
      </p:sp>
      <p:sp>
        <p:nvSpPr>
          <p:cNvPr id="11" name="TextBox 10"/>
          <p:cNvSpPr txBox="1"/>
          <p:nvPr/>
        </p:nvSpPr>
        <p:spPr>
          <a:xfrm>
            <a:off x="4297679" y="4937760"/>
            <a:ext cx="3474720" cy="822960"/>
          </a:xfrm>
          <a:prstGeom prst="rect">
            <a:avLst/>
          </a:prstGeom>
          <a:noFill/>
        </p:spPr>
        <p:txBody>
          <a:bodyPr wrap="square" lIns="0" rIns="0" tIns="0" bIns="0" anchor="t">
            <a:spAutoFit/>
          </a:bodyPr>
          <a:lstStyle/>
          <a:p>
            <a:pPr algn="l">
              <a:lnSpc>
                <a:spcPct val="110000"/>
              </a:lnSpc>
              <a:spcAft>
                <a:spcPts val="0"/>
              </a:spcAft>
            </a:pPr>
            <a:r>
              <a:rPr sz="4000" b="0" i="0">
                <a:solidFill>
                  <a:srgbClr val="C8463D"/>
                </a:solidFill>
                <a:latin typeface="Segoe UI Semibold"/>
                <a:ea typeface="Yu Gothic"/>
              </a:rPr>
              <a:t>10/10</a:t>
            </a:r>
          </a:p>
        </p:txBody>
      </p:sp>
      <p:sp>
        <p:nvSpPr>
          <p:cNvPr id="12" name="TextBox 11"/>
          <p:cNvSpPr txBox="1"/>
          <p:nvPr/>
        </p:nvSpPr>
        <p:spPr>
          <a:xfrm>
            <a:off x="4297679" y="5669280"/>
            <a:ext cx="3474720" cy="457200"/>
          </a:xfrm>
          <a:prstGeom prst="rect">
            <a:avLst/>
          </a:prstGeom>
          <a:noFill/>
        </p:spPr>
        <p:txBody>
          <a:bodyPr wrap="square" lIns="0" rIns="0" tIns="0" bIns="0" anchor="t">
            <a:spAutoFit/>
          </a:bodyPr>
          <a:lstStyle/>
          <a:p>
            <a:pPr algn="l">
              <a:lnSpc>
                <a:spcPct val="110000"/>
              </a:lnSpc>
              <a:spcAft>
                <a:spcPts val="0"/>
              </a:spcAft>
            </a:pPr>
            <a:r>
              <a:rPr sz="1400" b="0" i="0">
                <a:solidFill>
                  <a:srgbClr val="5B6B82"/>
                </a:solidFill>
                <a:latin typeface="Segoe UI"/>
                <a:ea typeface="Yu Gothic"/>
              </a:rPr>
              <a:t>EditMode test đạt</a:t>
            </a:r>
          </a:p>
        </p:txBody>
      </p:sp>
      <p:sp>
        <p:nvSpPr>
          <p:cNvPr id="13" name="TextBox 12"/>
          <p:cNvSpPr txBox="1"/>
          <p:nvPr/>
        </p:nvSpPr>
        <p:spPr>
          <a:xfrm>
            <a:off x="8046719" y="4937760"/>
            <a:ext cx="3474720" cy="822960"/>
          </a:xfrm>
          <a:prstGeom prst="rect">
            <a:avLst/>
          </a:prstGeom>
          <a:noFill/>
        </p:spPr>
        <p:txBody>
          <a:bodyPr wrap="square" lIns="0" rIns="0" tIns="0" bIns="0" anchor="t">
            <a:spAutoFit/>
          </a:bodyPr>
          <a:lstStyle/>
          <a:p>
            <a:pPr algn="l">
              <a:lnSpc>
                <a:spcPct val="110000"/>
              </a:lnSpc>
              <a:spcAft>
                <a:spcPts val="0"/>
              </a:spcAft>
            </a:pPr>
            <a:r>
              <a:rPr sz="4000" b="0" i="0">
                <a:solidFill>
                  <a:srgbClr val="C8463D"/>
                </a:solidFill>
                <a:latin typeface="Segoe UI Semibold"/>
                <a:ea typeface="Yu Gothic"/>
              </a:rPr>
              <a:t>40+</a:t>
            </a:r>
          </a:p>
        </p:txBody>
      </p:sp>
      <p:sp>
        <p:nvSpPr>
          <p:cNvPr id="14" name="TextBox 13"/>
          <p:cNvSpPr txBox="1"/>
          <p:nvPr/>
        </p:nvSpPr>
        <p:spPr>
          <a:xfrm>
            <a:off x="8046719" y="5669280"/>
            <a:ext cx="3474720" cy="457200"/>
          </a:xfrm>
          <a:prstGeom prst="rect">
            <a:avLst/>
          </a:prstGeom>
          <a:noFill/>
        </p:spPr>
        <p:txBody>
          <a:bodyPr wrap="square" lIns="0" rIns="0" tIns="0" bIns="0" anchor="t">
            <a:spAutoFit/>
          </a:bodyPr>
          <a:lstStyle/>
          <a:p>
            <a:pPr algn="l">
              <a:lnSpc>
                <a:spcPct val="110000"/>
              </a:lnSpc>
              <a:spcAft>
                <a:spcPts val="0"/>
              </a:spcAft>
            </a:pPr>
            <a:r>
              <a:rPr sz="1400" b="0" i="0">
                <a:solidFill>
                  <a:srgbClr val="5B6B82"/>
                </a:solidFill>
                <a:latin typeface="Segoe UI"/>
                <a:ea typeface="Yu Gothic"/>
              </a:rPr>
              <a:t>ảnh tự chụp trong Play Mode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pic>
        <p:nvPicPr>
          <p:cNvPr id="2" name="Picture 1" descr="logo_dark.png"/>
          <p:cNvPicPr>
            <a:picLocks noChangeAspect="1"/>
          </p:cNvPicPr>
          <p:nvPr/>
        </p:nvPicPr>
        <p:blipFill>
          <a:blip r:embed="rId2"/>
          <a:stretch>
            <a:fillRect/>
          </a:stretch>
        </p:blipFill>
        <p:spPr>
          <a:xfrm>
            <a:off x="640080" y="548640"/>
            <a:ext cx="2040940" cy="566928"/>
          </a:xfrm>
          <a:prstGeom prst="rect">
            <a:avLst/>
          </a:prstGeom>
        </p:spPr>
      </p:pic>
      <p:sp>
        <p:nvSpPr>
          <p:cNvPr id="3" name="TextBox 2"/>
          <p:cNvSpPr txBox="1"/>
          <p:nvPr/>
        </p:nvSpPr>
        <p:spPr>
          <a:xfrm>
            <a:off x="640080" y="2057400"/>
            <a:ext cx="5486400" cy="1463040"/>
          </a:xfrm>
          <a:prstGeom prst="rect">
            <a:avLst/>
          </a:prstGeom>
          <a:noFill/>
        </p:spPr>
        <p:txBody>
          <a:bodyPr wrap="square" lIns="0" rIns="0" tIns="0" bIns="0" anchor="t">
            <a:spAutoFit/>
          </a:bodyPr>
          <a:lstStyle/>
          <a:p>
            <a:pPr algn="l">
              <a:lnSpc>
                <a:spcPct val="110000"/>
              </a:lnSpc>
              <a:spcAft>
                <a:spcPts val="0"/>
              </a:spcAft>
            </a:pPr>
            <a:r>
              <a:rPr sz="11000" b="0" i="0">
                <a:solidFill>
                  <a:srgbClr val="F2B233"/>
                </a:solidFill>
                <a:latin typeface="Segoe UI Semibold"/>
                <a:ea typeface="Yu Gothic"/>
              </a:rPr>
              <a:t>06</a:t>
            </a:r>
          </a:p>
        </p:txBody>
      </p:sp>
      <p:sp>
        <p:nvSpPr>
          <p:cNvPr id="4" name="TextBox 3"/>
          <p:cNvSpPr txBox="1"/>
          <p:nvPr/>
        </p:nvSpPr>
        <p:spPr>
          <a:xfrm>
            <a:off x="640080" y="3611880"/>
            <a:ext cx="5486400" cy="1280160"/>
          </a:xfrm>
          <a:prstGeom prst="rect">
            <a:avLst/>
          </a:prstGeom>
          <a:noFill/>
        </p:spPr>
        <p:txBody>
          <a:bodyPr wrap="square" lIns="0" rIns="0" tIns="0" bIns="0" anchor="t">
            <a:spAutoFit/>
          </a:bodyPr>
          <a:lstStyle/>
          <a:p>
            <a:pPr algn="l">
              <a:lnSpc>
                <a:spcPct val="110000"/>
              </a:lnSpc>
              <a:spcAft>
                <a:spcPts val="0"/>
              </a:spcAft>
            </a:pPr>
            <a:r>
              <a:rPr sz="4000" b="0" i="0">
                <a:solidFill>
                  <a:srgbClr val="FFFFFF"/>
                </a:solidFill>
                <a:latin typeface="Segoe UI Semibold"/>
                <a:ea typeface="Yu Gothic"/>
              </a:rPr>
              <a:t>Hướng phát triển</a:t>
            </a:r>
          </a:p>
        </p:txBody>
      </p:sp>
      <p:sp>
        <p:nvSpPr>
          <p:cNvPr id="5" name="TextBox 4"/>
          <p:cNvSpPr txBox="1"/>
          <p:nvPr/>
        </p:nvSpPr>
        <p:spPr>
          <a:xfrm>
            <a:off x="640080" y="4800600"/>
            <a:ext cx="5303520" cy="914400"/>
          </a:xfrm>
          <a:prstGeom prst="rect">
            <a:avLst/>
          </a:prstGeom>
          <a:noFill/>
        </p:spPr>
        <p:txBody>
          <a:bodyPr wrap="square" lIns="0" rIns="0" tIns="0" bIns="0" anchor="t">
            <a:spAutoFit/>
          </a:bodyPr>
          <a:lstStyle/>
          <a:p>
            <a:pPr algn="l">
              <a:lnSpc>
                <a:spcPct val="110000"/>
              </a:lnSpc>
              <a:spcAft>
                <a:spcPts val="0"/>
              </a:spcAft>
            </a:pPr>
            <a:r>
              <a:rPr sz="1600" b="0" i="0">
                <a:solidFill>
                  <a:srgbClr val="C8D3E6"/>
                </a:solidFill>
                <a:latin typeface="Segoe UI"/>
                <a:ea typeface="Yu Gothic"/>
              </a:rPr>
              <a:t>Từ một khu phố N5 tới nền tảng học tiếng Nhật trong ngữ cảnh.</a:t>
            </a:r>
          </a:p>
        </p:txBody>
      </p:sp>
      <p:sp>
        <p:nvSpPr>
          <p:cNvPr id="6" name="TextBox 5"/>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8FA0BC"/>
                </a:solidFill>
                <a:latin typeface="Segoe UI Semibold"/>
                <a:ea typeface="Yu Gothic"/>
              </a:rPr>
              <a:t>31</a:t>
            </a:r>
          </a:p>
        </p:txBody>
      </p:sp>
      <p:pic>
        <p:nvPicPr>
          <p:cNvPr id="7" name="Picture 6" descr="bed_12_awake.png"/>
          <p:cNvPicPr>
            <a:picLocks noChangeAspect="1"/>
          </p:cNvPicPr>
          <p:nvPr/>
        </p:nvPicPr>
        <p:blipFill>
          <a:blip r:embed="rId4"/>
          <a:srcRect l="27500" r="27500"/>
          <a:stretch>
            <a:fillRect/>
          </a:stretch>
        </p:blipFill>
        <p:spPr>
          <a:xfrm>
            <a:off x="6705295" y="0"/>
            <a:ext cx="54864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06 · HƯỚNG PHÁT TRIỂN</a:t>
            </a:r>
          </a:p>
        </p:txBody>
      </p:sp>
      <p:sp>
        <p:nvSpPr>
          <p:cNvPr id="3" name="TextBox 2"/>
          <p:cNvSpPr txBox="1"/>
          <p:nvPr/>
        </p:nvSpPr>
        <p:spPr>
          <a:xfrm>
            <a:off x="548640" y="603504"/>
            <a:ext cx="7863840" cy="731520"/>
          </a:xfrm>
          <a:prstGeom prst="rect">
            <a:avLst/>
          </a:prstGeom>
          <a:noFill/>
        </p:spPr>
        <p:txBody>
          <a:bodyPr wrap="square" lIns="0" rIns="0" tIns="0" bIns="0" anchor="t">
            <a:spAutoFit/>
          </a:bodyPr>
          <a:lstStyle/>
          <a:p>
            <a:pPr algn="l">
              <a:lnSpc>
                <a:spcPct val="110000"/>
              </a:lnSpc>
              <a:spcAft>
                <a:spcPts val="0"/>
              </a:spcAft>
            </a:pPr>
            <a:r>
              <a:rPr sz="3000" b="0" i="0">
                <a:solidFill>
                  <a:srgbClr val="14213D"/>
                </a:solidFill>
                <a:latin typeface="Segoe UI Semibold"/>
                <a:ea typeface="Yu Gothic"/>
              </a:rPr>
              <a:t>Lộ trình mở rộng</a:t>
            </a:r>
          </a:p>
        </p:txBody>
      </p:sp>
      <p:pic>
        <p:nvPicPr>
          <p:cNvPr id="4" name="Picture 3" descr="vtc-logo.png"/>
          <p:cNvPicPr>
            <a:picLocks noChangeAspect="1"/>
          </p:cNvPicPr>
          <p:nvPr/>
        </p:nvPicPr>
        <p:blipFill>
          <a:blip r:embed="rId2"/>
          <a:stretch>
            <a:fillRect/>
          </a:stretch>
        </p:blipFill>
        <p:spPr>
          <a:xfrm>
            <a:off x="8577072" y="429768"/>
            <a:ext cx="1834286" cy="310896"/>
          </a:xfrm>
          <a:prstGeom prst="rect">
            <a:avLst/>
          </a:prstGeom>
        </p:spPr>
      </p:pic>
      <p:pic>
        <p:nvPicPr>
          <p:cNvPr id="5" name="Picture 4" descr="logo_mark.png"/>
          <p:cNvPicPr>
            <a:picLocks noChangeAspect="1"/>
          </p:cNvPicPr>
          <p:nvPr/>
        </p:nvPicPr>
        <p:blipFill>
          <a:blip r:embed="rId3"/>
          <a:stretch>
            <a:fillRect/>
          </a:stretch>
        </p:blipFill>
        <p:spPr>
          <a:xfrm>
            <a:off x="11201400" y="365760"/>
            <a:ext cx="438912" cy="438912"/>
          </a:xfrm>
          <a:prstGeom prst="rect">
            <a:avLst/>
          </a:prstGeom>
        </p:spPr>
      </p:pic>
      <p:sp>
        <p:nvSpPr>
          <p:cNvPr id="6" name="TextBox 5"/>
          <p:cNvSpPr txBox="1"/>
          <p:nvPr/>
        </p:nvSpPr>
        <p:spPr>
          <a:xfrm>
            <a:off x="548640" y="6400800"/>
            <a:ext cx="54864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5B6B82"/>
                </a:solidFill>
                <a:latin typeface="Segoe UI"/>
                <a:ea typeface="Yu Gothic"/>
              </a:rPr>
              <a:t>NihongoLife  ·  Project 3 Capstone  ·  VTC Academy</a:t>
            </a:r>
          </a:p>
        </p:txBody>
      </p:sp>
      <p:sp>
        <p:nvSpPr>
          <p:cNvPr id="7" name="TextBox 6"/>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5B6B82"/>
                </a:solidFill>
                <a:latin typeface="Segoe UI Semibold"/>
                <a:ea typeface="Yu Gothic"/>
              </a:rPr>
              <a:t>32</a:t>
            </a:r>
          </a:p>
        </p:txBody>
      </p:sp>
      <p:sp>
        <p:nvSpPr>
          <p:cNvPr id="8" name="Rounded Rectangle 7"/>
          <p:cNvSpPr/>
          <p:nvPr/>
        </p:nvSpPr>
        <p:spPr>
          <a:xfrm>
            <a:off x="548640" y="1600200"/>
            <a:ext cx="3474720" cy="4480560"/>
          </a:xfrm>
          <a:prstGeom prst="roundRect">
            <a:avLst>
              <a:gd name="adj" fmla="val 6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28800"/>
            <a:ext cx="2926080" cy="36576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GIAI ĐOẠN 1</a:t>
            </a:r>
          </a:p>
        </p:txBody>
      </p:sp>
      <p:sp>
        <p:nvSpPr>
          <p:cNvPr id="10" name="TextBox 9"/>
          <p:cNvSpPr txBox="1"/>
          <p:nvPr/>
        </p:nvSpPr>
        <p:spPr>
          <a:xfrm>
            <a:off x="868680" y="2194560"/>
            <a:ext cx="2926080" cy="548640"/>
          </a:xfrm>
          <a:prstGeom prst="rect">
            <a:avLst/>
          </a:prstGeom>
          <a:noFill/>
        </p:spPr>
        <p:txBody>
          <a:bodyPr wrap="square" lIns="0" rIns="0" tIns="0" bIns="0" anchor="t">
            <a:spAutoFit/>
          </a:bodyPr>
          <a:lstStyle/>
          <a:p>
            <a:pPr algn="l">
              <a:lnSpc>
                <a:spcPct val="110000"/>
              </a:lnSpc>
              <a:spcAft>
                <a:spcPts val="0"/>
              </a:spcAft>
            </a:pPr>
            <a:r>
              <a:rPr sz="2600" b="0" i="0">
                <a:solidFill>
                  <a:srgbClr val="14213D"/>
                </a:solidFill>
                <a:latin typeface="Segoe UI Semibold"/>
                <a:ea typeface="Yu Gothic"/>
              </a:rPr>
              <a:t>Ngắn hạn</a:t>
            </a:r>
          </a:p>
        </p:txBody>
      </p:sp>
      <p:sp>
        <p:nvSpPr>
          <p:cNvPr id="11" name="TextBox 10"/>
          <p:cNvSpPr txBox="1"/>
          <p:nvPr/>
        </p:nvSpPr>
        <p:spPr>
          <a:xfrm>
            <a:off x="868680" y="3063240"/>
            <a:ext cx="2880360" cy="2926080"/>
          </a:xfrm>
          <a:prstGeom prst="rect">
            <a:avLst/>
          </a:prstGeom>
          <a:noFill/>
        </p:spPr>
        <p:txBody>
          <a:bodyPr wrap="square" lIns="0" rIns="0" tIns="0" bIns="0">
            <a:spAutoFit/>
          </a:bodyPr>
          <a:lstStyle/>
          <a:p>
            <a:pPr marL="256032" indent="-256032">
              <a:lnSpc>
                <a:spcPct val="110000"/>
              </a:lnSpc>
              <a:spcAft>
                <a:spcPts val="1400"/>
              </a:spcAft>
              <a:buClr>
                <a:srgbClr val="F2B233"/>
              </a:buClr>
              <a:buFont typeface="Arial"/>
              <a:buChar char="●"/>
            </a:pPr>
            <a:r>
              <a:rPr sz="1500">
                <a:solidFill>
                  <a:srgbClr val="22304A"/>
                </a:solidFill>
                <a:latin typeface="Segoe UI"/>
                <a:ea typeface="Yu Gothic"/>
              </a:rPr>
              <a:t>Lồng tiếng Nhật thật cho NPC</a:t>
            </a:r>
          </a:p>
          <a:p>
            <a:pPr marL="256032" indent="-256032">
              <a:lnSpc>
                <a:spcPct val="110000"/>
              </a:lnSpc>
              <a:spcAft>
                <a:spcPts val="1400"/>
              </a:spcAft>
              <a:buClr>
                <a:srgbClr val="F2B233"/>
              </a:buClr>
              <a:buFont typeface="Arial"/>
              <a:buChar char="●"/>
            </a:pPr>
            <a:r>
              <a:rPr sz="1500">
                <a:solidFill>
                  <a:srgbClr val="22304A"/>
                </a:solidFill>
                <a:latin typeface="Segoe UI"/>
                <a:ea typeface="Yu Gothic"/>
              </a:rPr>
              <a:t>Giáo viên bản ngữ duyệt nội dung</a:t>
            </a:r>
          </a:p>
          <a:p>
            <a:pPr marL="256032" indent="-256032">
              <a:lnSpc>
                <a:spcPct val="110000"/>
              </a:lnSpc>
              <a:spcAft>
                <a:spcPts val="1400"/>
              </a:spcAft>
              <a:buClr>
                <a:srgbClr val="F2B233"/>
              </a:buClr>
              <a:buFont typeface="Arial"/>
              <a:buChar char="●"/>
            </a:pPr>
            <a:r>
              <a:rPr sz="1500">
                <a:solidFill>
                  <a:srgbClr val="22304A"/>
                </a:solidFill>
                <a:latin typeface="Segoe UI"/>
                <a:ea typeface="Yu Gothic"/>
              </a:rPr>
              <a:t>Mô hình riêng cho từng NPC</a:t>
            </a:r>
          </a:p>
        </p:txBody>
      </p:sp>
      <p:sp>
        <p:nvSpPr>
          <p:cNvPr id="12" name="Rounded Rectangle 11"/>
          <p:cNvSpPr/>
          <p:nvPr/>
        </p:nvSpPr>
        <p:spPr>
          <a:xfrm>
            <a:off x="4297679" y="1600200"/>
            <a:ext cx="3474720" cy="448056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19" y="1828800"/>
            <a:ext cx="2926080" cy="365760"/>
          </a:xfrm>
          <a:prstGeom prst="rect">
            <a:avLst/>
          </a:prstGeom>
          <a:noFill/>
        </p:spPr>
        <p:txBody>
          <a:bodyPr wrap="square" lIns="0" rIns="0" tIns="0" bIns="0" anchor="t">
            <a:spAutoFit/>
          </a:bodyPr>
          <a:lstStyle/>
          <a:p>
            <a:pPr algn="l">
              <a:lnSpc>
                <a:spcPct val="110000"/>
              </a:lnSpc>
              <a:spcAft>
                <a:spcPts val="0"/>
              </a:spcAft>
            </a:pPr>
            <a:r>
              <a:rPr sz="1200" b="0" i="0">
                <a:solidFill>
                  <a:srgbClr val="F2B233"/>
                </a:solidFill>
                <a:latin typeface="Segoe UI Semibold"/>
                <a:ea typeface="Yu Gothic"/>
              </a:rPr>
              <a:t>GIAI ĐOẠN 2</a:t>
            </a:r>
          </a:p>
        </p:txBody>
      </p:sp>
      <p:sp>
        <p:nvSpPr>
          <p:cNvPr id="14" name="TextBox 13"/>
          <p:cNvSpPr txBox="1"/>
          <p:nvPr/>
        </p:nvSpPr>
        <p:spPr>
          <a:xfrm>
            <a:off x="4617719" y="2194560"/>
            <a:ext cx="2926080" cy="548640"/>
          </a:xfrm>
          <a:prstGeom prst="rect">
            <a:avLst/>
          </a:prstGeom>
          <a:noFill/>
        </p:spPr>
        <p:txBody>
          <a:bodyPr wrap="square" lIns="0" rIns="0" tIns="0" bIns="0" anchor="t">
            <a:spAutoFit/>
          </a:bodyPr>
          <a:lstStyle/>
          <a:p>
            <a:pPr algn="l">
              <a:lnSpc>
                <a:spcPct val="110000"/>
              </a:lnSpc>
              <a:spcAft>
                <a:spcPts val="0"/>
              </a:spcAft>
            </a:pPr>
            <a:r>
              <a:rPr sz="2600" b="0" i="0">
                <a:solidFill>
                  <a:srgbClr val="FFFFFF"/>
                </a:solidFill>
                <a:latin typeface="Segoe UI Semibold"/>
                <a:ea typeface="Yu Gothic"/>
              </a:rPr>
              <a:t>Trung hạn</a:t>
            </a:r>
          </a:p>
        </p:txBody>
      </p:sp>
      <p:sp>
        <p:nvSpPr>
          <p:cNvPr id="15" name="TextBox 14"/>
          <p:cNvSpPr txBox="1"/>
          <p:nvPr/>
        </p:nvSpPr>
        <p:spPr>
          <a:xfrm>
            <a:off x="4617719" y="3063240"/>
            <a:ext cx="2880360" cy="2926080"/>
          </a:xfrm>
          <a:prstGeom prst="rect">
            <a:avLst/>
          </a:prstGeom>
          <a:noFill/>
        </p:spPr>
        <p:txBody>
          <a:bodyPr wrap="square" lIns="0" rIns="0" tIns="0" bIns="0">
            <a:spAutoFit/>
          </a:bodyPr>
          <a:lstStyle/>
          <a:p>
            <a:pPr marL="256032" indent="-256032">
              <a:lnSpc>
                <a:spcPct val="110000"/>
              </a:lnSpc>
              <a:spcAft>
                <a:spcPts val="1400"/>
              </a:spcAft>
              <a:buClr>
                <a:srgbClr val="F2B233"/>
              </a:buClr>
              <a:buFont typeface="Arial"/>
              <a:buChar char="●"/>
            </a:pPr>
            <a:r>
              <a:rPr sz="1500">
                <a:solidFill>
                  <a:srgbClr val="E3E9F3"/>
                </a:solidFill>
                <a:latin typeface="Segoe UI"/>
                <a:ea typeface="Yu Gothic"/>
              </a:rPr>
              <a:t>Bản WebGL và mobile</a:t>
            </a:r>
          </a:p>
          <a:p>
            <a:pPr marL="256032" indent="-256032">
              <a:lnSpc>
                <a:spcPct val="110000"/>
              </a:lnSpc>
              <a:spcAft>
                <a:spcPts val="1400"/>
              </a:spcAft>
              <a:buClr>
                <a:srgbClr val="F2B233"/>
              </a:buClr>
              <a:buFont typeface="Arial"/>
              <a:buChar char="●"/>
            </a:pPr>
            <a:r>
              <a:rPr sz="1500">
                <a:solidFill>
                  <a:srgbClr val="E3E9F3"/>
                </a:solidFill>
                <a:latin typeface="Segoe UI"/>
                <a:ea typeface="Yu Gothic"/>
              </a:rPr>
              <a:t>Backend xác thực điểm thi, xếp hạng</a:t>
            </a:r>
          </a:p>
          <a:p>
            <a:pPr marL="256032" indent="-256032">
              <a:lnSpc>
                <a:spcPct val="110000"/>
              </a:lnSpc>
              <a:spcAft>
                <a:spcPts val="1400"/>
              </a:spcAft>
              <a:buClr>
                <a:srgbClr val="F2B233"/>
              </a:buClr>
              <a:buFont typeface="Arial"/>
              <a:buChar char="●"/>
            </a:pPr>
            <a:r>
              <a:rPr sz="1500">
                <a:solidFill>
                  <a:srgbClr val="E3E9F3"/>
                </a:solidFill>
                <a:latin typeface="Segoe UI"/>
                <a:ea typeface="Yu Gothic"/>
              </a:rPr>
              <a:t>Co-op học cùng bạn hoàn chỉnh</a:t>
            </a:r>
          </a:p>
        </p:txBody>
      </p:sp>
      <p:sp>
        <p:nvSpPr>
          <p:cNvPr id="16" name="Rounded Rectangle 15"/>
          <p:cNvSpPr/>
          <p:nvPr/>
        </p:nvSpPr>
        <p:spPr>
          <a:xfrm>
            <a:off x="8046719" y="1600200"/>
            <a:ext cx="3474720" cy="4480560"/>
          </a:xfrm>
          <a:prstGeom prst="roundRect">
            <a:avLst>
              <a:gd name="adj" fmla="val 6000"/>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59" y="1828800"/>
            <a:ext cx="2926080" cy="365760"/>
          </a:xfrm>
          <a:prstGeom prst="rect">
            <a:avLst/>
          </a:prstGeom>
          <a:noFill/>
        </p:spPr>
        <p:txBody>
          <a:bodyPr wrap="square" lIns="0" rIns="0" tIns="0" bIns="0" anchor="t">
            <a:spAutoFit/>
          </a:bodyPr>
          <a:lstStyle/>
          <a:p>
            <a:pPr algn="l">
              <a:lnSpc>
                <a:spcPct val="110000"/>
              </a:lnSpc>
              <a:spcAft>
                <a:spcPts val="0"/>
              </a:spcAft>
            </a:pPr>
            <a:r>
              <a:rPr sz="1200" b="0" i="0">
                <a:solidFill>
                  <a:srgbClr val="B07D12"/>
                </a:solidFill>
                <a:latin typeface="Segoe UI Semibold"/>
                <a:ea typeface="Yu Gothic"/>
              </a:rPr>
              <a:t>GIAI ĐOẠN 3</a:t>
            </a:r>
          </a:p>
        </p:txBody>
      </p:sp>
      <p:sp>
        <p:nvSpPr>
          <p:cNvPr id="18" name="TextBox 17"/>
          <p:cNvSpPr txBox="1"/>
          <p:nvPr/>
        </p:nvSpPr>
        <p:spPr>
          <a:xfrm>
            <a:off x="8366759" y="2194560"/>
            <a:ext cx="2926080" cy="548640"/>
          </a:xfrm>
          <a:prstGeom prst="rect">
            <a:avLst/>
          </a:prstGeom>
          <a:noFill/>
        </p:spPr>
        <p:txBody>
          <a:bodyPr wrap="square" lIns="0" rIns="0" tIns="0" bIns="0" anchor="t">
            <a:spAutoFit/>
          </a:bodyPr>
          <a:lstStyle/>
          <a:p>
            <a:pPr algn="l">
              <a:lnSpc>
                <a:spcPct val="110000"/>
              </a:lnSpc>
              <a:spcAft>
                <a:spcPts val="0"/>
              </a:spcAft>
            </a:pPr>
            <a:r>
              <a:rPr sz="2600" b="0" i="0">
                <a:solidFill>
                  <a:srgbClr val="14213D"/>
                </a:solidFill>
                <a:latin typeface="Segoe UI Semibold"/>
                <a:ea typeface="Yu Gothic"/>
              </a:rPr>
              <a:t>Dài hạn</a:t>
            </a:r>
          </a:p>
        </p:txBody>
      </p:sp>
      <p:sp>
        <p:nvSpPr>
          <p:cNvPr id="19" name="TextBox 18"/>
          <p:cNvSpPr txBox="1"/>
          <p:nvPr/>
        </p:nvSpPr>
        <p:spPr>
          <a:xfrm>
            <a:off x="8366759" y="3063240"/>
            <a:ext cx="2880360" cy="2926080"/>
          </a:xfrm>
          <a:prstGeom prst="rect">
            <a:avLst/>
          </a:prstGeom>
          <a:noFill/>
        </p:spPr>
        <p:txBody>
          <a:bodyPr wrap="square" lIns="0" rIns="0" tIns="0" bIns="0">
            <a:spAutoFit/>
          </a:bodyPr>
          <a:lstStyle/>
          <a:p>
            <a:pPr marL="256032" indent="-256032">
              <a:lnSpc>
                <a:spcPct val="110000"/>
              </a:lnSpc>
              <a:spcAft>
                <a:spcPts val="1400"/>
              </a:spcAft>
              <a:buClr>
                <a:srgbClr val="F2B233"/>
              </a:buClr>
              <a:buFont typeface="Arial"/>
              <a:buChar char="●"/>
            </a:pPr>
            <a:r>
              <a:rPr sz="1500">
                <a:solidFill>
                  <a:srgbClr val="22304A"/>
                </a:solidFill>
                <a:latin typeface="Segoe UI"/>
                <a:ea typeface="Yu Gothic"/>
              </a:rPr>
              <a:t>Nội dung N4, N3 và khu vực mới</a:t>
            </a:r>
          </a:p>
          <a:p>
            <a:pPr marL="256032" indent="-256032">
              <a:lnSpc>
                <a:spcPct val="110000"/>
              </a:lnSpc>
              <a:spcAft>
                <a:spcPts val="1400"/>
              </a:spcAft>
              <a:buClr>
                <a:srgbClr val="F2B233"/>
              </a:buClr>
              <a:buFont typeface="Arial"/>
              <a:buChar char="●"/>
            </a:pPr>
            <a:r>
              <a:rPr sz="1500">
                <a:solidFill>
                  <a:srgbClr val="22304A"/>
                </a:solidFill>
                <a:latin typeface="Segoe UI"/>
                <a:ea typeface="Yu Gothic"/>
              </a:rPr>
              <a:t>Lộ trình học cá nhân hóa</a:t>
            </a:r>
          </a:p>
          <a:p>
            <a:pPr marL="256032" indent="-256032">
              <a:lnSpc>
                <a:spcPct val="110000"/>
              </a:lnSpc>
              <a:spcAft>
                <a:spcPts val="1400"/>
              </a:spcAft>
              <a:buClr>
                <a:srgbClr val="F2B233"/>
              </a:buClr>
              <a:buFont typeface="Arial"/>
              <a:buChar char="●"/>
            </a:pPr>
            <a:r>
              <a:rPr sz="1500">
                <a:solidFill>
                  <a:srgbClr val="22304A"/>
                </a:solidFill>
                <a:latin typeface="Segoe UI"/>
                <a:ea typeface="Yu Gothic"/>
              </a:rPr>
              <a:t>Kết nối LMS cho trường học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pic>
        <p:nvPicPr>
          <p:cNvPr id="2" name="Picture 1" descr="01_menu.png"/>
          <p:cNvPicPr>
            <a:picLocks noChangeAspect="1"/>
          </p:cNvPicPr>
          <p:nvPr/>
        </p:nvPicPr>
        <p:blipFill>
          <a:blip r:embed="rId2"/>
          <a:srcRect l="27500" r="27500"/>
          <a:stretch>
            <a:fillRect/>
          </a:stretch>
        </p:blipFill>
        <p:spPr>
          <a:xfrm>
            <a:off x="6705295" y="0"/>
            <a:ext cx="5486400" cy="6858000"/>
          </a:xfrm>
          <a:prstGeom prst="rect">
            <a:avLst/>
          </a:prstGeom>
        </p:spPr>
      </p:pic>
      <p:pic>
        <p:nvPicPr>
          <p:cNvPr id="3" name="Picture 2" descr="logo_dark.png"/>
          <p:cNvPicPr>
            <a:picLocks noChangeAspect="1"/>
          </p:cNvPicPr>
          <p:nvPr/>
        </p:nvPicPr>
        <p:blipFill>
          <a:blip r:embed="rId3"/>
          <a:stretch>
            <a:fillRect/>
          </a:stretch>
        </p:blipFill>
        <p:spPr>
          <a:xfrm>
            <a:off x="640080" y="594360"/>
            <a:ext cx="2633472" cy="731520"/>
          </a:xfrm>
          <a:prstGeom prst="rect">
            <a:avLst/>
          </a:prstGeom>
        </p:spPr>
      </p:pic>
      <p:sp>
        <p:nvSpPr>
          <p:cNvPr id="4" name="TextBox 3"/>
          <p:cNvSpPr txBox="1"/>
          <p:nvPr/>
        </p:nvSpPr>
        <p:spPr>
          <a:xfrm>
            <a:off x="640080" y="2011680"/>
            <a:ext cx="5852160" cy="914400"/>
          </a:xfrm>
          <a:prstGeom prst="rect">
            <a:avLst/>
          </a:prstGeom>
          <a:noFill/>
        </p:spPr>
        <p:txBody>
          <a:bodyPr wrap="square" lIns="0" rIns="0" tIns="0" bIns="0" anchor="t">
            <a:spAutoFit/>
          </a:bodyPr>
          <a:lstStyle/>
          <a:p>
            <a:pPr algn="l">
              <a:lnSpc>
                <a:spcPct val="110000"/>
              </a:lnSpc>
              <a:spcAft>
                <a:spcPts val="0"/>
              </a:spcAft>
            </a:pPr>
            <a:r>
              <a:rPr sz="3400" b="1" i="0">
                <a:solidFill>
                  <a:srgbClr val="F2B233"/>
                </a:solidFill>
                <a:latin typeface="Yu Gothic"/>
                <a:ea typeface="Yu Gothic"/>
              </a:rPr>
              <a:t>ありがとうございました</a:t>
            </a:r>
          </a:p>
        </p:txBody>
      </p:sp>
      <p:sp>
        <p:nvSpPr>
          <p:cNvPr id="5" name="TextBox 4"/>
          <p:cNvSpPr txBox="1"/>
          <p:nvPr/>
        </p:nvSpPr>
        <p:spPr>
          <a:xfrm>
            <a:off x="640080" y="2834640"/>
            <a:ext cx="5852160" cy="1463040"/>
          </a:xfrm>
          <a:prstGeom prst="rect">
            <a:avLst/>
          </a:prstGeom>
          <a:noFill/>
        </p:spPr>
        <p:txBody>
          <a:bodyPr wrap="square" lIns="0" rIns="0" tIns="0" bIns="0" anchor="t">
            <a:spAutoFit/>
          </a:bodyPr>
          <a:lstStyle/>
          <a:p>
            <a:pPr algn="l">
              <a:lnSpc>
                <a:spcPct val="100000"/>
              </a:lnSpc>
              <a:spcAft>
                <a:spcPts val="0"/>
              </a:spcAft>
            </a:pPr>
            <a:r>
              <a:rPr sz="3400" b="0" i="0">
                <a:solidFill>
                  <a:srgbClr val="FFFFFF"/>
                </a:solidFill>
                <a:latin typeface="Segoe UI Semibold"/>
                <a:ea typeface="Yu Gothic"/>
              </a:rPr>
              <a:t>Cảm ơn quý thầy cô và các bạn đã lắng nghe!</a:t>
            </a:r>
          </a:p>
        </p:txBody>
      </p:sp>
      <p:sp>
        <p:nvSpPr>
          <p:cNvPr id="6" name="TextBox 5"/>
          <p:cNvSpPr txBox="1"/>
          <p:nvPr/>
        </p:nvSpPr>
        <p:spPr>
          <a:xfrm>
            <a:off x="640080" y="4434840"/>
            <a:ext cx="5852160" cy="457200"/>
          </a:xfrm>
          <a:prstGeom prst="rect">
            <a:avLst/>
          </a:prstGeom>
          <a:noFill/>
        </p:spPr>
        <p:txBody>
          <a:bodyPr wrap="square" lIns="0" rIns="0" tIns="0" bIns="0" anchor="t">
            <a:spAutoFit/>
          </a:bodyPr>
          <a:lstStyle/>
          <a:p>
            <a:pPr algn="l">
              <a:lnSpc>
                <a:spcPct val="110000"/>
              </a:lnSpc>
              <a:spcAft>
                <a:spcPts val="0"/>
              </a:spcAft>
            </a:pPr>
            <a:r>
              <a:rPr sz="2000" b="0" i="0">
                <a:solidFill>
                  <a:srgbClr val="C8D3E6"/>
                </a:solidFill>
                <a:latin typeface="Segoe UI Semibold"/>
                <a:ea typeface="Yu Gothic"/>
              </a:rPr>
              <a:t>Hỏi &amp; đáp</a:t>
            </a:r>
          </a:p>
        </p:txBody>
      </p:sp>
      <p:sp>
        <p:nvSpPr>
          <p:cNvPr id="7" name="Rounded Rectangle 6"/>
          <p:cNvSpPr/>
          <p:nvPr/>
        </p:nvSpPr>
        <p:spPr>
          <a:xfrm>
            <a:off x="548640" y="5349240"/>
            <a:ext cx="3611880" cy="694944"/>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tc-logo.png"/>
          <p:cNvPicPr>
            <a:picLocks noChangeAspect="1"/>
          </p:cNvPicPr>
          <p:nvPr/>
        </p:nvPicPr>
        <p:blipFill>
          <a:blip r:embed="rId4"/>
          <a:stretch>
            <a:fillRect/>
          </a:stretch>
        </p:blipFill>
        <p:spPr>
          <a:xfrm>
            <a:off x="658368" y="5468112"/>
            <a:ext cx="2697480" cy="457200"/>
          </a:xfrm>
          <a:prstGeom prst="rect">
            <a:avLst/>
          </a:prstGeom>
        </p:spPr>
      </p:pic>
      <p:sp>
        <p:nvSpPr>
          <p:cNvPr id="9" name="TextBox 8"/>
          <p:cNvSpPr txBox="1"/>
          <p:nvPr/>
        </p:nvSpPr>
        <p:spPr>
          <a:xfrm>
            <a:off x="11091672" y="6400800"/>
            <a:ext cx="548640" cy="228600"/>
          </a:xfrm>
          <a:prstGeom prst="rect">
            <a:avLst/>
          </a:prstGeom>
          <a:noFill/>
        </p:spPr>
        <p:txBody>
          <a:bodyPr wrap="square" lIns="0" rIns="0" tIns="0" bIns="0" anchor="t">
            <a:spAutoFit/>
          </a:bodyPr>
          <a:lstStyle/>
          <a:p>
            <a:pPr algn="r">
              <a:lnSpc>
                <a:spcPct val="110000"/>
              </a:lnSpc>
              <a:spcAft>
                <a:spcPts val="0"/>
              </a:spcAft>
            </a:pPr>
            <a:r>
              <a:rPr sz="1000" b="0" i="0">
                <a:solidFill>
                  <a:srgbClr val="8FA0BC"/>
                </a:solidFill>
                <a:latin typeface="Segoe UI Semibold"/>
                <a:ea typeface="Yu Gothic"/>
              </a:rPr>
              <a:t>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NihongoLife — Thuyết trình Project 3 Capstone</dc:title>
  <dc:subject/>
  <dc:creator>Quách Thành Long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